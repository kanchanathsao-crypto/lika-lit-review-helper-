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5433012" y="1265414"/>
            <a:ext cx="24937" cy="2493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"/>
          <p:cNvSpPr/>
          <p:nvPr/>
        </p:nvSpPr>
        <p:spPr>
          <a:xfrm>
            <a:off x="10920868" y="405055"/>
            <a:ext cx="14373" cy="143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/>
          <p:nvPr/>
        </p:nvSpPr>
        <p:spPr>
          <a:xfrm>
            <a:off x="8990608" y="789620"/>
            <a:ext cx="23982" cy="239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"/>
          <p:cNvSpPr/>
          <p:nvPr/>
        </p:nvSpPr>
        <p:spPr>
          <a:xfrm>
            <a:off x="9777560" y="486530"/>
            <a:ext cx="41809" cy="418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"/>
          <p:cNvSpPr/>
          <p:nvPr/>
        </p:nvSpPr>
        <p:spPr>
          <a:xfrm>
            <a:off x="8513358" y="1801018"/>
            <a:ext cx="13228" cy="1322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"/>
          <p:cNvSpPr/>
          <p:nvPr/>
        </p:nvSpPr>
        <p:spPr>
          <a:xfrm>
            <a:off x="1441955" y="3637683"/>
            <a:ext cx="25702" cy="2570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/>
          <p:nvPr/>
        </p:nvSpPr>
        <p:spPr>
          <a:xfrm>
            <a:off x="1171979" y="2018827"/>
            <a:ext cx="14972" cy="1497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"/>
          <p:cNvSpPr/>
          <p:nvPr/>
        </p:nvSpPr>
        <p:spPr>
          <a:xfrm>
            <a:off x="9245038" y="3561125"/>
            <a:ext cx="13936" cy="1393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"/>
          <p:cNvSpPr/>
          <p:nvPr/>
        </p:nvSpPr>
        <p:spPr>
          <a:xfrm>
            <a:off x="9486738" y="1038526"/>
            <a:ext cx="19315" cy="193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"/>
          <p:cNvSpPr/>
          <p:nvPr/>
        </p:nvSpPr>
        <p:spPr>
          <a:xfrm>
            <a:off x="10580147" y="5263291"/>
            <a:ext cx="31103" cy="3110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/>
          <p:nvPr/>
        </p:nvSpPr>
        <p:spPr>
          <a:xfrm>
            <a:off x="1037872" y="4841090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"/>
          <p:cNvSpPr/>
          <p:nvPr/>
        </p:nvSpPr>
        <p:spPr>
          <a:xfrm>
            <a:off x="6655194" y="415985"/>
            <a:ext cx="19244" cy="1924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"/>
          <p:cNvSpPr/>
          <p:nvPr/>
        </p:nvSpPr>
        <p:spPr>
          <a:xfrm>
            <a:off x="781527" y="4669643"/>
            <a:ext cx="40130" cy="4013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"/>
          <p:cNvSpPr/>
          <p:nvPr/>
        </p:nvSpPr>
        <p:spPr>
          <a:xfrm>
            <a:off x="2234302" y="2429418"/>
            <a:ext cx="25734" cy="2573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"/>
          <p:cNvSpPr/>
          <p:nvPr/>
        </p:nvSpPr>
        <p:spPr>
          <a:xfrm>
            <a:off x="2420198" y="4535601"/>
            <a:ext cx="15859" cy="1585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"/>
          <p:cNvSpPr/>
          <p:nvPr/>
        </p:nvSpPr>
        <p:spPr>
          <a:xfrm>
            <a:off x="9578342" y="2587733"/>
            <a:ext cx="30358" cy="303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"/>
          <p:cNvSpPr/>
          <p:nvPr/>
        </p:nvSpPr>
        <p:spPr>
          <a:xfrm>
            <a:off x="11442106" y="1516042"/>
            <a:ext cx="15376" cy="153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"/>
          <p:cNvSpPr/>
          <p:nvPr/>
        </p:nvSpPr>
        <p:spPr>
          <a:xfrm>
            <a:off x="9757631" y="4791609"/>
            <a:ext cx="32935" cy="329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"/>
          <p:cNvSpPr/>
          <p:nvPr/>
        </p:nvSpPr>
        <p:spPr>
          <a:xfrm>
            <a:off x="3151952" y="3123897"/>
            <a:ext cx="15192" cy="1519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"/>
          <p:cNvSpPr/>
          <p:nvPr/>
        </p:nvSpPr>
        <p:spPr>
          <a:xfrm>
            <a:off x="9189627" y="5973618"/>
            <a:ext cx="14057" cy="140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"/>
          <p:cNvSpPr/>
          <p:nvPr/>
        </p:nvSpPr>
        <p:spPr>
          <a:xfrm>
            <a:off x="9468528" y="499970"/>
            <a:ext cx="32283" cy="322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"/>
          <p:cNvSpPr/>
          <p:nvPr/>
        </p:nvSpPr>
        <p:spPr>
          <a:xfrm>
            <a:off x="3455413" y="4164226"/>
            <a:ext cx="34295" cy="3429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"/>
          <p:cNvSpPr/>
          <p:nvPr/>
        </p:nvSpPr>
        <p:spPr>
          <a:xfrm>
            <a:off x="8920785" y="3586904"/>
            <a:ext cx="37468" cy="3746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"/>
          <p:cNvSpPr/>
          <p:nvPr/>
        </p:nvSpPr>
        <p:spPr>
          <a:xfrm>
            <a:off x="5270514" y="3905751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"/>
          <p:cNvSpPr/>
          <p:nvPr/>
        </p:nvSpPr>
        <p:spPr>
          <a:xfrm>
            <a:off x="7603172" y="3033172"/>
            <a:ext cx="21822" cy="218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"/>
          <p:cNvSpPr/>
          <p:nvPr/>
        </p:nvSpPr>
        <p:spPr>
          <a:xfrm>
            <a:off x="4167906" y="6663738"/>
            <a:ext cx="17890" cy="1789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"/>
          <p:cNvSpPr/>
          <p:nvPr/>
        </p:nvSpPr>
        <p:spPr>
          <a:xfrm>
            <a:off x="11727180" y="6541685"/>
            <a:ext cx="19998" cy="199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s"/>
          <p:cNvSpPr/>
          <p:nvPr/>
        </p:nvSpPr>
        <p:spPr>
          <a:xfrm>
            <a:off x="1373299" y="4818615"/>
            <a:ext cx="21838" cy="218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"/>
          <p:cNvSpPr/>
          <p:nvPr/>
        </p:nvSpPr>
        <p:spPr>
          <a:xfrm>
            <a:off x="8811335" y="4153337"/>
            <a:ext cx="40676" cy="406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"/>
          <p:cNvSpPr/>
          <p:nvPr/>
        </p:nvSpPr>
        <p:spPr>
          <a:xfrm>
            <a:off x="5762565" y="6119030"/>
            <a:ext cx="26707" cy="26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"/>
          <p:cNvSpPr/>
          <p:nvPr/>
        </p:nvSpPr>
        <p:spPr>
          <a:xfrm>
            <a:off x="4830794" y="5108318"/>
            <a:ext cx="14398" cy="143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"/>
          <p:cNvSpPr/>
          <p:nvPr/>
        </p:nvSpPr>
        <p:spPr>
          <a:xfrm>
            <a:off x="1980815" y="4294403"/>
            <a:ext cx="25701" cy="2570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"/>
          <p:cNvSpPr/>
          <p:nvPr/>
        </p:nvSpPr>
        <p:spPr>
          <a:xfrm>
            <a:off x="2767604" y="6351358"/>
            <a:ext cx="23208" cy="2320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"/>
          <p:cNvSpPr/>
          <p:nvPr/>
        </p:nvSpPr>
        <p:spPr>
          <a:xfrm>
            <a:off x="2549877" y="4101719"/>
            <a:ext cx="25818" cy="2581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s"/>
          <p:cNvSpPr/>
          <p:nvPr/>
        </p:nvSpPr>
        <p:spPr>
          <a:xfrm>
            <a:off x="657788" y="5605400"/>
            <a:ext cx="14543" cy="1454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"/>
          <p:cNvSpPr/>
          <p:nvPr/>
        </p:nvSpPr>
        <p:spPr>
          <a:xfrm>
            <a:off x="9362957" y="4806889"/>
            <a:ext cx="37857" cy="378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"/>
          <p:cNvSpPr/>
          <p:nvPr/>
        </p:nvSpPr>
        <p:spPr>
          <a:xfrm>
            <a:off x="5263809" y="2853153"/>
            <a:ext cx="34783" cy="347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s"/>
          <p:cNvSpPr/>
          <p:nvPr/>
        </p:nvSpPr>
        <p:spPr>
          <a:xfrm>
            <a:off x="5875018" y="4985935"/>
            <a:ext cx="28275" cy="282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"/>
          <p:cNvSpPr/>
          <p:nvPr/>
        </p:nvSpPr>
        <p:spPr>
          <a:xfrm>
            <a:off x="9729027" y="6684814"/>
            <a:ext cx="26948" cy="2694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"/>
          <p:cNvSpPr/>
          <p:nvPr/>
        </p:nvSpPr>
        <p:spPr>
          <a:xfrm>
            <a:off x="1153650" y="785140"/>
            <a:ext cx="20845" cy="2084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"/>
          <p:cNvSpPr/>
          <p:nvPr/>
        </p:nvSpPr>
        <p:spPr>
          <a:xfrm>
            <a:off x="7954050" y="5847212"/>
            <a:ext cx="33762" cy="3376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"/>
          <p:cNvSpPr/>
          <p:nvPr/>
        </p:nvSpPr>
        <p:spPr>
          <a:xfrm>
            <a:off x="1090518" y="508932"/>
            <a:ext cx="35958" cy="359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"/>
          <p:cNvSpPr/>
          <p:nvPr/>
        </p:nvSpPr>
        <p:spPr>
          <a:xfrm>
            <a:off x="11769083" y="2597174"/>
            <a:ext cx="33205" cy="3320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"/>
          <p:cNvSpPr/>
          <p:nvPr/>
        </p:nvSpPr>
        <p:spPr>
          <a:xfrm>
            <a:off x="9696328" y="5714631"/>
            <a:ext cx="38932" cy="389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"/>
          <p:cNvSpPr/>
          <p:nvPr/>
        </p:nvSpPr>
        <p:spPr>
          <a:xfrm>
            <a:off x="0" y="2450000"/>
            <a:ext cx="12192000" cy="195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56" name="s"/>
          <p:cNvSpPr/>
          <p:nvPr/>
        </p:nvSpPr>
        <p:spPr>
          <a:xfrm>
            <a:off x="900000" y="2720000"/>
            <a:ext cx="1300000" cy="130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900000" y="2720000"/>
            <a:ext cx="1300000" cy="1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800" b="0" i="0" dirty="0">
                <a:solidFill>
                  <a:srgbClr val="f5c542"/>
                </a:solidFill>
                <a:latin typeface="Tahoma"/>
                <a:cs typeface="Tahoma"/>
              </a:rPr>
              <a:t>🛰️</a:t>
            </a:r>
          </a:p>
        </p:txBody>
      </p:sp>
      <p:sp>
        <p:nvSpPr>
          <p:cNvPr id="58" name="t"/>
          <p:cNvSpPr txBox="1"/>
          <p:nvPr/>
        </p:nvSpPr>
        <p:spPr>
          <a:xfrm>
            <a:off x="2450000" y="2650000"/>
            <a:ext cx="92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38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59" name="t"/>
          <p:cNvSpPr txBox="1"/>
          <p:nvPr/>
        </p:nvSpPr>
        <p:spPr>
          <a:xfrm>
            <a:off x="2450000" y="3530000"/>
            <a:ext cx="920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0" i="0" dirty="0">
                <a:solidFill>
                  <a:srgbClr val="22d3ee"/>
                </a:solidFill>
                <a:latin typeface="Tahoma"/>
                <a:cs typeface="Tahoma"/>
              </a:rPr>
              <a:t>ผู้ช่วยทบทวนวรรณกรรม &amp; จัดการความรู้งานวิจัย · ห้องสมุดวิทยาเขตกาญจนบุรี</a:t>
            </a:r>
          </a:p>
        </p:txBody>
      </p:sp>
      <p:sp>
        <p:nvSpPr>
          <p:cNvPr id="60" name="t"/>
          <p:cNvSpPr txBox="1"/>
          <p:nvPr/>
        </p:nvSpPr>
        <p:spPr>
          <a:xfrm>
            <a:off x="2450000" y="3980000"/>
            <a:ext cx="92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9fb3d1"/>
                </a:solidFill>
                <a:latin typeface="Tahoma"/>
                <a:cs typeface="Tahoma"/>
              </a:rPr>
              <a:t>Mahidol AI Community 2026  ·  Research &amp; Innovation</a:t>
            </a:r>
          </a:p>
        </p:txBody>
      </p:sp>
      <p:sp>
        <p:nvSpPr>
          <p:cNvPr id="61" name="s"/>
          <p:cNvSpPr/>
          <p:nvPr/>
        </p:nvSpPr>
        <p:spPr>
          <a:xfrm>
            <a:off x="900000" y="4800000"/>
            <a:ext cx="1664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900000" y="4794000"/>
            <a:ext cx="1664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5c542"/>
                </a:solidFill>
                <a:latin typeface="Tahoma"/>
                <a:cs typeface="Tahoma"/>
              </a:rPr>
              <a:t>3D Knowledge Graph</a:t>
            </a:r>
          </a:p>
        </p:txBody>
      </p:sp>
      <p:sp>
        <p:nvSpPr>
          <p:cNvPr id="63" name="s"/>
          <p:cNvSpPr/>
          <p:nvPr/>
        </p:nvSpPr>
        <p:spPr>
          <a:xfrm>
            <a:off x="2714000" y="4800000"/>
            <a:ext cx="1586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714000" y="4794000"/>
            <a:ext cx="1586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22d3ee"/>
                </a:solidFill>
                <a:latin typeface="Tahoma"/>
                <a:cs typeface="Tahoma"/>
              </a:rPr>
              <a:t>AI Auto-Cataloger</a:t>
            </a:r>
          </a:p>
        </p:txBody>
      </p:sp>
      <p:sp>
        <p:nvSpPr>
          <p:cNvPr id="65" name="s"/>
          <p:cNvSpPr/>
          <p:nvPr/>
        </p:nvSpPr>
        <p:spPr>
          <a:xfrm>
            <a:off x="4450000" y="4800000"/>
            <a:ext cx="143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4450000" y="4794000"/>
            <a:ext cx="143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34d399"/>
                </a:solidFill>
                <a:latin typeface="Tahoma"/>
                <a:cs typeface="Tahoma"/>
              </a:rPr>
              <a:t>Usage Dashboard</a:t>
            </a:r>
          </a:p>
        </p:txBody>
      </p:sp>
      <p:sp>
        <p:nvSpPr>
          <p:cNvPr id="67" name="s"/>
          <p:cNvSpPr/>
          <p:nvPr/>
        </p:nvSpPr>
        <p:spPr>
          <a:xfrm>
            <a:off x="6030000" y="4800000"/>
            <a:ext cx="1274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6030000" y="4794000"/>
            <a:ext cx="1274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a78bfa"/>
                </a:solidFill>
                <a:latin typeface="Tahoma"/>
                <a:cs typeface="Tahoma"/>
              </a:rPr>
              <a:t>Privacy-first</a:t>
            </a:r>
          </a:p>
        </p:txBody>
      </p:sp>
      <p:sp>
        <p:nvSpPr>
          <p:cNvPr id="69" name="s"/>
          <p:cNvSpPr/>
          <p:nvPr/>
        </p:nvSpPr>
        <p:spPr>
          <a:xfrm>
            <a:off x="7454000" y="4800000"/>
            <a:ext cx="143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b923c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7454000" y="4794000"/>
            <a:ext cx="143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b923c"/>
                </a:solidFill>
                <a:latin typeface="Tahoma"/>
                <a:cs typeface="Tahoma"/>
              </a:rPr>
              <a:t>Powered by Kiro</a:t>
            </a:r>
          </a:p>
        </p:txBody>
      </p:sp>
      <p:sp>
        <p:nvSpPr>
          <p:cNvPr id="71" name="t"/>
          <p:cNvSpPr txBox="1"/>
          <p:nvPr/>
        </p:nvSpPr>
        <p:spPr>
          <a:xfrm>
            <a:off x="900000" y="6250000"/>
            <a:ext cx="10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f5c542"/>
                </a:solidFill>
                <a:latin typeface="Tahoma"/>
                <a:cs typeface="Tahoma"/>
              </a:rPr>
              <a:t>Demo: </a:t>
            </a:r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https://tinyurl.com/lika-nexus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OVERVIEW — องค์ประกอบการส่งผลงาน</a:t>
            </a:r>
          </a:p>
        </p:txBody>
      </p:sp>
      <p:sp>
        <p:nvSpPr>
          <p:cNvPr id="74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ผลงานประกอบด้วย 3 ส่วนหลัก</a:t>
            </a:r>
          </a:p>
        </p:txBody>
      </p:sp>
      <p:sp>
        <p:nvSpPr>
          <p:cNvPr id="75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2/10</a:t>
            </a:r>
          </a:p>
        </p:txBody>
      </p:sp>
      <p:sp>
        <p:nvSpPr>
          <p:cNvPr id="76" name="s"/>
          <p:cNvSpPr/>
          <p:nvPr/>
        </p:nvSpPr>
        <p:spPr>
          <a:xfrm>
            <a:off x="760000" y="2050000"/>
            <a:ext cx="352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77" name="s"/>
          <p:cNvSpPr/>
          <p:nvPr/>
        </p:nvSpPr>
        <p:spPr>
          <a:xfrm>
            <a:off x="2070000" y="2300000"/>
            <a:ext cx="900000" cy="90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070000" y="2300000"/>
            <a:ext cx="90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900" b="0" i="0" dirty="0">
                <a:solidFill>
                  <a:srgbClr val="f5c542"/>
                </a:solidFill>
                <a:latin typeface="Tahoma"/>
                <a:cs typeface="Tahoma"/>
              </a:rPr>
              <a:t>📄</a:t>
            </a:r>
          </a:p>
        </p:txBody>
      </p:sp>
      <p:sp>
        <p:nvSpPr>
          <p:cNvPr id="79" name="t"/>
          <p:cNvSpPr txBox="1"/>
          <p:nvPr/>
        </p:nvSpPr>
        <p:spPr>
          <a:xfrm>
            <a:off x="960000" y="3330000"/>
            <a:ext cx="312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f5c542"/>
                </a:solidFill>
                <a:latin typeface="Tahoma"/>
                <a:cs typeface="Tahoma"/>
              </a:rPr>
              <a:t>1 · Concept Paper</a:t>
            </a:r>
          </a:p>
        </p:txBody>
      </p:sp>
      <p:sp>
        <p:nvSpPr>
          <p:cNvPr id="80" name="t"/>
          <p:cNvSpPr txBox="1"/>
          <p:nvPr/>
        </p:nvSpPr>
        <p:spPr>
          <a:xfrm>
            <a:off x="960000" y="3800000"/>
            <a:ext cx="312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อธิบายปัญหา แนวคิด วัตถุประสงค์</a:t>
            </a:r>
          </a:p>
        </p:txBody>
      </p:sp>
      <p:sp>
        <p:nvSpPr>
          <p:cNvPr id="81" name="t"/>
          <p:cNvSpPr txBox="1"/>
          <p:nvPr/>
        </p:nvSpPr>
        <p:spPr>
          <a:xfrm>
            <a:off x="960000" y="4230000"/>
            <a:ext cx="312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กลุ่มผู้ใช้ และการใช้ AI/Kiro</a:t>
            </a:r>
          </a:p>
        </p:txBody>
      </p:sp>
      <p:sp>
        <p:nvSpPr>
          <p:cNvPr id="82" name="s"/>
          <p:cNvSpPr/>
          <p:nvPr/>
        </p:nvSpPr>
        <p:spPr>
          <a:xfrm>
            <a:off x="4520000" y="2050000"/>
            <a:ext cx="352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83" name="s"/>
          <p:cNvSpPr/>
          <p:nvPr/>
        </p:nvSpPr>
        <p:spPr>
          <a:xfrm>
            <a:off x="5830000" y="2300000"/>
            <a:ext cx="900000" cy="90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84" name="t"/>
          <p:cNvSpPr txBox="1"/>
          <p:nvPr/>
        </p:nvSpPr>
        <p:spPr>
          <a:xfrm>
            <a:off x="5830000" y="2300000"/>
            <a:ext cx="90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900" b="0" i="0" dirty="0">
                <a:solidFill>
                  <a:srgbClr val="f5c542"/>
                </a:solidFill>
                <a:latin typeface="Tahoma"/>
                <a:cs typeface="Tahoma"/>
              </a:rPr>
              <a:t>💻</a:t>
            </a:r>
          </a:p>
        </p:txBody>
      </p:sp>
      <p:sp>
        <p:nvSpPr>
          <p:cNvPr id="85" name="t"/>
          <p:cNvSpPr txBox="1"/>
          <p:nvPr/>
        </p:nvSpPr>
        <p:spPr>
          <a:xfrm>
            <a:off x="4720000" y="3330000"/>
            <a:ext cx="312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22d3ee"/>
                </a:solidFill>
                <a:latin typeface="Tahoma"/>
                <a:cs typeface="Tahoma"/>
              </a:rPr>
              <a:t>2 · Source Code / Kiro</a:t>
            </a:r>
          </a:p>
        </p:txBody>
      </p:sp>
      <p:sp>
        <p:nvSpPr>
          <p:cNvPr id="86" name="t"/>
          <p:cNvSpPr txBox="1"/>
          <p:nvPr/>
        </p:nvSpPr>
        <p:spPr>
          <a:xfrm>
            <a:off x="4720000" y="3800000"/>
            <a:ext cx="312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โค้ดและ Kiro Project</a:t>
            </a:r>
          </a:p>
        </p:txBody>
      </p:sp>
      <p:sp>
        <p:nvSpPr>
          <p:cNvPr id="87" name="t"/>
          <p:cNvSpPr txBox="1"/>
          <p:nvPr/>
        </p:nvSpPr>
        <p:spPr>
          <a:xfrm>
            <a:off x="4720000" y="4230000"/>
            <a:ext cx="312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ตรวจสอบโครงสร้าง + การใช้ Kiro</a:t>
            </a:r>
          </a:p>
        </p:txBody>
      </p:sp>
      <p:sp>
        <p:nvSpPr>
          <p:cNvPr id="88" name="s"/>
          <p:cNvSpPr/>
          <p:nvPr/>
        </p:nvSpPr>
        <p:spPr>
          <a:xfrm>
            <a:off x="8280000" y="2050000"/>
            <a:ext cx="352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89" name="s"/>
          <p:cNvSpPr/>
          <p:nvPr/>
        </p:nvSpPr>
        <p:spPr>
          <a:xfrm>
            <a:off x="9590000" y="2300000"/>
            <a:ext cx="900000" cy="90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90" name="t"/>
          <p:cNvSpPr txBox="1"/>
          <p:nvPr/>
        </p:nvSpPr>
        <p:spPr>
          <a:xfrm>
            <a:off x="9590000" y="2300000"/>
            <a:ext cx="90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900" b="0" i="0" dirty="0">
                <a:solidFill>
                  <a:srgbClr val="f5c542"/>
                </a:solidFill>
                <a:latin typeface="Tahoma"/>
                <a:cs typeface="Tahoma"/>
              </a:rPr>
              <a:t>🎬</a:t>
            </a:r>
          </a:p>
        </p:txBody>
      </p:sp>
      <p:sp>
        <p:nvSpPr>
          <p:cNvPr id="91" name="t"/>
          <p:cNvSpPr txBox="1"/>
          <p:nvPr/>
        </p:nvSpPr>
        <p:spPr>
          <a:xfrm>
            <a:off x="8480000" y="3330000"/>
            <a:ext cx="312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600" b="1" i="0" dirty="0">
                <a:solidFill>
                  <a:srgbClr val="34d399"/>
                </a:solidFill>
                <a:latin typeface="Tahoma"/>
                <a:cs typeface="Tahoma"/>
              </a:rPr>
              <a:t>3 · Presentation / Demo</a:t>
            </a:r>
          </a:p>
        </p:txBody>
      </p:sp>
      <p:sp>
        <p:nvSpPr>
          <p:cNvPr id="92" name="t"/>
          <p:cNvSpPr txBox="1"/>
          <p:nvPr/>
        </p:nvSpPr>
        <p:spPr>
          <a:xfrm>
            <a:off x="8480000" y="3800000"/>
            <a:ext cx="312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สื่อนำเสนอ (≤5 นาที)</a:t>
            </a:r>
          </a:p>
        </p:txBody>
      </p:sp>
      <p:sp>
        <p:nvSpPr>
          <p:cNvPr id="93" name="t"/>
          <p:cNvSpPr txBox="1"/>
          <p:nvPr/>
        </p:nvSpPr>
        <p:spPr>
          <a:xfrm>
            <a:off x="8480000" y="4230000"/>
            <a:ext cx="3120000" cy="4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Problem→Solution→Impact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CONCEPT PAPER — ปัญหา</a:t>
            </a:r>
          </a:p>
        </p:txBody>
      </p:sp>
      <p:sp>
        <p:nvSpPr>
          <p:cNvPr id="96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การทำ Literature Review ใช้เวลานานมาก</a:t>
            </a:r>
          </a:p>
        </p:txBody>
      </p:sp>
      <p:sp>
        <p:nvSpPr>
          <p:cNvPr id="97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3/10</a:t>
            </a:r>
          </a:p>
        </p:txBody>
      </p:sp>
      <p:sp>
        <p:nvSpPr>
          <p:cNvPr id="98" name="s"/>
          <p:cNvSpPr/>
          <p:nvPr/>
        </p:nvSpPr>
        <p:spPr>
          <a:xfrm>
            <a:off x="9900000" y="2050000"/>
            <a:ext cx="1500000" cy="1500000"/>
          </a:xfrm>
          <a:prstGeom prst="ellipse">
            <a:avLst/>
          </a:prstGeom>
          <a:solidFill>
            <a:srgbClr val="0b1a3a"/>
          </a:solidFill>
          <a:ln w="19050">
            <a:solidFill>
              <a:srgbClr val="fb923c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99" name="t"/>
          <p:cNvSpPr txBox="1"/>
          <p:nvPr/>
        </p:nvSpPr>
        <p:spPr>
          <a:xfrm>
            <a:off x="9900000" y="2050000"/>
            <a:ext cx="1500000" cy="1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3200" b="0" i="0" dirty="0">
                <a:solidFill>
                  <a:srgbClr val="f5c542"/>
                </a:solidFill>
                <a:latin typeface="Tahoma"/>
                <a:cs typeface="Tahoma"/>
              </a:rPr>
              <a:t>⏳</a:t>
            </a:r>
          </a:p>
        </p:txBody>
      </p:sp>
      <p:sp>
        <p:nvSpPr>
          <p:cNvPr id="100" name="t"/>
          <p:cNvSpPr txBox="1"/>
          <p:nvPr/>
        </p:nvSpPr>
        <p:spPr>
          <a:xfrm>
            <a:off x="760000" y="2150000"/>
            <a:ext cx="86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การทบทวนวรรณกรรมใช้เวลาหลายวัน–หลายสัปดาห์ ต้องอ่านทีละฉบับ</a:t>
            </a:r>
          </a:p>
        </p:txBody>
      </p:sp>
      <p:sp>
        <p:nvSpPr>
          <p:cNvPr id="101" name="t"/>
          <p:cNvSpPr txBox="1"/>
          <p:nvPr/>
        </p:nvSpPr>
        <p:spPr>
          <a:xfrm>
            <a:off x="760000" y="2770000"/>
            <a:ext cx="86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สายการแพทย์/วิทยาศาสตร์มีจำนวนเปเปอร์มหาศาลและเพิ่มขึ้นทุกวัน</a:t>
            </a:r>
          </a:p>
        </p:txBody>
      </p:sp>
      <p:sp>
        <p:nvSpPr>
          <p:cNvPr id="102" name="t"/>
          <p:cNvSpPr txBox="1"/>
          <p:nvPr/>
        </p:nvSpPr>
        <p:spPr>
          <a:xfrm>
            <a:off x="760000" y="3390000"/>
            <a:ext cx="86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ต้องสกัดประเด็น เปรียบเทียบระเบียบวิธี และร่างบทความเองทั้งหมด</a:t>
            </a:r>
          </a:p>
        </p:txBody>
      </p:sp>
      <p:sp>
        <p:nvSpPr>
          <p:cNvPr id="103" name="t"/>
          <p:cNvSpPr txBox="1"/>
          <p:nvPr/>
        </p:nvSpPr>
        <p:spPr>
          <a:xfrm>
            <a:off x="760000" y="4010000"/>
            <a:ext cx="86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บรรณารักษ์รับคำขอช่วยทบทวนวรรณกรรมมาก แต่เวลาจำกัด</a:t>
            </a:r>
          </a:p>
        </p:txBody>
      </p:sp>
      <p:sp>
        <p:nvSpPr>
          <p:cNvPr id="104" name="t"/>
          <p:cNvSpPr txBox="1"/>
          <p:nvPr/>
        </p:nvSpPr>
        <p:spPr>
          <a:xfrm>
            <a:off x="760000" y="4630000"/>
            <a:ext cx="86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400" b="0" i="0" dirty="0">
                <a:solidFill>
                  <a:srgbClr val="e5edff"/>
                </a:solidFill>
                <a:latin typeface="Tahoma"/>
                <a:cs typeface="Tahoma"/>
              </a:rPr>
              <a:t>เครื่องมือที่มีมักเสียเงิน ซับซ้อน หรือส่งไฟล์ขึ้น cloud (เสี่ยงข้อมูล)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CONCEPT PAPER — Solution &amp; วัตถุประสงค์</a:t>
            </a:r>
          </a:p>
        </p:txBody>
      </p:sp>
      <p:sp>
        <p:nvSpPr>
          <p:cNvPr id="107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เว็บผู้ช่วยทบทวนวรรณกรรมอัตโนมัติ</a:t>
            </a:r>
          </a:p>
        </p:txBody>
      </p:sp>
      <p:sp>
        <p:nvSpPr>
          <p:cNvPr id="108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4/10</a:t>
            </a:r>
          </a:p>
        </p:txBody>
      </p:sp>
      <p:sp>
        <p:nvSpPr>
          <p:cNvPr id="109" name="s"/>
          <p:cNvSpPr/>
          <p:nvPr/>
        </p:nvSpPr>
        <p:spPr>
          <a:xfrm>
            <a:off x="760000" y="2000000"/>
            <a:ext cx="5100000" cy="3400000"/>
          </a:xfrm>
          <a:prstGeom prst="roundRect">
            <a:avLst>
              <a:gd name="adj" fmla="val 6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10" name="s"/>
          <p:cNvSpPr/>
          <p:nvPr/>
        </p:nvSpPr>
        <p:spPr>
          <a:xfrm>
            <a:off x="760000" y="2000000"/>
            <a:ext cx="5100000" cy="420000"/>
          </a:xfrm>
          <a:prstGeom prst="roundRect">
            <a:avLst>
              <a:gd name="adj" fmla="val 6000"/>
            </a:avLst>
          </a:prstGeom>
          <a:solidFill>
            <a:srgbClr val="0023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s"/>
          <p:cNvSpPr/>
          <p:nvPr/>
        </p:nvSpPr>
        <p:spPr>
          <a:xfrm>
            <a:off x="920000" y="2140000"/>
            <a:ext cx="130000" cy="1300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s"/>
          <p:cNvSpPr/>
          <p:nvPr/>
        </p:nvSpPr>
        <p:spPr>
          <a:xfrm>
            <a:off x="1150000" y="2140000"/>
            <a:ext cx="130000" cy="130000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s"/>
          <p:cNvSpPr/>
          <p:nvPr/>
        </p:nvSpPr>
        <p:spPr>
          <a:xfrm>
            <a:off x="1380000" y="2140000"/>
            <a:ext cx="130000" cy="13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t"/>
          <p:cNvSpPr txBox="1"/>
          <p:nvPr/>
        </p:nvSpPr>
        <p:spPr>
          <a:xfrm>
            <a:off x="1660000" y="2090000"/>
            <a:ext cx="30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115" name="s"/>
          <p:cNvSpPr/>
          <p:nvPr/>
        </p:nvSpPr>
        <p:spPr>
          <a:xfrm>
            <a:off x="3640000" y="3588000"/>
            <a:ext cx="360000" cy="36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16" name="l"/>
          <p:cNvCxnSpPr/>
          <p:nvPr/>
        </p:nvCxnSpPr>
        <p:spPr>
          <a:xfrm flipH="0" flipV="0">
            <a:off x="3820000" y="3768000"/>
            <a:ext cx="1050000" cy="1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17" name="s"/>
          <p:cNvSpPr/>
          <p:nvPr/>
        </p:nvSpPr>
        <p:spPr>
          <a:xfrm>
            <a:off x="4720000" y="3618000"/>
            <a:ext cx="300000" cy="3000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18" name="l"/>
          <p:cNvCxnSpPr/>
          <p:nvPr/>
        </p:nvCxnSpPr>
        <p:spPr>
          <a:xfrm flipH="0" flipV="0">
            <a:off x="3820000" y="3768000"/>
            <a:ext cx="324467" cy="998609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19" name="s"/>
          <p:cNvSpPr/>
          <p:nvPr/>
        </p:nvSpPr>
        <p:spPr>
          <a:xfrm>
            <a:off x="3994467" y="4616609"/>
            <a:ext cx="300000" cy="300000"/>
          </a:xfrm>
          <a:prstGeom prst="ellipse">
            <a:avLst/>
          </a:prstGeom>
          <a:solidFill>
            <a:srgbClr val="34d399"/>
          </a:solidFill>
          <a:ln>
            <a:noFill/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20" name="l"/>
          <p:cNvCxnSpPr/>
          <p:nvPr/>
        </p:nvCxnSpPr>
        <p:spPr>
          <a:xfrm flipH="1" flipV="0">
            <a:off x="2970532" y="3768000"/>
            <a:ext cx="849468" cy="617174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21" name="s"/>
          <p:cNvSpPr/>
          <p:nvPr/>
        </p:nvSpPr>
        <p:spPr>
          <a:xfrm>
            <a:off x="2820532" y="4235174"/>
            <a:ext cx="300000" cy="3000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22" name="l"/>
          <p:cNvCxnSpPr/>
          <p:nvPr/>
        </p:nvCxnSpPr>
        <p:spPr>
          <a:xfrm flipH="1" flipV="1">
            <a:off x="2970532" y="3150825"/>
            <a:ext cx="849468" cy="617175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23" name="s"/>
          <p:cNvSpPr/>
          <p:nvPr/>
        </p:nvSpPr>
        <p:spPr>
          <a:xfrm>
            <a:off x="2820532" y="3000825"/>
            <a:ext cx="300000" cy="30000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24" name="l"/>
          <p:cNvCxnSpPr/>
          <p:nvPr/>
        </p:nvCxnSpPr>
        <p:spPr>
          <a:xfrm flipH="0" flipV="1">
            <a:off x="3820000" y="2769390"/>
            <a:ext cx="324467" cy="998610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25" name="s"/>
          <p:cNvSpPr/>
          <p:nvPr/>
        </p:nvSpPr>
        <p:spPr>
          <a:xfrm>
            <a:off x="3994467" y="2619390"/>
            <a:ext cx="300000" cy="300000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26" name="t"/>
          <p:cNvSpPr txBox="1"/>
          <p:nvPr/>
        </p:nvSpPr>
        <p:spPr>
          <a:xfrm>
            <a:off x="760000" y="5040000"/>
            <a:ext cx="51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900" b="0" i="1" dirty="0">
                <a:solidFill>
                  <a:srgbClr val="9fb3d1"/>
                </a:solidFill>
                <a:latin typeface="Tahoma"/>
                <a:cs typeface="Tahoma"/>
              </a:rPr>
              <a:t>3D Knowledge Graph (ตัวอย่างหน้าจอจริง)</a:t>
            </a:r>
          </a:p>
        </p:txBody>
      </p:sp>
      <p:sp>
        <p:nvSpPr>
          <p:cNvPr id="127" name="t"/>
          <p:cNvSpPr txBox="1"/>
          <p:nvPr/>
        </p:nvSpPr>
        <p:spPr>
          <a:xfrm>
            <a:off x="6150000" y="2000000"/>
            <a:ext cx="53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ระบบทำให้อัตโนมัติ:</a:t>
            </a:r>
          </a:p>
        </p:txBody>
      </p:sp>
      <p:sp>
        <p:nvSpPr>
          <p:cNvPr id="128" name="t"/>
          <p:cNvSpPr txBox="1"/>
          <p:nvPr/>
        </p:nvSpPr>
        <p:spPr>
          <a:xfrm>
            <a:off x="6150000" y="2420000"/>
            <a:ext cx="53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50" b="0" i="0" dirty="0">
                <a:solidFill>
                  <a:srgbClr val="e5edff"/>
                </a:solidFill>
                <a:latin typeface="Tahoma"/>
                <a:cs typeface="Tahoma"/>
              </a:rPr>
              <a:t>รับไฟล์ PDF/TXT หลายฉบับ → สกัดประเด็นสำคัญ</a:t>
            </a:r>
          </a:p>
        </p:txBody>
      </p:sp>
      <p:sp>
        <p:nvSpPr>
          <p:cNvPr id="129" name="t"/>
          <p:cNvSpPr txBox="1"/>
          <p:nvPr/>
        </p:nvSpPr>
        <p:spPr>
          <a:xfrm>
            <a:off x="6150000" y="2980000"/>
            <a:ext cx="53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50" b="0" i="0" dirty="0">
                <a:solidFill>
                  <a:srgbClr val="e5edff"/>
                </a:solidFill>
                <a:latin typeface="Tahoma"/>
                <a:cs typeface="Tahoma"/>
              </a:rPr>
              <a:t>ตารางเปรียบเทียบระเบียบวิธีวิจัย 5 ประเด็น</a:t>
            </a:r>
          </a:p>
        </p:txBody>
      </p:sp>
      <p:sp>
        <p:nvSpPr>
          <p:cNvPr id="130" name="t"/>
          <p:cNvSpPr txBox="1"/>
          <p:nvPr/>
        </p:nvSpPr>
        <p:spPr>
          <a:xfrm>
            <a:off x="6150000" y="3540000"/>
            <a:ext cx="53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50" b="0" i="0" dirty="0">
                <a:solidFill>
                  <a:srgbClr val="e5edff"/>
                </a:solidFill>
                <a:latin typeface="Tahoma"/>
                <a:cs typeface="Tahoma"/>
              </a:rPr>
              <a:t>กราฟความรู้ 3 มิติ + ค้นหาเชิงแนวคิด</a:t>
            </a:r>
          </a:p>
        </p:txBody>
      </p:sp>
      <p:sp>
        <p:nvSpPr>
          <p:cNvPr id="131" name="t"/>
          <p:cNvSpPr txBox="1"/>
          <p:nvPr/>
        </p:nvSpPr>
        <p:spPr>
          <a:xfrm>
            <a:off x="6150000" y="4100000"/>
            <a:ext cx="53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50" b="0" i="0" dirty="0">
                <a:solidFill>
                  <a:srgbClr val="e5edff"/>
                </a:solidFill>
                <a:latin typeface="Tahoma"/>
                <a:cs typeface="Tahoma"/>
              </a:rPr>
              <a:t>ร่าง Lit-Review พร้อมอ้างอิง APA แก้ไขได้</a:t>
            </a:r>
          </a:p>
        </p:txBody>
      </p:sp>
      <p:sp>
        <p:nvSpPr>
          <p:cNvPr id="132" name="t"/>
          <p:cNvSpPr txBox="1"/>
          <p:nvPr/>
        </p:nvSpPr>
        <p:spPr>
          <a:xfrm>
            <a:off x="6150000" y="4660000"/>
            <a:ext cx="53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50" b="0" i="0" dirty="0">
                <a:solidFill>
                  <a:srgbClr val="e5edff"/>
                </a:solidFill>
                <a:latin typeface="Tahoma"/>
                <a:cs typeface="Tahoma"/>
              </a:rPr>
              <a:t>ลดเวลาจากหลายวัน → ไม่กี่นาที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CONCEPT PAPER — กลุ่มผู้ใช้ / ผู้ได้รับประโยชน์</a:t>
            </a:r>
          </a:p>
        </p:txBody>
      </p:sp>
      <p:sp>
        <p:nvSpPr>
          <p:cNvPr id="135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ออกแบบเพื่อประชาคม MUKA</a:t>
            </a:r>
          </a:p>
        </p:txBody>
      </p:sp>
      <p:sp>
        <p:nvSpPr>
          <p:cNvPr id="136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5/10</a:t>
            </a:r>
          </a:p>
        </p:txBody>
      </p:sp>
      <p:sp>
        <p:nvSpPr>
          <p:cNvPr id="137" name="s"/>
          <p:cNvSpPr/>
          <p:nvPr/>
        </p:nvSpPr>
        <p:spPr>
          <a:xfrm>
            <a:off x="760000" y="2050000"/>
            <a:ext cx="5300000" cy="138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38" name="s"/>
          <p:cNvSpPr/>
          <p:nvPr/>
        </p:nvSpPr>
        <p:spPr>
          <a:xfrm>
            <a:off x="940000" y="227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39" name="t"/>
          <p:cNvSpPr txBox="1"/>
          <p:nvPr/>
        </p:nvSpPr>
        <p:spPr>
          <a:xfrm>
            <a:off x="940000" y="227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👩‍🏫</a:t>
            </a:r>
          </a:p>
        </p:txBody>
      </p:sp>
      <p:sp>
        <p:nvSpPr>
          <p:cNvPr id="140" name="t"/>
          <p:cNvSpPr txBox="1"/>
          <p:nvPr/>
        </p:nvSpPr>
        <p:spPr>
          <a:xfrm>
            <a:off x="2060000" y="2280000"/>
            <a:ext cx="39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500" b="1" i="0" dirty="0">
                <a:solidFill>
                  <a:srgbClr val="f5c542"/>
                </a:solidFill>
                <a:latin typeface="Tahoma"/>
                <a:cs typeface="Tahoma"/>
              </a:rPr>
              <a:t>อาจารย์ / นักวิจัย</a:t>
            </a:r>
          </a:p>
        </p:txBody>
      </p:sp>
      <p:sp>
        <p:nvSpPr>
          <p:cNvPr id="141" name="t"/>
          <p:cNvSpPr txBox="1"/>
          <p:nvPr/>
        </p:nvSpPr>
        <p:spPr>
          <a:xfrm>
            <a:off x="2060000" y="2770000"/>
            <a:ext cx="39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ร่าง Lit-Review ตั้งต้น + เทียบระเบียบวิธีทันที</a:t>
            </a:r>
          </a:p>
        </p:txBody>
      </p:sp>
      <p:sp>
        <p:nvSpPr>
          <p:cNvPr id="142" name="s"/>
          <p:cNvSpPr/>
          <p:nvPr/>
        </p:nvSpPr>
        <p:spPr>
          <a:xfrm>
            <a:off x="6310000" y="2050000"/>
            <a:ext cx="5300000" cy="138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43" name="s"/>
          <p:cNvSpPr/>
          <p:nvPr/>
        </p:nvSpPr>
        <p:spPr>
          <a:xfrm>
            <a:off x="6490000" y="227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44" name="t"/>
          <p:cNvSpPr txBox="1"/>
          <p:nvPr/>
        </p:nvSpPr>
        <p:spPr>
          <a:xfrm>
            <a:off x="6490000" y="227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🧑‍💼</a:t>
            </a:r>
          </a:p>
        </p:txBody>
      </p:sp>
      <p:sp>
        <p:nvSpPr>
          <p:cNvPr id="145" name="t"/>
          <p:cNvSpPr txBox="1"/>
          <p:nvPr/>
        </p:nvSpPr>
        <p:spPr>
          <a:xfrm>
            <a:off x="7610000" y="2280000"/>
            <a:ext cx="39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500" b="1" i="0" dirty="0">
                <a:solidFill>
                  <a:srgbClr val="22d3ee"/>
                </a:solidFill>
                <a:latin typeface="Tahoma"/>
                <a:cs typeface="Tahoma"/>
              </a:rPr>
              <a:t>บรรณารักษ์ / เจ้าหน้าที่</a:t>
            </a:r>
          </a:p>
        </p:txBody>
      </p:sp>
      <p:sp>
        <p:nvSpPr>
          <p:cNvPr id="146" name="t"/>
          <p:cNvSpPr txBox="1"/>
          <p:nvPr/>
        </p:nvSpPr>
        <p:spPr>
          <a:xfrm>
            <a:off x="7610000" y="2770000"/>
            <a:ext cx="39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ให้บริการทบทวนวรรณกรรมเร็วขึ้น + เก็บสถิติผู้ใช้</a:t>
            </a:r>
          </a:p>
        </p:txBody>
      </p:sp>
      <p:sp>
        <p:nvSpPr>
          <p:cNvPr id="147" name="s"/>
          <p:cNvSpPr/>
          <p:nvPr/>
        </p:nvSpPr>
        <p:spPr>
          <a:xfrm>
            <a:off x="760000" y="3600000"/>
            <a:ext cx="5300000" cy="138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48" name="s"/>
          <p:cNvSpPr/>
          <p:nvPr/>
        </p:nvSpPr>
        <p:spPr>
          <a:xfrm>
            <a:off x="940000" y="382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49" name="t"/>
          <p:cNvSpPr txBox="1"/>
          <p:nvPr/>
        </p:nvSpPr>
        <p:spPr>
          <a:xfrm>
            <a:off x="940000" y="382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🧑‍🎓</a:t>
            </a:r>
          </a:p>
        </p:txBody>
      </p:sp>
      <p:sp>
        <p:nvSpPr>
          <p:cNvPr id="150" name="t"/>
          <p:cNvSpPr txBox="1"/>
          <p:nvPr/>
        </p:nvSpPr>
        <p:spPr>
          <a:xfrm>
            <a:off x="2060000" y="3830000"/>
            <a:ext cx="39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500" b="1" i="0" dirty="0">
                <a:solidFill>
                  <a:srgbClr val="34d399"/>
                </a:solidFill>
                <a:latin typeface="Tahoma"/>
                <a:cs typeface="Tahoma"/>
              </a:rPr>
              <a:t>นักศึกษา</a:t>
            </a:r>
          </a:p>
        </p:txBody>
      </p:sp>
      <p:sp>
        <p:nvSpPr>
          <p:cNvPr id="151" name="t"/>
          <p:cNvSpPr txBox="1"/>
          <p:nvPr/>
        </p:nvSpPr>
        <p:spPr>
          <a:xfrm>
            <a:off x="2060000" y="4320000"/>
            <a:ext cx="39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เรียนรู้โครงสร้างงานวิจัยและเริ่มเขียนได้ง่าย</a:t>
            </a:r>
          </a:p>
        </p:txBody>
      </p:sp>
      <p:sp>
        <p:nvSpPr>
          <p:cNvPr id="152" name="s"/>
          <p:cNvSpPr/>
          <p:nvPr/>
        </p:nvSpPr>
        <p:spPr>
          <a:xfrm>
            <a:off x="6310000" y="3600000"/>
            <a:ext cx="5300000" cy="138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53" name="s"/>
          <p:cNvSpPr/>
          <p:nvPr/>
        </p:nvSpPr>
        <p:spPr>
          <a:xfrm>
            <a:off x="6490000" y="3820000"/>
            <a:ext cx="940000" cy="94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54" name="t"/>
          <p:cNvSpPr txBox="1"/>
          <p:nvPr/>
        </p:nvSpPr>
        <p:spPr>
          <a:xfrm>
            <a:off x="6490000" y="3820000"/>
            <a:ext cx="940000" cy="9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000" b="0" i="0" dirty="0">
                <a:solidFill>
                  <a:srgbClr val="f5c542"/>
                </a:solidFill>
                <a:latin typeface="Tahoma"/>
                <a:cs typeface="Tahoma"/>
              </a:rPr>
              <a:t>🌐</a:t>
            </a:r>
          </a:p>
        </p:txBody>
      </p:sp>
      <p:sp>
        <p:nvSpPr>
          <p:cNvPr id="155" name="t"/>
          <p:cNvSpPr txBox="1"/>
          <p:nvPr/>
        </p:nvSpPr>
        <p:spPr>
          <a:xfrm>
            <a:off x="7610000" y="3830000"/>
            <a:ext cx="39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500" b="1" i="0" dirty="0">
                <a:solidFill>
                  <a:srgbClr val="a78bfa"/>
                </a:solidFill>
                <a:latin typeface="Tahoma"/>
                <a:cs typeface="Tahoma"/>
              </a:rPr>
              <a:t>ครอบคลุม 22 สาขา</a:t>
            </a:r>
          </a:p>
        </p:txBody>
      </p:sp>
      <p:sp>
        <p:nvSpPr>
          <p:cNvPr id="156" name="t"/>
          <p:cNvSpPr txBox="1"/>
          <p:nvPr/>
        </p:nvSpPr>
        <p:spPr>
          <a:xfrm>
            <a:off x="7610000" y="4320000"/>
            <a:ext cx="39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วิทยาศาสตร์ · สังคมศาสตร์ · มนุษยศาสตร์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CONCEPT PAPER — แนวทางการใช้ AI &amp; Kiro</a:t>
            </a:r>
          </a:p>
        </p:txBody>
      </p:sp>
      <p:sp>
        <p:nvSpPr>
          <p:cNvPr id="159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พัฒนาแบบ Spec-driven ด้วย Kiro</a:t>
            </a:r>
          </a:p>
        </p:txBody>
      </p:sp>
      <p:sp>
        <p:nvSpPr>
          <p:cNvPr id="160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6/10</a:t>
            </a:r>
          </a:p>
        </p:txBody>
      </p:sp>
      <p:sp>
        <p:nvSpPr>
          <p:cNvPr id="161" name="s"/>
          <p:cNvSpPr/>
          <p:nvPr/>
        </p:nvSpPr>
        <p:spPr>
          <a:xfrm>
            <a:off x="760000" y="2000000"/>
            <a:ext cx="5250000" cy="33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62" name="s"/>
          <p:cNvSpPr/>
          <p:nvPr/>
        </p:nvSpPr>
        <p:spPr>
          <a:xfrm>
            <a:off x="2910000" y="21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63" name="t"/>
          <p:cNvSpPr txBox="1"/>
          <p:nvPr/>
        </p:nvSpPr>
        <p:spPr>
          <a:xfrm>
            <a:off x="2910000" y="21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🤖</a:t>
            </a:r>
          </a:p>
        </p:txBody>
      </p:sp>
      <p:sp>
        <p:nvSpPr>
          <p:cNvPr id="164" name="t"/>
          <p:cNvSpPr txBox="1"/>
          <p:nvPr/>
        </p:nvSpPr>
        <p:spPr>
          <a:xfrm>
            <a:off x="960000" y="3080000"/>
            <a:ext cx="49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500" b="1" i="0" dirty="0">
                <a:solidFill>
                  <a:srgbClr val="f5c542"/>
                </a:solidFill>
                <a:latin typeface="Tahoma"/>
                <a:cs typeface="Tahoma"/>
              </a:rPr>
              <a:t>AI / Automated Reasoning</a:t>
            </a:r>
          </a:p>
        </p:txBody>
      </p:sp>
      <p:sp>
        <p:nvSpPr>
          <p:cNvPr id="165" name="t"/>
          <p:cNvSpPr txBox="1"/>
          <p:nvPr/>
        </p:nvSpPr>
        <p:spPr>
          <a:xfrm>
            <a:off x="1000000" y="35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สกัดข้อมูลตามโครงสร้าง IMRaD</a:t>
            </a:r>
          </a:p>
        </p:txBody>
      </p:sp>
      <p:sp>
        <p:nvSpPr>
          <p:cNvPr id="166" name="t"/>
          <p:cNvSpPr txBox="1"/>
          <p:nvPr/>
        </p:nvSpPr>
        <p:spPr>
          <a:xfrm>
            <a:off x="1000000" y="408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จำแนก 22 สาขา + ระเบียบวิธี (weighted scoring)</a:t>
            </a:r>
          </a:p>
        </p:txBody>
      </p:sp>
      <p:sp>
        <p:nvSpPr>
          <p:cNvPr id="167" name="t"/>
          <p:cNvSpPr txBox="1"/>
          <p:nvPr/>
        </p:nvSpPr>
        <p:spPr>
          <a:xfrm>
            <a:off x="1000000" y="464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รองรับไทย–อังกฤษ · ดึงชื่อผู้แต่งเต็ม</a:t>
            </a:r>
          </a:p>
        </p:txBody>
      </p:sp>
      <p:sp>
        <p:nvSpPr>
          <p:cNvPr id="168" name="s"/>
          <p:cNvSpPr/>
          <p:nvPr/>
        </p:nvSpPr>
        <p:spPr>
          <a:xfrm>
            <a:off x="6260000" y="2000000"/>
            <a:ext cx="5200000" cy="335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69" name="s"/>
          <p:cNvSpPr/>
          <p:nvPr/>
        </p:nvSpPr>
        <p:spPr>
          <a:xfrm>
            <a:off x="8430000" y="21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70" name="t"/>
          <p:cNvSpPr txBox="1"/>
          <p:nvPr/>
        </p:nvSpPr>
        <p:spPr>
          <a:xfrm>
            <a:off x="8430000" y="21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⚙️</a:t>
            </a:r>
          </a:p>
        </p:txBody>
      </p:sp>
      <p:sp>
        <p:nvSpPr>
          <p:cNvPr id="171" name="t"/>
          <p:cNvSpPr txBox="1"/>
          <p:nvPr/>
        </p:nvSpPr>
        <p:spPr>
          <a:xfrm>
            <a:off x="6460000" y="308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500" b="1" i="0" dirty="0">
                <a:solidFill>
                  <a:srgbClr val="22d3ee"/>
                </a:solidFill>
                <a:latin typeface="Tahoma"/>
                <a:cs typeface="Tahoma"/>
              </a:rPr>
              <a:t>Kiro = เครื่องมือหลัก</a:t>
            </a:r>
          </a:p>
        </p:txBody>
      </p:sp>
      <p:sp>
        <p:nvSpPr>
          <p:cNvPr id="172" name="t"/>
          <p:cNvSpPr txBox="1"/>
          <p:nvPr/>
        </p:nvSpPr>
        <p:spPr>
          <a:xfrm>
            <a:off x="6500000" y="35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.kiro/steering — มาตรฐานการพัฒนา</a:t>
            </a:r>
          </a:p>
        </p:txBody>
      </p:sp>
      <p:sp>
        <p:nvSpPr>
          <p:cNvPr id="173" name="t"/>
          <p:cNvSpPr txBox="1"/>
          <p:nvPr/>
        </p:nvSpPr>
        <p:spPr>
          <a:xfrm>
            <a:off x="6500000" y="408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.kiro/specs — Acceptance Criteria</a:t>
            </a:r>
          </a:p>
        </p:txBody>
      </p:sp>
      <p:sp>
        <p:nvSpPr>
          <p:cNvPr id="174" name="t"/>
          <p:cNvSpPr txBox="1"/>
          <p:nvPr/>
        </p:nvSpPr>
        <p:spPr>
          <a:xfrm>
            <a:off x="6500000" y="464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Kiro ช่วยเขียนโค้ด ทดสอบ (Node.js) &amp; deploy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② SOURCE CODE / KIRO PROJECT</a:t>
            </a:r>
          </a:p>
        </p:txBody>
      </p:sp>
      <p:sp>
        <p:nvSpPr>
          <p:cNvPr id="177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โครงสร้างผลงาน &amp; การส่งมอบ</a:t>
            </a:r>
          </a:p>
        </p:txBody>
      </p:sp>
      <p:sp>
        <p:nvSpPr>
          <p:cNvPr id="178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7/10</a:t>
            </a:r>
          </a:p>
        </p:txBody>
      </p:sp>
      <p:sp>
        <p:nvSpPr>
          <p:cNvPr id="179" name="s"/>
          <p:cNvSpPr/>
          <p:nvPr/>
        </p:nvSpPr>
        <p:spPr>
          <a:xfrm>
            <a:off x="760000" y="2000000"/>
            <a:ext cx="5300000" cy="3350000"/>
          </a:xfrm>
          <a:prstGeom prst="roundRect">
            <a:avLst>
              <a:gd name="adj" fmla="val 5000"/>
            </a:avLst>
          </a:prstGeom>
          <a:solidFill>
            <a:srgbClr val="0a1428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180" name="t"/>
          <p:cNvSpPr txBox="1"/>
          <p:nvPr/>
        </p:nvSpPr>
        <p:spPr>
          <a:xfrm>
            <a:off x="1000000" y="220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📁 LIKA.kiro/</a:t>
            </a:r>
          </a:p>
        </p:txBody>
      </p:sp>
      <p:sp>
        <p:nvSpPr>
          <p:cNvPr id="181" name="t"/>
          <p:cNvSpPr txBox="1"/>
          <p:nvPr/>
        </p:nvSpPr>
        <p:spPr>
          <a:xfrm>
            <a:off x="1360000" y="258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⭐ lika-nexus.html</a:t>
            </a:r>
          </a:p>
        </p:txBody>
      </p:sp>
      <p:sp>
        <p:nvSpPr>
          <p:cNvPr id="182" name="t"/>
          <p:cNvSpPr txBox="1"/>
          <p:nvPr/>
        </p:nvSpPr>
        <p:spPr>
          <a:xfrm>
            <a:off x="1360000" y="296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9fb3d1"/>
                </a:solidFill>
                <a:latin typeface="Tahoma"/>
                <a:cs typeface="Tahoma"/>
              </a:rPr>
              <a:t>📄 lit-review-helper.html</a:t>
            </a:r>
          </a:p>
        </p:txBody>
      </p:sp>
      <p:sp>
        <p:nvSpPr>
          <p:cNvPr id="183" name="t"/>
          <p:cNvSpPr txBox="1"/>
          <p:nvPr/>
        </p:nvSpPr>
        <p:spPr>
          <a:xfrm>
            <a:off x="1360000" y="334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9fb3d1"/>
                </a:solidFill>
                <a:latin typeface="Tahoma"/>
                <a:cs typeface="Tahoma"/>
              </a:rPr>
              <a:t>🗂 search.html</a:t>
            </a:r>
          </a:p>
        </p:txBody>
      </p:sp>
      <p:sp>
        <p:nvSpPr>
          <p:cNvPr id="184" name="t"/>
          <p:cNvSpPr txBox="1"/>
          <p:nvPr/>
        </p:nvSpPr>
        <p:spPr>
          <a:xfrm>
            <a:off x="1360000" y="372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22d3ee"/>
                </a:solidFill>
                <a:latin typeface="Tahoma"/>
                <a:cs typeface="Tahoma"/>
              </a:rPr>
              <a:t>📁 .kiro/</a:t>
            </a:r>
          </a:p>
        </p:txBody>
      </p:sp>
      <p:sp>
        <p:nvSpPr>
          <p:cNvPr id="185" name="t"/>
          <p:cNvSpPr txBox="1"/>
          <p:nvPr/>
        </p:nvSpPr>
        <p:spPr>
          <a:xfrm>
            <a:off x="1720000" y="410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📐 steering/rules.md</a:t>
            </a:r>
          </a:p>
        </p:txBody>
      </p:sp>
      <p:sp>
        <p:nvSpPr>
          <p:cNvPr id="186" name="t"/>
          <p:cNvSpPr txBox="1"/>
          <p:nvPr/>
        </p:nvSpPr>
        <p:spPr>
          <a:xfrm>
            <a:off x="1720000" y="448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📐 specs/lit-review-spec.md</a:t>
            </a:r>
          </a:p>
        </p:txBody>
      </p:sp>
      <p:sp>
        <p:nvSpPr>
          <p:cNvPr id="187" name="t"/>
          <p:cNvSpPr txBox="1"/>
          <p:nvPr/>
        </p:nvSpPr>
        <p:spPr>
          <a:xfrm>
            <a:off x="1360000" y="4860000"/>
            <a:ext cx="4900000" cy="3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f5c542"/>
                </a:solidFill>
                <a:latin typeface="Tahoma"/>
                <a:cs typeface="Tahoma"/>
              </a:rPr>
              <a:t>📊 LIKA_Pitch_Deck.pptx</a:t>
            </a:r>
          </a:p>
        </p:txBody>
      </p:sp>
      <p:sp>
        <p:nvSpPr>
          <p:cNvPr id="188" name="t"/>
          <p:cNvSpPr txBox="1"/>
          <p:nvPr/>
        </p:nvSpPr>
        <p:spPr>
          <a:xfrm>
            <a:off x="6260000" y="2000000"/>
            <a:ext cx="52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ช่องทางการส่งมอบ &amp; ตรวจสอบ</a:t>
            </a:r>
          </a:p>
        </p:txBody>
      </p:sp>
      <p:sp>
        <p:nvSpPr>
          <p:cNvPr id="189" name="s"/>
          <p:cNvSpPr/>
          <p:nvPr/>
        </p:nvSpPr>
        <p:spPr>
          <a:xfrm>
            <a:off x="6260000" y="2450000"/>
            <a:ext cx="5200000" cy="640000"/>
          </a:xfrm>
          <a:prstGeom prst="roundRect">
            <a:avLst>
              <a:gd name="adj" fmla="val 10000"/>
            </a:avLst>
          </a:prstGeom>
          <a:solidFill>
            <a:srgbClr val="0b1a3a"/>
          </a:solidFill>
          <a:ln w="70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90" name="t"/>
          <p:cNvSpPr txBox="1"/>
          <p:nvPr/>
        </p:nvSpPr>
        <p:spPr>
          <a:xfrm>
            <a:off x="6440000" y="2520000"/>
            <a:ext cx="49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22d3ee"/>
                </a:solidFill>
                <a:latin typeface="Tahoma"/>
                <a:cs typeface="Tahoma"/>
              </a:rPr>
              <a:t>💻 Source (GitHub)</a:t>
            </a:r>
          </a:p>
        </p:txBody>
      </p:sp>
      <p:sp>
        <p:nvSpPr>
          <p:cNvPr id="191" name="t"/>
          <p:cNvSpPr txBox="1"/>
          <p:nvPr/>
        </p:nvSpPr>
        <p:spPr>
          <a:xfrm>
            <a:off x="6440000" y="2810000"/>
            <a:ext cx="49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github.com/kanchanathsao-crypto/ lika-lit-review-helper-</a:t>
            </a:r>
          </a:p>
        </p:txBody>
      </p:sp>
      <p:sp>
        <p:nvSpPr>
          <p:cNvPr id="192" name="s"/>
          <p:cNvSpPr/>
          <p:nvPr/>
        </p:nvSpPr>
        <p:spPr>
          <a:xfrm>
            <a:off x="6260000" y="3170000"/>
            <a:ext cx="5200000" cy="640000"/>
          </a:xfrm>
          <a:prstGeom prst="roundRect">
            <a:avLst>
              <a:gd name="adj" fmla="val 10000"/>
            </a:avLst>
          </a:prstGeom>
          <a:solidFill>
            <a:srgbClr val="0b1a3a"/>
          </a:solidFill>
          <a:ln w="7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93" name="t"/>
          <p:cNvSpPr txBox="1"/>
          <p:nvPr/>
        </p:nvSpPr>
        <p:spPr>
          <a:xfrm>
            <a:off x="6440000" y="3240000"/>
            <a:ext cx="49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🌐 Demo ใช้งานจริง</a:t>
            </a:r>
          </a:p>
        </p:txBody>
      </p:sp>
      <p:sp>
        <p:nvSpPr>
          <p:cNvPr id="194" name="t"/>
          <p:cNvSpPr txBox="1"/>
          <p:nvPr/>
        </p:nvSpPr>
        <p:spPr>
          <a:xfrm>
            <a:off x="6440000" y="3530000"/>
            <a:ext cx="49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tinyurl.com/lika-nexus</a:t>
            </a:r>
          </a:p>
        </p:txBody>
      </p:sp>
      <p:sp>
        <p:nvSpPr>
          <p:cNvPr id="195" name="s"/>
          <p:cNvSpPr/>
          <p:nvPr/>
        </p:nvSpPr>
        <p:spPr>
          <a:xfrm>
            <a:off x="6260000" y="3890000"/>
            <a:ext cx="5200000" cy="640000"/>
          </a:xfrm>
          <a:prstGeom prst="roundRect">
            <a:avLst>
              <a:gd name="adj" fmla="val 10000"/>
            </a:avLst>
          </a:prstGeom>
          <a:solidFill>
            <a:srgbClr val="0b1a3a"/>
          </a:solidFill>
          <a:ln w="7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96" name="t"/>
          <p:cNvSpPr txBox="1"/>
          <p:nvPr/>
        </p:nvSpPr>
        <p:spPr>
          <a:xfrm>
            <a:off x="6440000" y="3960000"/>
            <a:ext cx="49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a78bfa"/>
                </a:solidFill>
                <a:latin typeface="Tahoma"/>
                <a:cs typeface="Tahoma"/>
              </a:rPr>
              <a:t>🛠 เทคโนโลยี</a:t>
            </a:r>
          </a:p>
        </p:txBody>
      </p:sp>
      <p:sp>
        <p:nvSpPr>
          <p:cNvPr id="197" name="t"/>
          <p:cNvSpPr txBox="1"/>
          <p:nvPr/>
        </p:nvSpPr>
        <p:spPr>
          <a:xfrm>
            <a:off x="6440000" y="4250000"/>
            <a:ext cx="49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HTML5 · Tailwind · Three.js r128 PDF.js · ประมวลผลในเบราว์เซอร์</a:t>
            </a:r>
          </a:p>
        </p:txBody>
      </p:sp>
      <p:sp>
        <p:nvSpPr>
          <p:cNvPr id="198" name="s"/>
          <p:cNvSpPr/>
          <p:nvPr/>
        </p:nvSpPr>
        <p:spPr>
          <a:xfrm>
            <a:off x="6260000" y="4610000"/>
            <a:ext cx="5200000" cy="640000"/>
          </a:xfrm>
          <a:prstGeom prst="roundRect">
            <a:avLst>
              <a:gd name="adj" fmla="val 10000"/>
            </a:avLst>
          </a:prstGeom>
          <a:solidFill>
            <a:srgbClr val="0b1a3a"/>
          </a:solidFill>
          <a:ln w="70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199" name="t"/>
          <p:cNvSpPr txBox="1"/>
          <p:nvPr/>
        </p:nvSpPr>
        <p:spPr>
          <a:xfrm>
            <a:off x="6440000" y="4680000"/>
            <a:ext cx="49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✅ พัฒนาด้วย Kiro</a:t>
            </a:r>
          </a:p>
        </p:txBody>
      </p:sp>
      <p:sp>
        <p:nvSpPr>
          <p:cNvPr id="200" name="t"/>
          <p:cNvSpPr txBox="1"/>
          <p:nvPr/>
        </p:nvSpPr>
        <p:spPr>
          <a:xfrm>
            <a:off x="6440000" y="4970000"/>
            <a:ext cx="49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Spec-driven · ตรวจ commit history ได้จาก GitHub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② PROTOTYPE — ฟีเจอร์เด่น + สถิติผู้ใช้</a:t>
            </a:r>
          </a:p>
        </p:txBody>
      </p:sp>
      <p:sp>
        <p:nvSpPr>
          <p:cNvPr id="203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ระบบ Login &amp; Usage Dashboard</a:t>
            </a:r>
          </a:p>
        </p:txBody>
      </p:sp>
      <p:sp>
        <p:nvSpPr>
          <p:cNvPr id="204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8/10</a:t>
            </a:r>
          </a:p>
        </p:txBody>
      </p:sp>
      <p:sp>
        <p:nvSpPr>
          <p:cNvPr id="205" name="s"/>
          <p:cNvSpPr/>
          <p:nvPr/>
        </p:nvSpPr>
        <p:spPr>
          <a:xfrm>
            <a:off x="1350000" y="2600000"/>
            <a:ext cx="1900000" cy="1900000"/>
          </a:xfrm>
          <a:prstGeom prst="ellipse">
            <a:avLst/>
          </a:prstGeom>
          <a:noFill/>
          <a:ln w="180000">
            <a:solidFill>
              <a:srgbClr val="131c2e"/>
            </a:solidFill>
          </a:ln>
        </p:spPr>
        <p:txBody>
          <a:bodyPr/>
          <a:lstStyle/>
          <a:p/>
        </p:txBody>
      </p:sp>
      <p:sp>
        <p:nvSpPr>
          <p:cNvPr id="206" name="s"/>
          <p:cNvSpPr/>
          <p:nvPr/>
        </p:nvSpPr>
        <p:spPr>
          <a:xfrm>
            <a:off x="1400000" y="2650000"/>
            <a:ext cx="1800000" cy="1800000"/>
          </a:xfrm>
          <a:prstGeom prst="pie">
            <a:avLst>
              <a:gd name="adj1" fmla="val -5400000"/>
              <a:gd name="adj2" fmla="val 240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s"/>
          <p:cNvSpPr/>
          <p:nvPr/>
        </p:nvSpPr>
        <p:spPr>
          <a:xfrm>
            <a:off x="1400000" y="2650000"/>
            <a:ext cx="1800000" cy="1800000"/>
          </a:xfrm>
          <a:prstGeom prst="pie">
            <a:avLst>
              <a:gd name="adj1" fmla="val 2400000"/>
              <a:gd name="adj2" fmla="val 960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s"/>
          <p:cNvSpPr/>
          <p:nvPr/>
        </p:nvSpPr>
        <p:spPr>
          <a:xfrm>
            <a:off x="1400000" y="2650000"/>
            <a:ext cx="1800000" cy="1800000"/>
          </a:xfrm>
          <a:prstGeom prst="pie">
            <a:avLst>
              <a:gd name="adj1" fmla="val 9600000"/>
              <a:gd name="adj2" fmla="val 1620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s"/>
          <p:cNvSpPr/>
          <p:nvPr/>
        </p:nvSpPr>
        <p:spPr>
          <a:xfrm>
            <a:off x="1870000" y="3120000"/>
            <a:ext cx="860000" cy="860000"/>
          </a:xfrm>
          <a:prstGeom prst="ellipse">
            <a:avLst/>
          </a:prstGeom>
          <a:solidFill>
            <a:srgbClr val="060a1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t"/>
          <p:cNvSpPr txBox="1"/>
          <p:nvPr/>
        </p:nvSpPr>
        <p:spPr>
          <a:xfrm>
            <a:off x="1870000" y="3300000"/>
            <a:ext cx="860000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200" b="1" i="0" dirty="0">
                <a:solidFill>
                  <a:srgbClr val="e5edff"/>
                </a:solidFill>
                <a:latin typeface="Tahoma"/>
                <a:cs typeface="Tahoma"/>
              </a:rPr>
              <a:t>3 กลุ่ม</a:t>
            </a:r>
          </a:p>
        </p:txBody>
      </p:sp>
      <p:sp>
        <p:nvSpPr>
          <p:cNvPr id="211" name="t"/>
          <p:cNvSpPr txBox="1"/>
          <p:nvPr/>
        </p:nvSpPr>
        <p:spPr>
          <a:xfrm>
            <a:off x="900000" y="4650000"/>
            <a:ext cx="28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1" dirty="0">
                <a:solidFill>
                  <a:srgbClr val="9fb3d1"/>
                </a:solidFill>
                <a:latin typeface="Tahoma"/>
                <a:cs typeface="Tahoma"/>
              </a:rPr>
              <a:t>สัดส่วนผู้ใช้ตามประเภท</a:t>
            </a:r>
          </a:p>
        </p:txBody>
      </p:sp>
      <p:sp>
        <p:nvSpPr>
          <p:cNvPr id="212" name="s"/>
          <p:cNvSpPr/>
          <p:nvPr/>
        </p:nvSpPr>
        <p:spPr>
          <a:xfrm>
            <a:off x="760000" y="2200000"/>
            <a:ext cx="200000" cy="200000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t"/>
          <p:cNvSpPr txBox="1"/>
          <p:nvPr/>
        </p:nvSpPr>
        <p:spPr>
          <a:xfrm>
            <a:off x="1040000" y="2170000"/>
            <a:ext cx="23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อาจารย์</a:t>
            </a:r>
          </a:p>
        </p:txBody>
      </p:sp>
      <p:sp>
        <p:nvSpPr>
          <p:cNvPr id="214" name="s"/>
          <p:cNvSpPr/>
          <p:nvPr/>
        </p:nvSpPr>
        <p:spPr>
          <a:xfrm>
            <a:off x="760000" y="2530000"/>
            <a:ext cx="200000" cy="200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t"/>
          <p:cNvSpPr txBox="1"/>
          <p:nvPr/>
        </p:nvSpPr>
        <p:spPr>
          <a:xfrm>
            <a:off x="1040000" y="2500000"/>
            <a:ext cx="23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เจ้าหน้าที่</a:t>
            </a:r>
          </a:p>
        </p:txBody>
      </p:sp>
      <p:sp>
        <p:nvSpPr>
          <p:cNvPr id="216" name="s"/>
          <p:cNvSpPr/>
          <p:nvPr/>
        </p:nvSpPr>
        <p:spPr>
          <a:xfrm>
            <a:off x="760000" y="2860000"/>
            <a:ext cx="200000" cy="20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t"/>
          <p:cNvSpPr txBox="1"/>
          <p:nvPr/>
        </p:nvSpPr>
        <p:spPr>
          <a:xfrm>
            <a:off x="1040000" y="2830000"/>
            <a:ext cx="2300000" cy="2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นักศึกษา</a:t>
            </a:r>
          </a:p>
        </p:txBody>
      </p:sp>
      <p:sp>
        <p:nvSpPr>
          <p:cNvPr id="218" name="t"/>
          <p:cNvSpPr txBox="1"/>
          <p:nvPr/>
        </p:nvSpPr>
        <p:spPr>
          <a:xfrm>
            <a:off x="4500000" y="2050000"/>
            <a:ext cx="5000000" cy="3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การเข้าใช้ย้อนหลัง 7 วัน</a:t>
            </a:r>
          </a:p>
        </p:txBody>
      </p:sp>
      <p:sp>
        <p:nvSpPr>
          <p:cNvPr id="219" name="s"/>
          <p:cNvSpPr/>
          <p:nvPr/>
        </p:nvSpPr>
        <p:spPr>
          <a:xfrm>
            <a:off x="4500000" y="3400000"/>
            <a:ext cx="360000" cy="60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0" name="s"/>
          <p:cNvSpPr/>
          <p:nvPr/>
        </p:nvSpPr>
        <p:spPr>
          <a:xfrm>
            <a:off x="5060000" y="2950000"/>
            <a:ext cx="360000" cy="105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1" name="s"/>
          <p:cNvSpPr/>
          <p:nvPr/>
        </p:nvSpPr>
        <p:spPr>
          <a:xfrm>
            <a:off x="5620000" y="3250000"/>
            <a:ext cx="360000" cy="75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2" name="s"/>
          <p:cNvSpPr/>
          <p:nvPr/>
        </p:nvSpPr>
        <p:spPr>
          <a:xfrm>
            <a:off x="6180000" y="2650000"/>
            <a:ext cx="360000" cy="135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3" name="s"/>
          <p:cNvSpPr/>
          <p:nvPr/>
        </p:nvSpPr>
        <p:spPr>
          <a:xfrm>
            <a:off x="6740000" y="3100000"/>
            <a:ext cx="360000" cy="90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4" name="s"/>
          <p:cNvSpPr/>
          <p:nvPr/>
        </p:nvSpPr>
        <p:spPr>
          <a:xfrm>
            <a:off x="7300000" y="2500000"/>
            <a:ext cx="360000" cy="150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5" name="s"/>
          <p:cNvSpPr/>
          <p:nvPr/>
        </p:nvSpPr>
        <p:spPr>
          <a:xfrm>
            <a:off x="7860000" y="2800000"/>
            <a:ext cx="360000" cy="1200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f5c542"/>
              </a:gs>
              <a:gs pos="100000">
                <a:srgbClr val="22d3ee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26" name="t"/>
          <p:cNvSpPr txBox="1"/>
          <p:nvPr/>
        </p:nvSpPr>
        <p:spPr>
          <a:xfrm>
            <a:off x="4500000" y="4350000"/>
            <a:ext cx="70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Login แยกประเภท: อาจารย์ · เจ้าหน้าที่ · นักศึกษา (เด้งต้อนรับหน้าแรก)</a:t>
            </a:r>
          </a:p>
        </p:txBody>
      </p:sp>
      <p:sp>
        <p:nvSpPr>
          <p:cNvPr id="227" name="t"/>
          <p:cNvSpPr txBox="1"/>
          <p:nvPr/>
        </p:nvSpPr>
        <p:spPr>
          <a:xfrm>
            <a:off x="4500000" y="4820000"/>
            <a:ext cx="70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Dashboard: การ์ดสถิติ · โดนัท · กราฟ 7 วัน · บันทึกล่าสุด</a:t>
            </a:r>
          </a:p>
        </p:txBody>
      </p:sp>
      <p:sp>
        <p:nvSpPr>
          <p:cNvPr id="228" name="t"/>
          <p:cNvSpPr txBox="1"/>
          <p:nvPr/>
        </p:nvSpPr>
        <p:spPr>
          <a:xfrm>
            <a:off x="4500000" y="5290000"/>
            <a:ext cx="7000000" cy="4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▸ </a:t>
            </a:r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ประมวลผล + เก็บสถิติในเบราว์เซอร์ (privacy-first)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t"/>
          <p:cNvSpPr txBox="1"/>
          <p:nvPr/>
        </p:nvSpPr>
        <p:spPr>
          <a:xfrm>
            <a:off x="760000" y="450000"/>
            <a:ext cx="100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③ PRESENTATION / DEMO VIDEO (≤ 5 นาที)</a:t>
            </a:r>
          </a:p>
        </p:txBody>
      </p:sp>
      <p:sp>
        <p:nvSpPr>
          <p:cNvPr id="231" name="t"/>
          <p:cNvSpPr txBox="1"/>
          <p:nvPr/>
        </p:nvSpPr>
        <p:spPr>
          <a:xfrm>
            <a:off x="760000" y="790000"/>
            <a:ext cx="108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800" b="1" i="0" dirty="0">
                <a:solidFill>
                  <a:srgbClr val="e5edff"/>
                </a:solidFill>
                <a:latin typeface="Tahoma"/>
                <a:cs typeface="Tahoma"/>
              </a:rPr>
              <a:t>เส้นเรื่องการนำเสนอ 5 ช่วง</a:t>
            </a:r>
          </a:p>
        </p:txBody>
      </p:sp>
      <p:sp>
        <p:nvSpPr>
          <p:cNvPr id="232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9/10</a:t>
            </a:r>
          </a:p>
        </p:txBody>
      </p:sp>
      <p:sp>
        <p:nvSpPr>
          <p:cNvPr id="233" name="s"/>
          <p:cNvSpPr/>
          <p:nvPr/>
        </p:nvSpPr>
        <p:spPr>
          <a:xfrm>
            <a:off x="760000" y="2300000"/>
            <a:ext cx="2000000" cy="25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fb923c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34" name="s"/>
          <p:cNvSpPr/>
          <p:nvPr/>
        </p:nvSpPr>
        <p:spPr>
          <a:xfrm>
            <a:off x="1330000" y="25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b923c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35" name="t"/>
          <p:cNvSpPr txBox="1"/>
          <p:nvPr/>
        </p:nvSpPr>
        <p:spPr>
          <a:xfrm>
            <a:off x="1330000" y="25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⏳</a:t>
            </a:r>
          </a:p>
        </p:txBody>
      </p:sp>
      <p:sp>
        <p:nvSpPr>
          <p:cNvPr id="236" name="t"/>
          <p:cNvSpPr txBox="1"/>
          <p:nvPr/>
        </p:nvSpPr>
        <p:spPr>
          <a:xfrm>
            <a:off x="860000" y="345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b923c"/>
                </a:solidFill>
                <a:latin typeface="Tahoma"/>
                <a:cs typeface="Tahoma"/>
              </a:rPr>
              <a:t>Problem</a:t>
            </a:r>
          </a:p>
        </p:txBody>
      </p:sp>
      <p:sp>
        <p:nvSpPr>
          <p:cNvPr id="237" name="t"/>
          <p:cNvSpPr txBox="1"/>
          <p:nvPr/>
        </p:nvSpPr>
        <p:spPr>
          <a:xfrm>
            <a:off x="860000" y="3800000"/>
            <a:ext cx="18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f5c542"/>
                </a:solidFill>
                <a:latin typeface="Tahoma"/>
                <a:cs typeface="Tahoma"/>
              </a:rPr>
              <a:t>0:00–0:45</a:t>
            </a:r>
          </a:p>
        </p:txBody>
      </p:sp>
      <p:sp>
        <p:nvSpPr>
          <p:cNvPr id="238" name="t"/>
          <p:cNvSpPr txBox="1"/>
          <p:nvPr/>
        </p:nvSpPr>
        <p:spPr>
          <a:xfrm>
            <a:off x="860000" y="4100000"/>
            <a:ext cx="180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Lit Review ใช้เวลานาน</a:t>
            </a:r>
          </a:p>
        </p:txBody>
      </p:sp>
      <p:sp>
        <p:nvSpPr>
          <p:cNvPr id="239" name="t"/>
          <p:cNvSpPr txBox="1"/>
          <p:nvPr/>
        </p:nvSpPr>
        <p:spPr>
          <a:xfrm>
            <a:off x="2730000" y="33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40" name="s"/>
          <p:cNvSpPr/>
          <p:nvPr/>
        </p:nvSpPr>
        <p:spPr>
          <a:xfrm>
            <a:off x="2930000" y="2300000"/>
            <a:ext cx="2000000" cy="25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41" name="s"/>
          <p:cNvSpPr/>
          <p:nvPr/>
        </p:nvSpPr>
        <p:spPr>
          <a:xfrm>
            <a:off x="3500000" y="25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42" name="t"/>
          <p:cNvSpPr txBox="1"/>
          <p:nvPr/>
        </p:nvSpPr>
        <p:spPr>
          <a:xfrm>
            <a:off x="3500000" y="25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💡</a:t>
            </a:r>
          </a:p>
        </p:txBody>
      </p:sp>
      <p:sp>
        <p:nvSpPr>
          <p:cNvPr id="243" name="t"/>
          <p:cNvSpPr txBox="1"/>
          <p:nvPr/>
        </p:nvSpPr>
        <p:spPr>
          <a:xfrm>
            <a:off x="3030000" y="345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Solution</a:t>
            </a:r>
          </a:p>
        </p:txBody>
      </p:sp>
      <p:sp>
        <p:nvSpPr>
          <p:cNvPr id="244" name="t"/>
          <p:cNvSpPr txBox="1"/>
          <p:nvPr/>
        </p:nvSpPr>
        <p:spPr>
          <a:xfrm>
            <a:off x="3030000" y="3800000"/>
            <a:ext cx="18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f5c542"/>
                </a:solidFill>
                <a:latin typeface="Tahoma"/>
                <a:cs typeface="Tahoma"/>
              </a:rPr>
              <a:t>0:45–1:30</a:t>
            </a:r>
          </a:p>
        </p:txBody>
      </p:sp>
      <p:sp>
        <p:nvSpPr>
          <p:cNvPr id="245" name="t"/>
          <p:cNvSpPr txBox="1"/>
          <p:nvPr/>
        </p:nvSpPr>
        <p:spPr>
          <a:xfrm>
            <a:off x="3030000" y="4100000"/>
            <a:ext cx="180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LIKA ช่วยอัตโนมัติ</a:t>
            </a:r>
          </a:p>
        </p:txBody>
      </p:sp>
      <p:sp>
        <p:nvSpPr>
          <p:cNvPr id="246" name="t"/>
          <p:cNvSpPr txBox="1"/>
          <p:nvPr/>
        </p:nvSpPr>
        <p:spPr>
          <a:xfrm>
            <a:off x="4900000" y="33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47" name="s"/>
          <p:cNvSpPr/>
          <p:nvPr/>
        </p:nvSpPr>
        <p:spPr>
          <a:xfrm>
            <a:off x="5100000" y="2300000"/>
            <a:ext cx="2000000" cy="25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48" name="s"/>
          <p:cNvSpPr/>
          <p:nvPr/>
        </p:nvSpPr>
        <p:spPr>
          <a:xfrm>
            <a:off x="5670000" y="25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49" name="t"/>
          <p:cNvSpPr txBox="1"/>
          <p:nvPr/>
        </p:nvSpPr>
        <p:spPr>
          <a:xfrm>
            <a:off x="5670000" y="25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🤖</a:t>
            </a:r>
          </a:p>
        </p:txBody>
      </p:sp>
      <p:sp>
        <p:nvSpPr>
          <p:cNvPr id="250" name="t"/>
          <p:cNvSpPr txBox="1"/>
          <p:nvPr/>
        </p:nvSpPr>
        <p:spPr>
          <a:xfrm>
            <a:off x="5200000" y="345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AI / Kiro</a:t>
            </a:r>
          </a:p>
        </p:txBody>
      </p:sp>
      <p:sp>
        <p:nvSpPr>
          <p:cNvPr id="251" name="t"/>
          <p:cNvSpPr txBox="1"/>
          <p:nvPr/>
        </p:nvSpPr>
        <p:spPr>
          <a:xfrm>
            <a:off x="5200000" y="3800000"/>
            <a:ext cx="18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f5c542"/>
                </a:solidFill>
                <a:latin typeface="Tahoma"/>
                <a:cs typeface="Tahoma"/>
              </a:rPr>
              <a:t>1:30–2:15</a:t>
            </a:r>
          </a:p>
        </p:txBody>
      </p:sp>
      <p:sp>
        <p:nvSpPr>
          <p:cNvPr id="252" name="t"/>
          <p:cNvSpPr txBox="1"/>
          <p:nvPr/>
        </p:nvSpPr>
        <p:spPr>
          <a:xfrm>
            <a:off x="5200000" y="4100000"/>
            <a:ext cx="180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Spec-driven + สกัด IMRaD</a:t>
            </a:r>
          </a:p>
        </p:txBody>
      </p:sp>
      <p:sp>
        <p:nvSpPr>
          <p:cNvPr id="253" name="t"/>
          <p:cNvSpPr txBox="1"/>
          <p:nvPr/>
        </p:nvSpPr>
        <p:spPr>
          <a:xfrm>
            <a:off x="7070000" y="33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54" name="s"/>
          <p:cNvSpPr/>
          <p:nvPr/>
        </p:nvSpPr>
        <p:spPr>
          <a:xfrm>
            <a:off x="7270000" y="2300000"/>
            <a:ext cx="2000000" cy="25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55" name="s"/>
          <p:cNvSpPr/>
          <p:nvPr/>
        </p:nvSpPr>
        <p:spPr>
          <a:xfrm>
            <a:off x="7840000" y="25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56" name="t"/>
          <p:cNvSpPr txBox="1"/>
          <p:nvPr/>
        </p:nvSpPr>
        <p:spPr>
          <a:xfrm>
            <a:off x="7840000" y="25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🖥️</a:t>
            </a:r>
          </a:p>
        </p:txBody>
      </p:sp>
      <p:sp>
        <p:nvSpPr>
          <p:cNvPr id="257" name="t"/>
          <p:cNvSpPr txBox="1"/>
          <p:nvPr/>
        </p:nvSpPr>
        <p:spPr>
          <a:xfrm>
            <a:off x="7370000" y="345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Prototype</a:t>
            </a:r>
          </a:p>
        </p:txBody>
      </p:sp>
      <p:sp>
        <p:nvSpPr>
          <p:cNvPr id="258" name="t"/>
          <p:cNvSpPr txBox="1"/>
          <p:nvPr/>
        </p:nvSpPr>
        <p:spPr>
          <a:xfrm>
            <a:off x="7370000" y="3800000"/>
            <a:ext cx="18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f5c542"/>
                </a:solidFill>
                <a:latin typeface="Tahoma"/>
                <a:cs typeface="Tahoma"/>
              </a:rPr>
              <a:t>2:15–4:00</a:t>
            </a:r>
          </a:p>
        </p:txBody>
      </p:sp>
      <p:sp>
        <p:nvSpPr>
          <p:cNvPr id="259" name="t"/>
          <p:cNvSpPr txBox="1"/>
          <p:nvPr/>
        </p:nvSpPr>
        <p:spPr>
          <a:xfrm>
            <a:off x="7370000" y="4100000"/>
            <a:ext cx="180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สาธิตสด: อัปโหลด→กราฟ→ร่าง</a:t>
            </a:r>
          </a:p>
        </p:txBody>
      </p:sp>
      <p:sp>
        <p:nvSpPr>
          <p:cNvPr id="260" name="t"/>
          <p:cNvSpPr txBox="1"/>
          <p:nvPr/>
        </p:nvSpPr>
        <p:spPr>
          <a:xfrm>
            <a:off x="9240000" y="3350000"/>
            <a:ext cx="25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8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261" name="s"/>
          <p:cNvSpPr/>
          <p:nvPr/>
        </p:nvSpPr>
        <p:spPr>
          <a:xfrm>
            <a:off x="9440000" y="2300000"/>
            <a:ext cx="2000000" cy="25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62" name="s"/>
          <p:cNvSpPr/>
          <p:nvPr/>
        </p:nvSpPr>
        <p:spPr>
          <a:xfrm>
            <a:off x="10010000" y="250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263" name="t"/>
          <p:cNvSpPr txBox="1"/>
          <p:nvPr/>
        </p:nvSpPr>
        <p:spPr>
          <a:xfrm>
            <a:off x="10010000" y="250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🚀</a:t>
            </a:r>
          </a:p>
        </p:txBody>
      </p:sp>
      <p:sp>
        <p:nvSpPr>
          <p:cNvPr id="264" name="t"/>
          <p:cNvSpPr txBox="1"/>
          <p:nvPr/>
        </p:nvSpPr>
        <p:spPr>
          <a:xfrm>
            <a:off x="9540000" y="3450000"/>
            <a:ext cx="1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Impact</a:t>
            </a:r>
          </a:p>
        </p:txBody>
      </p:sp>
      <p:sp>
        <p:nvSpPr>
          <p:cNvPr id="265" name="t"/>
          <p:cNvSpPr txBox="1"/>
          <p:nvPr/>
        </p:nvSpPr>
        <p:spPr>
          <a:xfrm>
            <a:off x="9540000" y="3800000"/>
            <a:ext cx="18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00" b="0" i="0" dirty="0">
                <a:solidFill>
                  <a:srgbClr val="f5c542"/>
                </a:solidFill>
                <a:latin typeface="Tahoma"/>
                <a:cs typeface="Tahoma"/>
              </a:rPr>
              <a:t>4:00–4:45</a:t>
            </a:r>
          </a:p>
        </p:txBody>
      </p:sp>
      <p:sp>
        <p:nvSpPr>
          <p:cNvPr id="266" name="t"/>
          <p:cNvSpPr txBox="1"/>
          <p:nvPr/>
        </p:nvSpPr>
        <p:spPr>
          <a:xfrm>
            <a:off x="9540000" y="4100000"/>
            <a:ext cx="180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ลดเวลา · 22 สาขา · ต่อยอด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"/>
          <p:cNvSpPr/>
          <p:nvPr/>
        </p:nvSpPr>
        <p:spPr>
          <a:xfrm>
            <a:off x="5433012" y="1265414"/>
            <a:ext cx="24937" cy="2493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" name="s"/>
          <p:cNvSpPr/>
          <p:nvPr/>
        </p:nvSpPr>
        <p:spPr>
          <a:xfrm>
            <a:off x="10920868" y="405055"/>
            <a:ext cx="14373" cy="143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s"/>
          <p:cNvSpPr/>
          <p:nvPr/>
        </p:nvSpPr>
        <p:spPr>
          <a:xfrm>
            <a:off x="8990608" y="789620"/>
            <a:ext cx="23982" cy="239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s"/>
          <p:cNvSpPr/>
          <p:nvPr/>
        </p:nvSpPr>
        <p:spPr>
          <a:xfrm>
            <a:off x="9777560" y="486530"/>
            <a:ext cx="41809" cy="418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s"/>
          <p:cNvSpPr/>
          <p:nvPr/>
        </p:nvSpPr>
        <p:spPr>
          <a:xfrm>
            <a:off x="8513358" y="1801018"/>
            <a:ext cx="13228" cy="1322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2" name="s"/>
          <p:cNvSpPr/>
          <p:nvPr/>
        </p:nvSpPr>
        <p:spPr>
          <a:xfrm>
            <a:off x="1441955" y="3637683"/>
            <a:ext cx="25702" cy="2570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3" name="s"/>
          <p:cNvSpPr/>
          <p:nvPr/>
        </p:nvSpPr>
        <p:spPr>
          <a:xfrm>
            <a:off x="1171979" y="2018827"/>
            <a:ext cx="14972" cy="1497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s"/>
          <p:cNvSpPr/>
          <p:nvPr/>
        </p:nvSpPr>
        <p:spPr>
          <a:xfrm>
            <a:off x="9245038" y="3561125"/>
            <a:ext cx="13936" cy="1393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5" name="s"/>
          <p:cNvSpPr/>
          <p:nvPr/>
        </p:nvSpPr>
        <p:spPr>
          <a:xfrm>
            <a:off x="9486738" y="1038526"/>
            <a:ext cx="19315" cy="193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6" name="s"/>
          <p:cNvSpPr/>
          <p:nvPr/>
        </p:nvSpPr>
        <p:spPr>
          <a:xfrm>
            <a:off x="10580147" y="5263291"/>
            <a:ext cx="31103" cy="3110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7" name="s"/>
          <p:cNvSpPr/>
          <p:nvPr/>
        </p:nvSpPr>
        <p:spPr>
          <a:xfrm>
            <a:off x="1037872" y="4841090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" name="s"/>
          <p:cNvSpPr/>
          <p:nvPr/>
        </p:nvSpPr>
        <p:spPr>
          <a:xfrm>
            <a:off x="6655194" y="415985"/>
            <a:ext cx="19244" cy="1924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" name="s"/>
          <p:cNvSpPr/>
          <p:nvPr/>
        </p:nvSpPr>
        <p:spPr>
          <a:xfrm>
            <a:off x="781527" y="4669643"/>
            <a:ext cx="40130" cy="4013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s"/>
          <p:cNvSpPr/>
          <p:nvPr/>
        </p:nvSpPr>
        <p:spPr>
          <a:xfrm>
            <a:off x="2234302" y="2429418"/>
            <a:ext cx="25734" cy="2573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s"/>
          <p:cNvSpPr/>
          <p:nvPr/>
        </p:nvSpPr>
        <p:spPr>
          <a:xfrm>
            <a:off x="2420198" y="4535601"/>
            <a:ext cx="15859" cy="1585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s"/>
          <p:cNvSpPr/>
          <p:nvPr/>
        </p:nvSpPr>
        <p:spPr>
          <a:xfrm>
            <a:off x="9578342" y="2587733"/>
            <a:ext cx="30358" cy="303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s"/>
          <p:cNvSpPr/>
          <p:nvPr/>
        </p:nvSpPr>
        <p:spPr>
          <a:xfrm>
            <a:off x="11442106" y="1516042"/>
            <a:ext cx="15376" cy="153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s"/>
          <p:cNvSpPr/>
          <p:nvPr/>
        </p:nvSpPr>
        <p:spPr>
          <a:xfrm>
            <a:off x="9757631" y="4791609"/>
            <a:ext cx="32935" cy="329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s"/>
          <p:cNvSpPr/>
          <p:nvPr/>
        </p:nvSpPr>
        <p:spPr>
          <a:xfrm>
            <a:off x="3151952" y="3123897"/>
            <a:ext cx="15192" cy="1519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s"/>
          <p:cNvSpPr/>
          <p:nvPr/>
        </p:nvSpPr>
        <p:spPr>
          <a:xfrm>
            <a:off x="9189627" y="5973618"/>
            <a:ext cx="14057" cy="140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s"/>
          <p:cNvSpPr/>
          <p:nvPr/>
        </p:nvSpPr>
        <p:spPr>
          <a:xfrm>
            <a:off x="9468528" y="499970"/>
            <a:ext cx="32283" cy="322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s"/>
          <p:cNvSpPr/>
          <p:nvPr/>
        </p:nvSpPr>
        <p:spPr>
          <a:xfrm>
            <a:off x="3455413" y="4164226"/>
            <a:ext cx="34295" cy="3429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s"/>
          <p:cNvSpPr/>
          <p:nvPr/>
        </p:nvSpPr>
        <p:spPr>
          <a:xfrm>
            <a:off x="8920785" y="3586904"/>
            <a:ext cx="37468" cy="3746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s"/>
          <p:cNvSpPr/>
          <p:nvPr/>
        </p:nvSpPr>
        <p:spPr>
          <a:xfrm>
            <a:off x="5270514" y="3905751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s"/>
          <p:cNvSpPr/>
          <p:nvPr/>
        </p:nvSpPr>
        <p:spPr>
          <a:xfrm>
            <a:off x="7603172" y="3033172"/>
            <a:ext cx="21822" cy="218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s"/>
          <p:cNvSpPr/>
          <p:nvPr/>
        </p:nvSpPr>
        <p:spPr>
          <a:xfrm>
            <a:off x="4167906" y="6663738"/>
            <a:ext cx="17890" cy="1789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s"/>
          <p:cNvSpPr/>
          <p:nvPr/>
        </p:nvSpPr>
        <p:spPr>
          <a:xfrm>
            <a:off x="11727180" y="6541685"/>
            <a:ext cx="19998" cy="199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s"/>
          <p:cNvSpPr/>
          <p:nvPr/>
        </p:nvSpPr>
        <p:spPr>
          <a:xfrm>
            <a:off x="1373299" y="4818615"/>
            <a:ext cx="21838" cy="218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s"/>
          <p:cNvSpPr/>
          <p:nvPr/>
        </p:nvSpPr>
        <p:spPr>
          <a:xfrm>
            <a:off x="8811335" y="4153337"/>
            <a:ext cx="40676" cy="406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s"/>
          <p:cNvSpPr/>
          <p:nvPr/>
        </p:nvSpPr>
        <p:spPr>
          <a:xfrm>
            <a:off x="5762565" y="6119030"/>
            <a:ext cx="26707" cy="26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s"/>
          <p:cNvSpPr/>
          <p:nvPr/>
        </p:nvSpPr>
        <p:spPr>
          <a:xfrm>
            <a:off x="4830794" y="5108318"/>
            <a:ext cx="14398" cy="143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s"/>
          <p:cNvSpPr/>
          <p:nvPr/>
        </p:nvSpPr>
        <p:spPr>
          <a:xfrm>
            <a:off x="1980815" y="4294403"/>
            <a:ext cx="25701" cy="2570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s"/>
          <p:cNvSpPr/>
          <p:nvPr/>
        </p:nvSpPr>
        <p:spPr>
          <a:xfrm>
            <a:off x="2767604" y="6351358"/>
            <a:ext cx="23208" cy="2320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s"/>
          <p:cNvSpPr/>
          <p:nvPr/>
        </p:nvSpPr>
        <p:spPr>
          <a:xfrm>
            <a:off x="2549877" y="4101719"/>
            <a:ext cx="25818" cy="2581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s"/>
          <p:cNvSpPr/>
          <p:nvPr/>
        </p:nvSpPr>
        <p:spPr>
          <a:xfrm>
            <a:off x="657788" y="5605400"/>
            <a:ext cx="14543" cy="1454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s"/>
          <p:cNvSpPr/>
          <p:nvPr/>
        </p:nvSpPr>
        <p:spPr>
          <a:xfrm>
            <a:off x="9362957" y="4806889"/>
            <a:ext cx="37857" cy="378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s"/>
          <p:cNvSpPr/>
          <p:nvPr/>
        </p:nvSpPr>
        <p:spPr>
          <a:xfrm>
            <a:off x="5263809" y="2853153"/>
            <a:ext cx="34783" cy="347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s"/>
          <p:cNvSpPr/>
          <p:nvPr/>
        </p:nvSpPr>
        <p:spPr>
          <a:xfrm>
            <a:off x="5875018" y="4985935"/>
            <a:ext cx="28275" cy="282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s"/>
          <p:cNvSpPr/>
          <p:nvPr/>
        </p:nvSpPr>
        <p:spPr>
          <a:xfrm>
            <a:off x="9729027" y="6684814"/>
            <a:ext cx="26948" cy="2694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s"/>
          <p:cNvSpPr/>
          <p:nvPr/>
        </p:nvSpPr>
        <p:spPr>
          <a:xfrm>
            <a:off x="1153650" y="785140"/>
            <a:ext cx="20845" cy="2084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s"/>
          <p:cNvSpPr/>
          <p:nvPr/>
        </p:nvSpPr>
        <p:spPr>
          <a:xfrm>
            <a:off x="0" y="1550000"/>
            <a:ext cx="12192000" cy="160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08" name="t"/>
          <p:cNvSpPr txBox="1"/>
          <p:nvPr/>
        </p:nvSpPr>
        <p:spPr>
          <a:xfrm>
            <a:off x="760000" y="1700000"/>
            <a:ext cx="108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3000" b="1" i="0" dirty="0">
                <a:solidFill>
                  <a:srgbClr val="e5edff"/>
                </a:solidFill>
                <a:latin typeface="Tahoma"/>
                <a:cs typeface="Tahoma"/>
              </a:rPr>
              <a:t>Expected Impact &amp; ขอบคุณ</a:t>
            </a:r>
          </a:p>
        </p:txBody>
      </p:sp>
      <p:sp>
        <p:nvSpPr>
          <p:cNvPr id="309" name="t"/>
          <p:cNvSpPr txBox="1"/>
          <p:nvPr/>
        </p:nvSpPr>
        <p:spPr>
          <a:xfrm>
            <a:off x="760000" y="2550000"/>
            <a:ext cx="10800000" cy="4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ลดเวลา Lit Review จากหลายวัน → ไม่กี่นาที · รองรับ 22 สาขา · Privacy-first</a:t>
            </a:r>
          </a:p>
        </p:txBody>
      </p:sp>
      <p:sp>
        <p:nvSpPr>
          <p:cNvPr id="310" name="s"/>
          <p:cNvSpPr/>
          <p:nvPr/>
        </p:nvSpPr>
        <p:spPr>
          <a:xfrm>
            <a:off x="760000" y="3450000"/>
            <a:ext cx="2550000" cy="14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311" name="t"/>
          <p:cNvSpPr txBox="1"/>
          <p:nvPr/>
        </p:nvSpPr>
        <p:spPr>
          <a:xfrm>
            <a:off x="910000" y="3600000"/>
            <a:ext cx="225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900" b="1" i="0" dirty="0">
                <a:solidFill>
                  <a:srgbClr val="f5c542"/>
                </a:solidFill>
                <a:latin typeface="Tahoma"/>
                <a:cs typeface="Tahoma"/>
              </a:rPr>
              <a:t>หลายวัน→นาที</a:t>
            </a:r>
          </a:p>
        </p:txBody>
      </p:sp>
      <p:sp>
        <p:nvSpPr>
          <p:cNvPr id="312" name="t"/>
          <p:cNvSpPr txBox="1"/>
          <p:nvPr/>
        </p:nvSpPr>
        <p:spPr>
          <a:xfrm>
            <a:off x="910000" y="4250000"/>
            <a:ext cx="2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ลดเวลาทบทวนวรรณกรรม</a:t>
            </a:r>
          </a:p>
        </p:txBody>
      </p:sp>
      <p:sp>
        <p:nvSpPr>
          <p:cNvPr id="313" name="s"/>
          <p:cNvSpPr/>
          <p:nvPr/>
        </p:nvSpPr>
        <p:spPr>
          <a:xfrm>
            <a:off x="3480000" y="3450000"/>
            <a:ext cx="2550000" cy="14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314" name="t"/>
          <p:cNvSpPr txBox="1"/>
          <p:nvPr/>
        </p:nvSpPr>
        <p:spPr>
          <a:xfrm>
            <a:off x="3630000" y="3600000"/>
            <a:ext cx="225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900" b="1" i="0" dirty="0">
                <a:solidFill>
                  <a:srgbClr val="22d3ee"/>
                </a:solidFill>
                <a:latin typeface="Tahoma"/>
                <a:cs typeface="Tahoma"/>
              </a:rPr>
              <a:t>22 สาขา</a:t>
            </a:r>
          </a:p>
        </p:txBody>
      </p:sp>
      <p:sp>
        <p:nvSpPr>
          <p:cNvPr id="315" name="t"/>
          <p:cNvSpPr txBox="1"/>
          <p:nvPr/>
        </p:nvSpPr>
        <p:spPr>
          <a:xfrm>
            <a:off x="3630000" y="4250000"/>
            <a:ext cx="2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วิทย์·สังคม·มนุษยศาสตร์</a:t>
            </a:r>
          </a:p>
        </p:txBody>
      </p:sp>
      <p:sp>
        <p:nvSpPr>
          <p:cNvPr id="316" name="s"/>
          <p:cNvSpPr/>
          <p:nvPr/>
        </p:nvSpPr>
        <p:spPr>
          <a:xfrm>
            <a:off x="6200000" y="3450000"/>
            <a:ext cx="2550000" cy="14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317" name="t"/>
          <p:cNvSpPr txBox="1"/>
          <p:nvPr/>
        </p:nvSpPr>
        <p:spPr>
          <a:xfrm>
            <a:off x="6350000" y="3600000"/>
            <a:ext cx="225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900" b="1" i="0" dirty="0">
                <a:solidFill>
                  <a:srgbClr val="34d399"/>
                </a:solidFill>
                <a:latin typeface="Tahoma"/>
                <a:cs typeface="Tahoma"/>
              </a:rPr>
              <a:t>3 ประเภทผู้ใช้</a:t>
            </a:r>
          </a:p>
        </p:txBody>
      </p:sp>
      <p:sp>
        <p:nvSpPr>
          <p:cNvPr id="318" name="t"/>
          <p:cNvSpPr txBox="1"/>
          <p:nvPr/>
        </p:nvSpPr>
        <p:spPr>
          <a:xfrm>
            <a:off x="6350000" y="4250000"/>
            <a:ext cx="2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เก็บสถิติบริการได้จริง</a:t>
            </a:r>
          </a:p>
        </p:txBody>
      </p:sp>
      <p:sp>
        <p:nvSpPr>
          <p:cNvPr id="319" name="s"/>
          <p:cNvSpPr/>
          <p:nvPr/>
        </p:nvSpPr>
        <p:spPr>
          <a:xfrm>
            <a:off x="8920000" y="3450000"/>
            <a:ext cx="2550000" cy="14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/>
        </p:txBody>
      </p:sp>
      <p:sp>
        <p:nvSpPr>
          <p:cNvPr id="320" name="t"/>
          <p:cNvSpPr txBox="1"/>
          <p:nvPr/>
        </p:nvSpPr>
        <p:spPr>
          <a:xfrm>
            <a:off x="9070000" y="3600000"/>
            <a:ext cx="2250000" cy="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900" b="1" i="0" dirty="0">
                <a:solidFill>
                  <a:srgbClr val="a78bfa"/>
                </a:solidFill>
                <a:latin typeface="Tahoma"/>
                <a:cs typeface="Tahoma"/>
              </a:rPr>
              <a:t>ต่อยอดได้</a:t>
            </a:r>
          </a:p>
        </p:txBody>
      </p:sp>
      <p:sp>
        <p:nvSpPr>
          <p:cNvPr id="321" name="t"/>
          <p:cNvSpPr txBox="1"/>
          <p:nvPr/>
        </p:nvSpPr>
        <p:spPr>
          <a:xfrm>
            <a:off x="9070000" y="4250000"/>
            <a:ext cx="2250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050" b="0" i="0" dirty="0">
                <a:solidFill>
                  <a:srgbClr val="e5edff"/>
                </a:solidFill>
                <a:latin typeface="Tahoma"/>
                <a:cs typeface="Tahoma"/>
              </a:rPr>
              <a:t>สืบค้นออนไลน์·เชื่อมระบบ</a:t>
            </a:r>
          </a:p>
        </p:txBody>
      </p:sp>
      <p:sp>
        <p:nvSpPr>
          <p:cNvPr id="322" name="t"/>
          <p:cNvSpPr txBox="1"/>
          <p:nvPr/>
        </p:nvSpPr>
        <p:spPr>
          <a:xfrm>
            <a:off x="760000" y="5300000"/>
            <a:ext cx="10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1" i="0" dirty="0">
                <a:solidFill>
                  <a:srgbClr val="f5c542"/>
                </a:solidFill>
                <a:latin typeface="Tahoma"/>
                <a:cs typeface="Tahoma"/>
              </a:rPr>
              <a:t>🌐 Demo: </a:t>
            </a:r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https://tinyurl.com/lika-nexus</a:t>
            </a:r>
          </a:p>
        </p:txBody>
      </p:sp>
      <p:sp>
        <p:nvSpPr>
          <p:cNvPr id="323" name="t"/>
          <p:cNvSpPr txBox="1"/>
          <p:nvPr/>
        </p:nvSpPr>
        <p:spPr>
          <a:xfrm>
            <a:off x="760000" y="5720000"/>
            <a:ext cx="10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00" b="1" i="0" dirty="0">
                <a:solidFill>
                  <a:srgbClr val="f5c542"/>
                </a:solidFill>
                <a:latin typeface="Tahoma"/>
                <a:cs typeface="Tahoma"/>
              </a:rPr>
              <a:t>💻 Source: </a:t>
            </a:r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github.com/kanchanathsao-crypto/lika-lit-review-helper-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IKA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