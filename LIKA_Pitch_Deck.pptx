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and"/>
          <p:cNvSpPr/>
          <p:nvPr/>
        </p:nvSpPr>
        <p:spPr>
          <a:xfrm>
            <a:off x="0" y="2550000"/>
            <a:ext cx="12192000" cy="175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logo"/>
          <p:cNvSpPr/>
          <p:nvPr/>
        </p:nvSpPr>
        <p:spPr>
          <a:xfrm>
            <a:off x="900000" y="2820000"/>
            <a:ext cx="1150000" cy="115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2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2" name="logotx"/>
          <p:cNvSpPr txBox="1"/>
          <p:nvPr/>
        </p:nvSpPr>
        <p:spPr>
          <a:xfrm>
            <a:off x="900000" y="3150000"/>
            <a:ext cx="11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4000" b="1" i="0" dirty="0">
                <a:solidFill>
                  <a:srgbClr val="F5C542"/>
                </a:solidFill>
                <a:latin typeface="Tahoma"/>
                <a:cs typeface="Tahoma"/>
              </a:rPr>
              <a:t>LK</a:t>
            </a:r>
          </a:p>
        </p:txBody>
      </p:sp>
      <p:sp>
        <p:nvSpPr>
          <p:cNvPr id="103" name="t1"/>
          <p:cNvSpPr txBox="1"/>
          <p:nvPr/>
        </p:nvSpPr>
        <p:spPr>
          <a:xfrm>
            <a:off x="2250000" y="2720000"/>
            <a:ext cx="92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300" b="1" i="0" dirty="0">
                <a:solidFill>
                  <a:srgbClr val="E5EDFF"/>
                </a:solidFill>
                <a:latin typeface="Tahoma"/>
                <a:cs typeface="Tahoma"/>
              </a:rPr>
              <a:t>LIKA Research &amp; Lit-Review Helper</a:t>
            </a:r>
          </a:p>
        </p:txBody>
      </p:sp>
      <p:sp>
        <p:nvSpPr>
          <p:cNvPr id="104" name="t2"/>
          <p:cNvSpPr txBox="1"/>
          <p:nvPr/>
        </p:nvSpPr>
        <p:spPr>
          <a:xfrm>
            <a:off x="2250000" y="3600000"/>
            <a:ext cx="920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0" i="0" dirty="0">
                <a:solidFill>
                  <a:srgbClr val="22D3EE"/>
                </a:solidFill>
                <a:latin typeface="Tahoma"/>
                <a:cs typeface="Tahoma"/>
              </a:rPr>
              <a:t>ผู้ช่วยทบทวนวรรณกรรมและงานวิจัย · ห้องสมุดวิทยาเขตกาญจนบุรี (MUKA)</a:t>
            </a:r>
          </a:p>
        </p:txBody>
      </p:sp>
      <p:sp>
        <p:nvSpPr>
          <p:cNvPr id="105" name="t3"/>
          <p:cNvSpPr txBox="1"/>
          <p:nvPr/>
        </p:nvSpPr>
        <p:spPr>
          <a:xfrm>
            <a:off x="900000" y="4650000"/>
            <a:ext cx="1080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Mahidol University Kanchanaburi Campus</a:t>
            </a:r>
          </a:p>
        </p:txBody>
      </p:sp>
      <p:sp>
        <p:nvSpPr>
          <p:cNvPr id="106" name="t4"/>
          <p:cNvSpPr txBox="1"/>
          <p:nvPr/>
        </p:nvSpPr>
        <p:spPr>
          <a:xfrm>
            <a:off x="900000" y="6180000"/>
            <a:ext cx="10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457200" y="500000"/>
            <a:ext cx="150000" cy="900000"/>
          </a:xfrm>
          <a:prstGeom prst="roundRect">
            <a:avLst>
              <a:gd name="adj" fmla="val 8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kicker"/>
          <p:cNvSpPr txBox="1"/>
          <p:nvPr/>
        </p:nvSpPr>
        <p:spPr>
          <a:xfrm>
            <a:off x="750000" y="470000"/>
            <a:ext cx="9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① PROBLEM — ปัญหา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750000" y="820000"/>
            <a:ext cx="10800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ทำ Literature Review ใช้เวลานานมาก</a:t>
            </a:r>
          </a:p>
        </p:txBody>
      </p:sp>
      <p:sp>
        <p:nvSpPr>
          <p:cNvPr id="103" name="pageno"/>
          <p:cNvSpPr txBox="1"/>
          <p:nvPr/>
        </p:nvSpPr>
        <p:spPr>
          <a:xfrm>
            <a:off x="11200000" y="6350000"/>
            <a:ext cx="8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2/8</a:t>
            </a:r>
          </a:p>
        </p:txBody>
      </p:sp>
      <p:sp>
        <p:nvSpPr>
          <p:cNvPr id="104" name="card"/>
          <p:cNvSpPr/>
          <p:nvPr/>
        </p:nvSpPr>
        <p:spPr>
          <a:xfrm>
            <a:off x="750000" y="1950000"/>
            <a:ext cx="10700000" cy="39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2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5" name="b0"/>
          <p:cNvSpPr txBox="1"/>
          <p:nvPr/>
        </p:nvSpPr>
        <p:spPr>
          <a:xfrm>
            <a:off x="1050000" y="2250000"/>
            <a:ext cx="101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50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การทบทวนวรรณกรรมใช้เวลาหลายวัน–หลายสัปดาห์ ต้องอ่านทีละฉบับด้วยมือ</a:t>
            </a:r>
          </a:p>
        </p:txBody>
      </p:sp>
      <p:sp>
        <p:nvSpPr>
          <p:cNvPr id="106" name="b1"/>
          <p:cNvSpPr txBox="1"/>
          <p:nvPr/>
        </p:nvSpPr>
        <p:spPr>
          <a:xfrm>
            <a:off x="1050000" y="2890000"/>
            <a:ext cx="101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500" b="0" i="0" dirty="0">
                <a:solidFill>
                  <a:srgbClr val="E5EDFF"/>
                </a:solidFill>
                <a:latin typeface="Tahoma"/>
                <a:cs typeface="Tahoma"/>
              </a:rPr>
              <a:t>สายการแพทย์/วิทยาศาสตร์มีจำนวนเปเปอร์มหาศาลและเพิ่มขึ้นทุกวัน</a:t>
            </a:r>
          </a:p>
        </p:txBody>
      </p:sp>
      <p:sp>
        <p:nvSpPr>
          <p:cNvPr id="107" name="b2"/>
          <p:cNvSpPr txBox="1"/>
          <p:nvPr/>
        </p:nvSpPr>
        <p:spPr>
          <a:xfrm>
            <a:off x="1050000" y="3530000"/>
            <a:ext cx="101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500" b="0" i="0" dirty="0">
                <a:solidFill>
                  <a:srgbClr val="E5EDFF"/>
                </a:solidFill>
                <a:latin typeface="Tahoma"/>
                <a:cs typeface="Tahoma"/>
              </a:rPr>
              <a:t>ต้องสกัดประเด็น เปรียบเทียบระเบียบวิธี และร่างบทความเองทั้งหมด</a:t>
            </a:r>
          </a:p>
        </p:txBody>
      </p:sp>
      <p:sp>
        <p:nvSpPr>
          <p:cNvPr id="108" name="b3"/>
          <p:cNvSpPr txBox="1"/>
          <p:nvPr/>
        </p:nvSpPr>
        <p:spPr>
          <a:xfrm>
            <a:off x="1050000" y="4170000"/>
            <a:ext cx="101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500" b="0" i="0" dirty="0">
                <a:solidFill>
                  <a:srgbClr val="E5EDFF"/>
                </a:solidFill>
                <a:latin typeface="Tahoma"/>
                <a:cs typeface="Tahoma"/>
              </a:rPr>
              <a:t>บรรณารักษ์รับคำขอช่วยสืบค้น/ทบทวนวรรณกรรมจำนวนมาก แต่เวลาจำกัด</a:t>
            </a:r>
          </a:p>
        </p:txBody>
      </p:sp>
      <p:sp>
        <p:nvSpPr>
          <p:cNvPr id="109" name="b4"/>
          <p:cNvSpPr txBox="1"/>
          <p:nvPr/>
        </p:nvSpPr>
        <p:spPr>
          <a:xfrm>
            <a:off x="1050000" y="4810000"/>
            <a:ext cx="101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50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เครื่องมือที่มีมักเสียเงิน ซับซ้อน หรือส่งไฟล์ขึ้น cloud (เสี่ยงข้อมูลงานยังไม่ตีพิมพ์)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457200" y="500000"/>
            <a:ext cx="150000" cy="900000"/>
          </a:xfrm>
          <a:prstGeom prst="roundRect">
            <a:avLst>
              <a:gd name="adj" fmla="val 8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kicker"/>
          <p:cNvSpPr txBox="1"/>
          <p:nvPr/>
        </p:nvSpPr>
        <p:spPr>
          <a:xfrm>
            <a:off x="750000" y="470000"/>
            <a:ext cx="9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② SOLUTION — แนวคิดและวัตถุประสงค์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750000" y="820000"/>
            <a:ext cx="10800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เว็บผู้ช่วยทบทวนวรรณกรรมอัตโนมัติ</a:t>
            </a:r>
          </a:p>
        </p:txBody>
      </p:sp>
      <p:sp>
        <p:nvSpPr>
          <p:cNvPr id="103" name="pageno"/>
          <p:cNvSpPr txBox="1"/>
          <p:nvPr/>
        </p:nvSpPr>
        <p:spPr>
          <a:xfrm>
            <a:off x="11200000" y="6350000"/>
            <a:ext cx="8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3/8</a:t>
            </a:r>
          </a:p>
        </p:txBody>
      </p:sp>
      <p:sp>
        <p:nvSpPr>
          <p:cNvPr id="104" name="fc0"/>
          <p:cNvSpPr/>
          <p:nvPr/>
        </p:nvSpPr>
        <p:spPr>
          <a:xfrm>
            <a:off x="750000" y="2000000"/>
            <a:ext cx="5050000" cy="11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5" name="fh0"/>
          <p:cNvSpPr txBox="1"/>
          <p:nvPr/>
        </p:nvSpPr>
        <p:spPr>
          <a:xfrm>
            <a:off x="950000" y="2130000"/>
            <a:ext cx="47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📄 รับไฟล์หลายฉบับ</a:t>
            </a:r>
          </a:p>
        </p:txBody>
      </p:sp>
      <p:sp>
        <p:nvSpPr>
          <p:cNvPr id="106" name="fd0"/>
          <p:cNvSpPr txBox="1"/>
          <p:nvPr/>
        </p:nvSpPr>
        <p:spPr>
          <a:xfrm>
            <a:off x="950000" y="2560000"/>
            <a:ext cx="47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อัปโหลด PDF/TXT ≥ 3 ฉบับ อ่านในเบราว์เซอร์</a:t>
            </a:r>
          </a:p>
        </p:txBody>
      </p:sp>
      <p:sp>
        <p:nvSpPr>
          <p:cNvPr id="107" name="fc1"/>
          <p:cNvSpPr/>
          <p:nvPr/>
        </p:nvSpPr>
        <p:spPr>
          <a:xfrm>
            <a:off x="6360000" y="2000000"/>
            <a:ext cx="5050000" cy="11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8" name="fh1"/>
          <p:cNvSpPr txBox="1"/>
          <p:nvPr/>
        </p:nvSpPr>
        <p:spPr>
          <a:xfrm>
            <a:off x="6560000" y="2130000"/>
            <a:ext cx="47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🧠 สกัดประเด็นอัตโนมัติ</a:t>
            </a:r>
          </a:p>
        </p:txBody>
      </p:sp>
      <p:sp>
        <p:nvSpPr>
          <p:cNvPr id="109" name="fd1"/>
          <p:cNvSpPr txBox="1"/>
          <p:nvPr/>
        </p:nvSpPr>
        <p:spPr>
          <a:xfrm>
            <a:off x="6560000" y="2560000"/>
            <a:ext cx="47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วัตถุประสงค์ · กลุ่มตัวอย่าง · วิธี · ผล · ข้อจำกัด</a:t>
            </a:r>
          </a:p>
        </p:txBody>
      </p:sp>
      <p:sp>
        <p:nvSpPr>
          <p:cNvPr id="110" name="fc2"/>
          <p:cNvSpPr/>
          <p:nvPr/>
        </p:nvSpPr>
        <p:spPr>
          <a:xfrm>
            <a:off x="750000" y="3250000"/>
            <a:ext cx="5050000" cy="11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1" name="fh2"/>
          <p:cNvSpPr txBox="1"/>
          <p:nvPr/>
        </p:nvSpPr>
        <p:spPr>
          <a:xfrm>
            <a:off x="950000" y="3380000"/>
            <a:ext cx="47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📊 ตารางเปรียบเทียบ</a:t>
            </a:r>
          </a:p>
        </p:txBody>
      </p:sp>
      <p:sp>
        <p:nvSpPr>
          <p:cNvPr id="112" name="fd2"/>
          <p:cNvSpPr txBox="1"/>
          <p:nvPr/>
        </p:nvSpPr>
        <p:spPr>
          <a:xfrm>
            <a:off x="950000" y="3810000"/>
            <a:ext cx="47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Comparative Methodology Matrix 5 ประเด็น</a:t>
            </a:r>
          </a:p>
        </p:txBody>
      </p:sp>
      <p:sp>
        <p:nvSpPr>
          <p:cNvPr id="113" name="fc3"/>
          <p:cNvSpPr/>
          <p:nvPr/>
        </p:nvSpPr>
        <p:spPr>
          <a:xfrm>
            <a:off x="6360000" y="3250000"/>
            <a:ext cx="5050000" cy="11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4" name="fh3"/>
          <p:cNvSpPr txBox="1"/>
          <p:nvPr/>
        </p:nvSpPr>
        <p:spPr>
          <a:xfrm>
            <a:off x="6560000" y="3380000"/>
            <a:ext cx="47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🕸️ กราฟความรู้ 3 มิติ</a:t>
            </a:r>
          </a:p>
        </p:txBody>
      </p:sp>
      <p:sp>
        <p:nvSpPr>
          <p:cNvPr id="115" name="fd3"/>
          <p:cNvSpPr txBox="1"/>
          <p:nvPr/>
        </p:nvSpPr>
        <p:spPr>
          <a:xfrm>
            <a:off x="6560000" y="3810000"/>
            <a:ext cx="47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เชื่อมโยงงานวิจัยกับระเบียบวิธี (Three.js)</a:t>
            </a:r>
          </a:p>
        </p:txBody>
      </p:sp>
      <p:sp>
        <p:nvSpPr>
          <p:cNvPr id="116" name="fc4"/>
          <p:cNvSpPr/>
          <p:nvPr/>
        </p:nvSpPr>
        <p:spPr>
          <a:xfrm>
            <a:off x="750000" y="4500000"/>
            <a:ext cx="5050000" cy="11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7" name="fh4"/>
          <p:cNvSpPr txBox="1"/>
          <p:nvPr/>
        </p:nvSpPr>
        <p:spPr>
          <a:xfrm>
            <a:off x="950000" y="4630000"/>
            <a:ext cx="47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✍️ ร่าง Lit-Review</a:t>
            </a:r>
          </a:p>
        </p:txBody>
      </p:sp>
      <p:sp>
        <p:nvSpPr>
          <p:cNvPr id="118" name="fd4"/>
          <p:cNvSpPr txBox="1"/>
          <p:nvPr/>
        </p:nvSpPr>
        <p:spPr>
          <a:xfrm>
            <a:off x="950000" y="5060000"/>
            <a:ext cx="47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ย่อหน้าพร้อม [ผู้แต่ง et al., ปี] แก้ไขได้</a:t>
            </a:r>
          </a:p>
        </p:txBody>
      </p:sp>
      <p:sp>
        <p:nvSpPr>
          <p:cNvPr id="119" name="fc5"/>
          <p:cNvSpPr/>
          <p:nvPr/>
        </p:nvSpPr>
        <p:spPr>
          <a:xfrm>
            <a:off x="6360000" y="4500000"/>
            <a:ext cx="5050000" cy="11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20" name="fh5"/>
          <p:cNvSpPr txBox="1"/>
          <p:nvPr/>
        </p:nvSpPr>
        <p:spPr>
          <a:xfrm>
            <a:off x="6560000" y="4630000"/>
            <a:ext cx="47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⬇️ ส่งออก APA</a:t>
            </a:r>
          </a:p>
        </p:txBody>
      </p:sp>
      <p:sp>
        <p:nvSpPr>
          <p:cNvPr id="121" name="fd5"/>
          <p:cNvSpPr txBox="1"/>
          <p:nvPr/>
        </p:nvSpPr>
        <p:spPr>
          <a:xfrm>
            <a:off x="6560000" y="5060000"/>
            <a:ext cx="47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คัดลอก/ส่งออกรายการอ้างอิง APA 7th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457200" y="500000"/>
            <a:ext cx="150000" cy="900000"/>
          </a:xfrm>
          <a:prstGeom prst="roundRect">
            <a:avLst>
              <a:gd name="adj" fmla="val 8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kicker"/>
          <p:cNvSpPr txBox="1"/>
          <p:nvPr/>
        </p:nvSpPr>
        <p:spPr>
          <a:xfrm>
            <a:off x="750000" y="470000"/>
            <a:ext cx="9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กลุ่มผู้ใช้ / ผู้ได้รับประโยชน์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750000" y="820000"/>
            <a:ext cx="10800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Target Users &amp; Beneficiaries</a:t>
            </a:r>
          </a:p>
        </p:txBody>
      </p:sp>
      <p:sp>
        <p:nvSpPr>
          <p:cNvPr id="103" name="pageno"/>
          <p:cNvSpPr txBox="1"/>
          <p:nvPr/>
        </p:nvSpPr>
        <p:spPr>
          <a:xfrm>
            <a:off x="11200000" y="6350000"/>
            <a:ext cx="8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4/8</a:t>
            </a:r>
          </a:p>
        </p:txBody>
      </p:sp>
      <p:sp>
        <p:nvSpPr>
          <p:cNvPr id="104" name="u0"/>
          <p:cNvSpPr/>
          <p:nvPr/>
        </p:nvSpPr>
        <p:spPr>
          <a:xfrm>
            <a:off x="750000" y="2050000"/>
            <a:ext cx="10700000" cy="82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05" name="ut0"/>
          <p:cNvSpPr txBox="1"/>
          <p:nvPr/>
        </p:nvSpPr>
        <p:spPr>
          <a:xfrm>
            <a:off x="1000000" y="2170000"/>
            <a:ext cx="3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บรรณารักษ์ MUKA</a:t>
            </a:r>
          </a:p>
        </p:txBody>
      </p:sp>
      <p:sp>
        <p:nvSpPr>
          <p:cNvPr id="106" name="ud0"/>
          <p:cNvSpPr txBox="1"/>
          <p:nvPr/>
        </p:nvSpPr>
        <p:spPr>
          <a:xfrm>
            <a:off x="5000000" y="2200000"/>
            <a:ext cx="6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ให้บริการทบทวนวรรณกรรมได้เร็วขึ้น</a:t>
            </a:r>
          </a:p>
        </p:txBody>
      </p:sp>
      <p:sp>
        <p:nvSpPr>
          <p:cNvPr id="107" name="u1"/>
          <p:cNvSpPr/>
          <p:nvPr/>
        </p:nvSpPr>
        <p:spPr>
          <a:xfrm>
            <a:off x="750000" y="2970000"/>
            <a:ext cx="10700000" cy="82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08" name="ut1"/>
          <p:cNvSpPr txBox="1"/>
          <p:nvPr/>
        </p:nvSpPr>
        <p:spPr>
          <a:xfrm>
            <a:off x="1000000" y="3090000"/>
            <a:ext cx="3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09" name="ud1"/>
          <p:cNvSpPr txBox="1"/>
          <p:nvPr/>
        </p:nvSpPr>
        <p:spPr>
          <a:xfrm>
            <a:off x="5000000" y="3120000"/>
            <a:ext cx="6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ตั้งต้น + เทียบระเบียบวิธีทันที</a:t>
            </a:r>
          </a:p>
        </p:txBody>
      </p:sp>
      <p:sp>
        <p:nvSpPr>
          <p:cNvPr id="110" name="u2"/>
          <p:cNvSpPr/>
          <p:nvPr/>
        </p:nvSpPr>
        <p:spPr>
          <a:xfrm>
            <a:off x="750000" y="3890000"/>
            <a:ext cx="10700000" cy="82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11" name="ut2"/>
          <p:cNvSpPr txBox="1"/>
          <p:nvPr/>
        </p:nvSpPr>
        <p:spPr>
          <a:xfrm>
            <a:off x="1000000" y="4010000"/>
            <a:ext cx="3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นักศึกษา ป.ตรี/บัณฑิต</a:t>
            </a:r>
          </a:p>
        </p:txBody>
      </p:sp>
      <p:sp>
        <p:nvSpPr>
          <p:cNvPr id="112" name="ud2"/>
          <p:cNvSpPr txBox="1"/>
          <p:nvPr/>
        </p:nvSpPr>
        <p:spPr>
          <a:xfrm>
            <a:off x="5000000" y="4040000"/>
            <a:ext cx="6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เรียนรู้โครงสร้างงานวิจัยและเริ่มเขียนได้ง่าย</a:t>
            </a:r>
          </a:p>
        </p:txBody>
      </p:sp>
      <p:sp>
        <p:nvSpPr>
          <p:cNvPr id="113" name="u3"/>
          <p:cNvSpPr/>
          <p:nvPr/>
        </p:nvSpPr>
        <p:spPr>
          <a:xfrm>
            <a:off x="750000" y="4810000"/>
            <a:ext cx="10700000" cy="82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14" name="ut3"/>
          <p:cNvSpPr txBox="1"/>
          <p:nvPr/>
        </p:nvSpPr>
        <p:spPr>
          <a:xfrm>
            <a:off x="1000000" y="4930000"/>
            <a:ext cx="3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ครอบคลุม 22 สาขา</a:t>
            </a:r>
          </a:p>
        </p:txBody>
      </p:sp>
      <p:sp>
        <p:nvSpPr>
          <p:cNvPr id="115" name="ud3"/>
          <p:cNvSpPr txBox="1"/>
          <p:nvPr/>
        </p:nvSpPr>
        <p:spPr>
          <a:xfrm>
            <a:off x="5000000" y="4960000"/>
            <a:ext cx="6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วิทยาศาสตร์ · สังคมศาสตร์ · 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457200" y="500000"/>
            <a:ext cx="150000" cy="900000"/>
          </a:xfrm>
          <a:prstGeom prst="roundRect">
            <a:avLst>
              <a:gd name="adj" fmla="val 8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kicker"/>
          <p:cNvSpPr txBox="1"/>
          <p:nvPr/>
        </p:nvSpPr>
        <p:spPr>
          <a:xfrm>
            <a:off x="750000" y="470000"/>
            <a:ext cx="9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③ AI / KIRO — แนวทางการประยุกต์ใช้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750000" y="820000"/>
            <a:ext cx="10800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03" name="pageno"/>
          <p:cNvSpPr txBox="1"/>
          <p:nvPr/>
        </p:nvSpPr>
        <p:spPr>
          <a:xfrm>
            <a:off x="11200000" y="6350000"/>
            <a:ext cx="8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5/8</a:t>
            </a:r>
          </a:p>
        </p:txBody>
      </p:sp>
      <p:sp>
        <p:nvSpPr>
          <p:cNvPr id="104" name="kc1"/>
          <p:cNvSpPr/>
          <p:nvPr/>
        </p:nvSpPr>
        <p:spPr>
          <a:xfrm>
            <a:off x="750000" y="1980000"/>
            <a:ext cx="5200000" cy="37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2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5" name="kh1"/>
          <p:cNvSpPr txBox="1"/>
          <p:nvPr/>
        </p:nvSpPr>
        <p:spPr>
          <a:xfrm>
            <a:off x="1000000" y="2120000"/>
            <a:ext cx="4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🤖 AI / Automated Reasoning</a:t>
            </a:r>
          </a:p>
        </p:txBody>
      </p:sp>
      <p:sp>
        <p:nvSpPr>
          <p:cNvPr id="106" name="b0"/>
          <p:cNvSpPr txBox="1"/>
          <p:nvPr/>
        </p:nvSpPr>
        <p:spPr>
          <a:xfrm>
            <a:off x="1000000" y="2680000"/>
            <a:ext cx="4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Engine สกัดข้อมูลตามโครงสร้าง IMRaD</a:t>
            </a:r>
          </a:p>
        </p:txBody>
      </p:sp>
      <p:sp>
        <p:nvSpPr>
          <p:cNvPr id="107" name="b1"/>
          <p:cNvSpPr txBox="1"/>
          <p:nvPr/>
        </p:nvSpPr>
        <p:spPr>
          <a:xfrm>
            <a:off x="1000000" y="3400000"/>
            <a:ext cx="4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จำแนกสาขา/ระเบียบวิธีด้วย weighted keyword scoring</a:t>
            </a:r>
          </a:p>
        </p:txBody>
      </p:sp>
      <p:sp>
        <p:nvSpPr>
          <p:cNvPr id="108" name="b2"/>
          <p:cNvSpPr txBox="1"/>
          <p:nvPr/>
        </p:nvSpPr>
        <p:spPr>
          <a:xfrm>
            <a:off x="1000000" y="4120000"/>
            <a:ext cx="4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รองรับ ไทย–อังกฤษ แปลง พ.ศ.→ค.ศ. อัตโนมัติ</a:t>
            </a:r>
          </a:p>
        </p:txBody>
      </p:sp>
      <p:sp>
        <p:nvSpPr>
          <p:cNvPr id="109" name="kc2"/>
          <p:cNvSpPr/>
          <p:nvPr/>
        </p:nvSpPr>
        <p:spPr>
          <a:xfrm>
            <a:off x="6250000" y="1980000"/>
            <a:ext cx="5200000" cy="37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2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0" name="kh2"/>
          <p:cNvSpPr txBox="1"/>
          <p:nvPr/>
        </p:nvSpPr>
        <p:spPr>
          <a:xfrm>
            <a:off x="6500000" y="2120000"/>
            <a:ext cx="4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⚙️ Kiro = เครื่องมือหลัก</a:t>
            </a:r>
          </a:p>
        </p:txBody>
      </p:sp>
      <p:sp>
        <p:nvSpPr>
          <p:cNvPr id="111" name="b0"/>
          <p:cNvSpPr txBox="1"/>
          <p:nvPr/>
        </p:nvSpPr>
        <p:spPr>
          <a:xfrm>
            <a:off x="6500000" y="2680000"/>
            <a:ext cx="4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.kiro/steering/rules.md — มาตรฐานการพัฒนา</a:t>
            </a:r>
          </a:p>
        </p:txBody>
      </p:sp>
      <p:sp>
        <p:nvSpPr>
          <p:cNvPr id="112" name="b1"/>
          <p:cNvSpPr txBox="1"/>
          <p:nvPr/>
        </p:nvSpPr>
        <p:spPr>
          <a:xfrm>
            <a:off x="6500000" y="3400000"/>
            <a:ext cx="4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.kiro/specs/ — Acceptance Criteria ชัดเจน</a:t>
            </a:r>
          </a:p>
        </p:txBody>
      </p:sp>
      <p:sp>
        <p:nvSpPr>
          <p:cNvPr id="113" name="b2"/>
          <p:cNvSpPr txBox="1"/>
          <p:nvPr/>
        </p:nvSpPr>
        <p:spPr>
          <a:xfrm>
            <a:off x="6500000" y="4120000"/>
            <a:ext cx="4700000" cy="7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Kiro ช่วยเขียนโค้ด ทดสอบ (Node.js) และ deploy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457200" y="500000"/>
            <a:ext cx="150000" cy="900000"/>
          </a:xfrm>
          <a:prstGeom prst="roundRect">
            <a:avLst>
              <a:gd name="adj" fmla="val 8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kicker"/>
          <p:cNvSpPr txBox="1"/>
          <p:nvPr/>
        </p:nvSpPr>
        <p:spPr>
          <a:xfrm>
            <a:off x="750000" y="470000"/>
            <a:ext cx="9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④ PROTOTYPE — ผลงานต้นแบบ (ใช้งานจริงแล้ว)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750000" y="820000"/>
            <a:ext cx="10800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Single-file Web App · Deploy บน GitHub Pages</a:t>
            </a:r>
          </a:p>
        </p:txBody>
      </p:sp>
      <p:sp>
        <p:nvSpPr>
          <p:cNvPr id="103" name="pageno"/>
          <p:cNvSpPr txBox="1"/>
          <p:nvPr/>
        </p:nvSpPr>
        <p:spPr>
          <a:xfrm>
            <a:off x="11200000" y="6350000"/>
            <a:ext cx="8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6/8</a:t>
            </a:r>
          </a:p>
        </p:txBody>
      </p:sp>
      <p:sp>
        <p:nvSpPr>
          <p:cNvPr id="104" name="pc"/>
          <p:cNvSpPr/>
          <p:nvPr/>
        </p:nvSpPr>
        <p:spPr>
          <a:xfrm>
            <a:off x="750000" y="1980000"/>
            <a:ext cx="5200000" cy="37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2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05" name="ph"/>
          <p:cNvSpPr txBox="1"/>
          <p:nvPr/>
        </p:nvSpPr>
        <p:spPr>
          <a:xfrm>
            <a:off x="1000000" y="2120000"/>
            <a:ext cx="4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🛠️ เทคโนโลยี</a:t>
            </a:r>
          </a:p>
        </p:txBody>
      </p:sp>
      <p:sp>
        <p:nvSpPr>
          <p:cNvPr id="106" name="b0"/>
          <p:cNvSpPr txBox="1"/>
          <p:nvPr/>
        </p:nvSpPr>
        <p:spPr>
          <a:xfrm>
            <a:off x="1000000" y="268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HTML5 + Tailwind CSS (Glassmorphism)</a:t>
            </a:r>
          </a:p>
        </p:txBody>
      </p:sp>
      <p:sp>
        <p:nvSpPr>
          <p:cNvPr id="107" name="b1"/>
          <p:cNvSpPr txBox="1"/>
          <p:nvPr/>
        </p:nvSpPr>
        <p:spPr>
          <a:xfrm>
            <a:off x="1000000" y="332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Three.js r128 + OrbitControls</a:t>
            </a:r>
          </a:p>
        </p:txBody>
      </p:sp>
      <p:sp>
        <p:nvSpPr>
          <p:cNvPr id="108" name="b2"/>
          <p:cNvSpPr txBox="1"/>
          <p:nvPr/>
        </p:nvSpPr>
        <p:spPr>
          <a:xfrm>
            <a:off x="1000000" y="396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PDF.js — อ่าน PDF ในเบราว์เซอร์</a:t>
            </a:r>
          </a:p>
        </p:txBody>
      </p:sp>
      <p:sp>
        <p:nvSpPr>
          <p:cNvPr id="109" name="b3"/>
          <p:cNvSpPr txBox="1"/>
          <p:nvPr/>
        </p:nvSpPr>
        <p:spPr>
          <a:xfrm>
            <a:off x="1000000" y="460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ธีม Mahidol Royal Blue #002366</a:t>
            </a:r>
          </a:p>
        </p:txBody>
      </p:sp>
      <p:sp>
        <p:nvSpPr>
          <p:cNvPr id="110" name="pc2"/>
          <p:cNvSpPr/>
          <p:nvPr/>
        </p:nvSpPr>
        <p:spPr>
          <a:xfrm>
            <a:off x="6250000" y="1980000"/>
            <a:ext cx="5200000" cy="370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2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11" name="ph2"/>
          <p:cNvSpPr txBox="1"/>
          <p:nvPr/>
        </p:nvSpPr>
        <p:spPr>
          <a:xfrm>
            <a:off x="6500000" y="2120000"/>
            <a:ext cx="4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🔒 จุดเด่น</a:t>
            </a:r>
          </a:p>
        </p:txBody>
      </p:sp>
      <p:sp>
        <p:nvSpPr>
          <p:cNvPr id="112" name="b0"/>
          <p:cNvSpPr txBox="1"/>
          <p:nvPr/>
        </p:nvSpPr>
        <p:spPr>
          <a:xfrm>
            <a:off x="6500000" y="268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Privacy-first: ไฟล์ไม่ออกจากเบราว์เซอร์</a:t>
            </a:r>
          </a:p>
        </p:txBody>
      </p:sp>
      <p:sp>
        <p:nvSpPr>
          <p:cNvPr id="113" name="b1"/>
          <p:cNvSpPr txBox="1"/>
          <p:nvPr/>
        </p:nvSpPr>
        <p:spPr>
          <a:xfrm>
            <a:off x="6500000" y="332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ฟรี ไม่ต้องติดตั้ง · ใช้ได้แม้ออฟไลน์</a:t>
            </a:r>
          </a:p>
        </p:txBody>
      </p:sp>
      <p:sp>
        <p:nvSpPr>
          <p:cNvPr id="114" name="b2"/>
          <p:cNvSpPr txBox="1"/>
          <p:nvPr/>
        </p:nvSpPr>
        <p:spPr>
          <a:xfrm>
            <a:off x="6500000" y="396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Spec-driven ตรวจสอบได้จาก GitHub</a:t>
            </a:r>
          </a:p>
        </p:txBody>
      </p:sp>
      <p:sp>
        <p:nvSpPr>
          <p:cNvPr id="115" name="b3"/>
          <p:cNvSpPr txBox="1"/>
          <p:nvPr/>
        </p:nvSpPr>
        <p:spPr>
          <a:xfrm>
            <a:off x="6500000" y="4600000"/>
            <a:ext cx="47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●  </a:t>
            </a:r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Live: tinyurl.com/2u452bd4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457200" y="500000"/>
            <a:ext cx="150000" cy="900000"/>
          </a:xfrm>
          <a:prstGeom prst="roundRect">
            <a:avLst>
              <a:gd name="adj" fmla="val 8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kicker"/>
          <p:cNvSpPr txBox="1"/>
          <p:nvPr/>
        </p:nvSpPr>
        <p:spPr>
          <a:xfrm>
            <a:off x="750000" y="470000"/>
            <a:ext cx="9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⑤ EXPECTED IMPACT — ผลลัพธ์ที่คาดหวัง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750000" y="820000"/>
            <a:ext cx="10800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คุณค่าและโอกาสในการนำไปใช้จริง</a:t>
            </a:r>
          </a:p>
        </p:txBody>
      </p:sp>
      <p:sp>
        <p:nvSpPr>
          <p:cNvPr id="103" name="pageno"/>
          <p:cNvSpPr txBox="1"/>
          <p:nvPr/>
        </p:nvSpPr>
        <p:spPr>
          <a:xfrm>
            <a:off x="11200000" y="6350000"/>
            <a:ext cx="800000" cy="3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7/8</a:t>
            </a:r>
          </a:p>
        </p:txBody>
      </p:sp>
      <p:sp>
        <p:nvSpPr>
          <p:cNvPr id="104" name="s0"/>
          <p:cNvSpPr/>
          <p:nvPr/>
        </p:nvSpPr>
        <p:spPr>
          <a:xfrm>
            <a:off x="750000" y="2050000"/>
            <a:ext cx="5150000" cy="148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5" name="sn0"/>
          <p:cNvSpPr txBox="1"/>
          <p:nvPr/>
        </p:nvSpPr>
        <p:spPr>
          <a:xfrm>
            <a:off x="1000000" y="2230000"/>
            <a:ext cx="465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200" b="1" i="0" dirty="0">
                <a:solidFill>
                  <a:srgbClr val="F5C542"/>
                </a:solidFill>
                <a:latin typeface="Tahoma"/>
                <a:cs typeface="Tahoma"/>
              </a:rPr>
              <a:t>หลายวัน → นาที</a:t>
            </a:r>
          </a:p>
        </p:txBody>
      </p:sp>
      <p:sp>
        <p:nvSpPr>
          <p:cNvPr id="106" name="sd0"/>
          <p:cNvSpPr txBox="1"/>
          <p:nvPr/>
        </p:nvSpPr>
        <p:spPr>
          <a:xfrm>
            <a:off x="1000000" y="2930000"/>
            <a:ext cx="46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ลดเวลาทำ Lit-Review อย่างมาก</a:t>
            </a:r>
          </a:p>
        </p:txBody>
      </p:sp>
      <p:sp>
        <p:nvSpPr>
          <p:cNvPr id="107" name="s1"/>
          <p:cNvSpPr/>
          <p:nvPr/>
        </p:nvSpPr>
        <p:spPr>
          <a:xfrm>
            <a:off x="6300000" y="2050000"/>
            <a:ext cx="5150000" cy="148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08" name="sn1"/>
          <p:cNvSpPr txBox="1"/>
          <p:nvPr/>
        </p:nvSpPr>
        <p:spPr>
          <a:xfrm>
            <a:off x="6550000" y="2230000"/>
            <a:ext cx="465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200" b="1" i="0" dirty="0">
                <a:solidFill>
                  <a:srgbClr val="F5C542"/>
                </a:solidFill>
                <a:latin typeface="Tahoma"/>
                <a:cs typeface="Tahoma"/>
              </a:rPr>
              <a:t>≥ 3 ฉบับ</a:t>
            </a:r>
          </a:p>
        </p:txBody>
      </p:sp>
      <p:sp>
        <p:nvSpPr>
          <p:cNvPr id="109" name="sd1"/>
          <p:cNvSpPr txBox="1"/>
          <p:nvPr/>
        </p:nvSpPr>
        <p:spPr>
          <a:xfrm>
            <a:off x="6550000" y="2930000"/>
            <a:ext cx="46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ได้ตารางเทียบ + ร่างทันที (ตาม Success Criteria)</a:t>
            </a:r>
          </a:p>
        </p:txBody>
      </p:sp>
      <p:sp>
        <p:nvSpPr>
          <p:cNvPr id="110" name="s2"/>
          <p:cNvSpPr/>
          <p:nvPr/>
        </p:nvSpPr>
        <p:spPr>
          <a:xfrm>
            <a:off x="750000" y="3700000"/>
            <a:ext cx="5150000" cy="148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1" name="sn2"/>
          <p:cNvSpPr txBox="1"/>
          <p:nvPr/>
        </p:nvSpPr>
        <p:spPr>
          <a:xfrm>
            <a:off x="1000000" y="3880000"/>
            <a:ext cx="465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200" b="1" i="0" dirty="0">
                <a:solidFill>
                  <a:srgbClr val="F5C542"/>
                </a:solidFill>
                <a:latin typeface="Tahoma"/>
                <a:cs typeface="Tahoma"/>
              </a:rPr>
              <a:t>22 สาขา</a:t>
            </a:r>
          </a:p>
        </p:txBody>
      </p:sp>
      <p:sp>
        <p:nvSpPr>
          <p:cNvPr id="112" name="sd2"/>
          <p:cNvSpPr txBox="1"/>
          <p:nvPr/>
        </p:nvSpPr>
        <p:spPr>
          <a:xfrm>
            <a:off x="1000000" y="4580000"/>
            <a:ext cx="46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ครอบคลุมทุกศาสตร์ รวมมนุษยศาสตร์</a:t>
            </a:r>
          </a:p>
        </p:txBody>
      </p:sp>
      <p:sp>
        <p:nvSpPr>
          <p:cNvPr id="113" name="s3"/>
          <p:cNvSpPr/>
          <p:nvPr/>
        </p:nvSpPr>
        <p:spPr>
          <a:xfrm>
            <a:off x="6300000" y="3700000"/>
            <a:ext cx="5150000" cy="148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 w="10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14" name="sn3"/>
          <p:cNvSpPr txBox="1"/>
          <p:nvPr/>
        </p:nvSpPr>
        <p:spPr>
          <a:xfrm>
            <a:off x="6550000" y="3880000"/>
            <a:ext cx="465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200" b="1" i="0" dirty="0">
                <a:solidFill>
                  <a:srgbClr val="F5C542"/>
                </a:solidFill>
                <a:latin typeface="Tahoma"/>
                <a:cs typeface="Tahoma"/>
              </a:rPr>
              <a:t>ต่อยอดได้</a:t>
            </a:r>
          </a:p>
        </p:txBody>
      </p:sp>
      <p:sp>
        <p:nvSpPr>
          <p:cNvPr id="115" name="sd3"/>
          <p:cNvSpPr txBox="1"/>
          <p:nvPr/>
        </p:nvSpPr>
        <p:spPr>
          <a:xfrm>
            <a:off x="6550000" y="4580000"/>
            <a:ext cx="46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สืบค้นออนไลน์ · OCR · เชื่อมระบบห้องสมุด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and"/>
          <p:cNvSpPr/>
          <p:nvPr/>
        </p:nvSpPr>
        <p:spPr>
          <a:xfrm>
            <a:off x="0" y="2550000"/>
            <a:ext cx="12192000" cy="1750000"/>
          </a:xfrm>
          <a:prstGeom prst="roundRect">
            <a:avLst>
              <a:gd name="adj" fmla="val 8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y"/>
          <p:cNvSpPr txBox="1"/>
          <p:nvPr/>
        </p:nvSpPr>
        <p:spPr>
          <a:xfrm>
            <a:off x="900000" y="272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200" b="1" i="0" dirty="0">
                <a:solidFill>
                  <a:srgbClr val="E5EDFF"/>
                </a:solidFill>
                <a:latin typeface="Tahoma"/>
                <a:cs typeface="Tahoma"/>
              </a:rPr>
              <a:t>ขอบคุณครับ / Thank You</a:t>
            </a:r>
          </a:p>
        </p:txBody>
      </p:sp>
      <p:sp>
        <p:nvSpPr>
          <p:cNvPr id="102" name="ty2"/>
          <p:cNvSpPr txBox="1"/>
          <p:nvPr/>
        </p:nvSpPr>
        <p:spPr>
          <a:xfrm>
            <a:off x="900000" y="3600000"/>
            <a:ext cx="1080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0" i="0" dirty="0">
                <a:solidFill>
                  <a:srgbClr val="22D3EE"/>
                </a:solidFill>
                <a:latin typeface="Tahoma"/>
                <a:cs typeface="Tahoma"/>
              </a:rPr>
              <a:t>LIKA Research &amp; Lit-Review Helper — MUKA Library</a:t>
            </a:r>
          </a:p>
        </p:txBody>
      </p:sp>
      <p:sp>
        <p:nvSpPr>
          <p:cNvPr id="103" name="ty3"/>
          <p:cNvSpPr txBox="1"/>
          <p:nvPr/>
        </p:nvSpPr>
        <p:spPr>
          <a:xfrm>
            <a:off x="900000" y="4700000"/>
            <a:ext cx="10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🌐 ลองใช้งานจริง: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  <p:sp>
        <p:nvSpPr>
          <p:cNvPr id="104" name="ty4"/>
          <p:cNvSpPr txBox="1"/>
          <p:nvPr/>
        </p:nvSpPr>
        <p:spPr>
          <a:xfrm>
            <a:off x="900000" y="5250000"/>
            <a:ext cx="10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💻 Source: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B1120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1E3A8A"/>
      </a:accent4>
      <a:accent5>
        <a:srgbClr val="7DD3FC"/>
      </a:accent5>
      <a:accent6>
        <a:srgbClr val="9FB3D1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