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NM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NM" Type="http://schemas.openxmlformats.org/officeDocument/2006/relationships/notesMaster" Target="notesMasters/notesMaster1.xml"/><Relationship Id="rIdTheme" Type="http://schemas.openxmlformats.org/officeDocument/2006/relationships/theme" Target="theme/theme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
<Relationships xmlns="http://schemas.openxmlformats.org/package/2006/relationships"><Relationship Id="rIdT2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1 · เปิดตัว (0:00-0:30)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บทพากย์:</a:t>
            </a:r>
          </a:p>
          <a:p>
            <a:r>
              <a:rPr lang="th-TH" sz="1400" dirty="0">
                <a:latin typeface="Tahoma"/>
                <a:cs typeface="Tahoma"/>
              </a:rPr>
              <a:t>"สวัสดีค่ะ ขอแนะนำ LIKA Nexus ระบบผู้ช่วยทบทวนวรรณกรรมและจัดการความรู้งานวิจัย สำหรับห้องสมุดวิทยาเขตกาญจนบุรี มหาวิทยาลัยมหิดล ในโครงการ Mahidol AI Community 2026 ค่ะ"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ภาพ: สไลด์ปก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2 · Problem (0:30-1:15)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บทพากย์:</a:t>
            </a:r>
          </a:p>
          <a:p>
            <a:r>
              <a:rPr lang="th-TH" sz="1400" dirty="0">
                <a:latin typeface="Tahoma"/>
                <a:cs typeface="Tahoma"/>
              </a:rPr>
              <a:t>"ปัญหาที่พบคือ การทำ Literature Review ใช้เวลานานมาก โดยเฉพาะสายวิทยาศาสตร์และการแพทย์ที่มีงานวิจัยจำนวนมาก ผู้วิจัยต้องอ่านทีละฉบับ สกัดประเด็น เปรียบเทียบระเบียบวิธี และเขียนเองทั้งหมด ขณะที่เครื่องมือที่มีอยู่มักเสียเงิน ซับซ้อน หรือต้องอัปโหลดเอกสารขึ้นระบบภายนอก เสี่ยงต่อความลับของงานวิจัยที่ยังไม่เผยแพร่ค่ะ"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3 · Solution (1:15-2:00)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บทพากย์:</a:t>
            </a:r>
          </a:p>
          <a:p>
            <a:r>
              <a:rPr lang="th-TH" sz="1400" dirty="0">
                <a:latin typeface="Tahoma"/>
                <a:cs typeface="Tahoma"/>
              </a:rPr>
              <a:t>"LIKA Nexus แก้ปัญหานี้ด้วยการรวมงานวิจัยหลายฉบับไว้ในระบบเดียว เพียงอัปโหลดไฟล์ ระบบจะสรุปให้ 5 ประเด็น คือ วัตถุประสงค์ กลุ่มตัวอย่าง ระเบียบวิธี ผลการศึกษา และข้อจำกัด แล้วแสดงผลเป็นกราฟความรู้ 3 มิติ ตารางเปรียบเทียบ และร่างบททบทวนวรรณกรรมพร้อมอ้างอิง จุดเด่นคือประมวลผลในเบราว์เซอร์ ไม่ส่งไฟล์ออกนอกเครื่องค่ะ"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4 · AI / Kiro (2:00-2:40)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บทพากย์:</a:t>
            </a:r>
          </a:p>
          <a:p>
            <a:r>
              <a:rPr lang="th-TH" sz="1400" dirty="0">
                <a:latin typeface="Tahoma"/>
                <a:cs typeface="Tahoma"/>
              </a:rPr>
              <a:t>"ด้าน AI ระบบวิเคราะห์เอกสารตามโครงสร้างงานวิจัย จำแนกได้ 22 สาขาและระเบียบวิธี รองรับทั้งภาษาไทยและอังกฤษ ส่วนการพัฒนาเราใช้ Kiro เป็นเครื่องมือหลักแบบ Spec-driven เริ่มจากกำหนดกฎใน Steering ออกแบบข้อกำหนดใน Specs แล้วให้ Kiro ช่วยเขียนโค้ด ทดสอบ และนำขึ้นใช้งานจริง ตรวจสอบย้อนกลับได้ค่ะ"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5 · Prototype สาธิตสด (2:40-4:15) — ช่วงสำคัญที่สุด ให้เวลามากที่สุด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อัดหน้าจอเว็บจริงตามลำดับ:</a:t>
            </a:r>
          </a:p>
          <a:p>
            <a:r>
              <a:rPr lang="th-TH" sz="1400" dirty="0">
                <a:latin typeface="Tahoma"/>
                <a:cs typeface="Tahoma"/>
              </a:rPr>
              <a:t>1) เปิดเว็บ เลือกประเภทผู้ใช้ แล้วเข้าสู่ระบบ</a:t>
            </a:r>
          </a:p>
          <a:p>
            <a:r>
              <a:rPr lang="th-TH" sz="1400" dirty="0">
                <a:latin typeface="Tahoma"/>
                <a:cs typeface="Tahoma"/>
              </a:rPr>
              <a:t>2) ไปแท็บ AI Auto-Cataloger กดโหลดตัวอย่าง 6 สาขา (หรือลากไฟล์ PDF จริง)</a:t>
            </a:r>
          </a:p>
          <a:p>
            <a:r>
              <a:rPr lang="th-TH" sz="1400" dirty="0">
                <a:latin typeface="Tahoma"/>
                <a:cs typeface="Tahoma"/>
              </a:rPr>
              <a:t>3) ดูกราฟความรู้ 3 มิติ หมุนและคลิกโหนดเพื่อดูรายละเอียดทางขวา</a:t>
            </a:r>
          </a:p>
          <a:p>
            <a:r>
              <a:rPr lang="th-TH" sz="1400" dirty="0">
                <a:latin typeface="Tahoma"/>
                <a:cs typeface="Tahoma"/>
              </a:rPr>
              <a:t>4) เลื่อนดูตารางเปรียบเทียบระเบียบวิธี 5 ประเด็น</a:t>
            </a:r>
          </a:p>
          <a:p>
            <a:r>
              <a:rPr lang="th-TH" sz="1400" dirty="0">
                <a:latin typeface="Tahoma"/>
                <a:cs typeface="Tahoma"/>
              </a:rPr>
              <a:t>5) ดูร่างบททบทวนวรรณกรรม แล้วกดส่งออก APA</a:t>
            </a:r>
          </a:p>
          <a:p>
            <a:r>
              <a:rPr lang="th-TH" sz="1400" dirty="0">
                <a:latin typeface="Tahoma"/>
                <a:cs typeface="Tahoma"/>
              </a:rPr>
              <a:t>6) เปิดแท็บ Usage Dashboard โชว์สถิติผู้ใช้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 (ย่อ): "มาดูการทำงานจริงกันค่ะ เลือกประเภทผู้ใช้ อัปโหลดงานวิจัย ระบบสร้างกราฟความรู้ ตารางเปรียบเทียบ และร่างบททบทวนให้อัตโนมัติ พร้อมส่งออก APA และดูสถิติการใช้บริการได้ค่ะ"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6 · Expected Impact (4:15-4:50)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บทพากย์:</a:t>
            </a:r>
          </a:p>
          <a:p>
            <a:r>
              <a:rPr lang="th-TH" sz="1400" dirty="0">
                <a:latin typeface="Tahoma"/>
                <a:cs typeface="Tahoma"/>
              </a:rPr>
              <a:t>"ผลลัพธ์ที่คาดหวังคือ ลดเวลาการทบทวนวรรณกรรมจากหลายวันเหลือไม่กี่นาที ช่วยงานวิจัยของอาจารย์ นักศึกษา และงานบริการของบรรณารักษ์ ระบบใช้ฟรี ไม่ต้องติดตั้ง ปลอดภัยด้วยการประมวลผลในเครื่อง รองรับ 22 สาขา และต่อยอดได้ เช่น การสืบค้นออนไลน์และเชื่อมระบบห้องสมุดในอนาคตค่ะ"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7 · ปิดท้าย (4:50-5:00)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บทพากย์:</a:t>
            </a:r>
          </a:p>
          <a:p>
            <a:r>
              <a:rPr lang="th-TH" sz="1400" dirty="0">
                <a:latin typeface="Tahoma"/>
                <a:cs typeface="Tahoma"/>
              </a:rPr>
              <a:t>"ทั้งหมดนี้คือ LIKA Nexus ผู้ช่วยทบทวนวรรณกรรมสำหรับห้องสมุดวิทยาเขตกาญจนบุรี ขอบคุณค่ะ"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"/>
          <p:cNvSpPr/>
          <p:nvPr/>
        </p:nvSpPr>
        <p:spPr>
          <a:xfrm>
            <a:off x="5433012" y="1265414"/>
            <a:ext cx="24937" cy="2493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"/>
          <p:cNvSpPr/>
          <p:nvPr/>
        </p:nvSpPr>
        <p:spPr>
          <a:xfrm>
            <a:off x="10920868" y="405055"/>
            <a:ext cx="14373" cy="1437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"/>
          <p:cNvSpPr/>
          <p:nvPr/>
        </p:nvSpPr>
        <p:spPr>
          <a:xfrm>
            <a:off x="8990608" y="789620"/>
            <a:ext cx="23982" cy="2398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"/>
          <p:cNvSpPr/>
          <p:nvPr/>
        </p:nvSpPr>
        <p:spPr>
          <a:xfrm>
            <a:off x="9777560" y="486530"/>
            <a:ext cx="28627" cy="2862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"/>
          <p:cNvSpPr/>
          <p:nvPr/>
        </p:nvSpPr>
        <p:spPr>
          <a:xfrm>
            <a:off x="3602037" y="314536"/>
            <a:ext cx="14816" cy="1481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"/>
          <p:cNvSpPr/>
          <p:nvPr/>
        </p:nvSpPr>
        <p:spPr>
          <a:xfrm>
            <a:off x="7275367" y="3507882"/>
            <a:ext cx="14289" cy="1428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"/>
          <p:cNvSpPr/>
          <p:nvPr/>
        </p:nvSpPr>
        <p:spPr>
          <a:xfrm>
            <a:off x="4037655" y="760955"/>
            <a:ext cx="30056" cy="3005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"/>
          <p:cNvSpPr/>
          <p:nvPr/>
        </p:nvSpPr>
        <p:spPr>
          <a:xfrm>
            <a:off x="7122250" y="495854"/>
            <a:ext cx="39094" cy="3909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"/>
          <p:cNvSpPr/>
          <p:nvPr/>
        </p:nvSpPr>
        <p:spPr>
          <a:xfrm>
            <a:off x="9486738" y="1038526"/>
            <a:ext cx="19315" cy="1931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"/>
          <p:cNvSpPr/>
          <p:nvPr/>
        </p:nvSpPr>
        <p:spPr>
          <a:xfrm>
            <a:off x="10580147" y="5263291"/>
            <a:ext cx="31103" cy="3110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"/>
          <p:cNvSpPr/>
          <p:nvPr/>
        </p:nvSpPr>
        <p:spPr>
          <a:xfrm>
            <a:off x="1037872" y="4841090"/>
            <a:ext cx="31187" cy="311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"/>
          <p:cNvSpPr/>
          <p:nvPr/>
        </p:nvSpPr>
        <p:spPr>
          <a:xfrm>
            <a:off x="6655194" y="415985"/>
            <a:ext cx="19244" cy="1924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"/>
          <p:cNvSpPr/>
          <p:nvPr/>
        </p:nvSpPr>
        <p:spPr>
          <a:xfrm>
            <a:off x="781527" y="4669643"/>
            <a:ext cx="16363" cy="1636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s"/>
          <p:cNvSpPr/>
          <p:nvPr/>
        </p:nvSpPr>
        <p:spPr>
          <a:xfrm>
            <a:off x="4858837" y="3515993"/>
            <a:ext cx="16726" cy="1672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"/>
          <p:cNvSpPr/>
          <p:nvPr/>
        </p:nvSpPr>
        <p:spPr>
          <a:xfrm>
            <a:off x="9071203" y="988112"/>
            <a:ext cx="30707" cy="3070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s"/>
          <p:cNvSpPr/>
          <p:nvPr/>
        </p:nvSpPr>
        <p:spPr>
          <a:xfrm>
            <a:off x="5175466" y="4699778"/>
            <a:ext cx="38742" cy="3874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"/>
          <p:cNvSpPr/>
          <p:nvPr/>
        </p:nvSpPr>
        <p:spPr>
          <a:xfrm>
            <a:off x="11442106" y="1516042"/>
            <a:ext cx="15376" cy="1537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"/>
          <p:cNvSpPr/>
          <p:nvPr/>
        </p:nvSpPr>
        <p:spPr>
          <a:xfrm>
            <a:off x="9757631" y="4791609"/>
            <a:ext cx="32935" cy="3293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"/>
          <p:cNvSpPr/>
          <p:nvPr/>
        </p:nvSpPr>
        <p:spPr>
          <a:xfrm>
            <a:off x="3151952" y="3123897"/>
            <a:ext cx="15192" cy="1519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s"/>
          <p:cNvSpPr/>
          <p:nvPr/>
        </p:nvSpPr>
        <p:spPr>
          <a:xfrm>
            <a:off x="9189627" y="5973618"/>
            <a:ext cx="14057" cy="1405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"/>
          <p:cNvSpPr/>
          <p:nvPr/>
        </p:nvSpPr>
        <p:spPr>
          <a:xfrm>
            <a:off x="9468528" y="499970"/>
            <a:ext cx="32283" cy="3228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s"/>
          <p:cNvSpPr/>
          <p:nvPr/>
        </p:nvSpPr>
        <p:spPr>
          <a:xfrm>
            <a:off x="3455413" y="4164226"/>
            <a:ext cx="34295" cy="3429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s"/>
          <p:cNvSpPr/>
          <p:nvPr/>
        </p:nvSpPr>
        <p:spPr>
          <a:xfrm>
            <a:off x="8920785" y="3586904"/>
            <a:ext cx="37468" cy="3746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s"/>
          <p:cNvSpPr/>
          <p:nvPr/>
        </p:nvSpPr>
        <p:spPr>
          <a:xfrm>
            <a:off x="5270514" y="3905751"/>
            <a:ext cx="31187" cy="311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s"/>
          <p:cNvSpPr/>
          <p:nvPr/>
        </p:nvSpPr>
        <p:spPr>
          <a:xfrm>
            <a:off x="7603172" y="3033172"/>
            <a:ext cx="21822" cy="218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s"/>
          <p:cNvSpPr/>
          <p:nvPr/>
        </p:nvSpPr>
        <p:spPr>
          <a:xfrm>
            <a:off x="4167906" y="6663738"/>
            <a:ext cx="17890" cy="1789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"/>
          <p:cNvSpPr/>
          <p:nvPr/>
        </p:nvSpPr>
        <p:spPr>
          <a:xfrm>
            <a:off x="11727180" y="6541685"/>
            <a:ext cx="19998" cy="199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s"/>
          <p:cNvSpPr/>
          <p:nvPr/>
        </p:nvSpPr>
        <p:spPr>
          <a:xfrm>
            <a:off x="1373299" y="4818615"/>
            <a:ext cx="21838" cy="2183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s"/>
          <p:cNvSpPr/>
          <p:nvPr/>
        </p:nvSpPr>
        <p:spPr>
          <a:xfrm>
            <a:off x="8811335" y="4153337"/>
            <a:ext cx="23255" cy="2325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s"/>
          <p:cNvSpPr/>
          <p:nvPr/>
        </p:nvSpPr>
        <p:spPr>
          <a:xfrm>
            <a:off x="7530188" y="2415397"/>
            <a:ext cx="31954" cy="3195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s"/>
          <p:cNvSpPr/>
          <p:nvPr/>
        </p:nvSpPr>
        <p:spPr>
          <a:xfrm>
            <a:off x="1228106" y="990407"/>
            <a:ext cx="28775" cy="2877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s"/>
          <p:cNvSpPr/>
          <p:nvPr/>
        </p:nvSpPr>
        <p:spPr>
          <a:xfrm>
            <a:off x="7014936" y="1383802"/>
            <a:ext cx="36809" cy="3680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"/>
          <p:cNvSpPr/>
          <p:nvPr/>
        </p:nvSpPr>
        <p:spPr>
          <a:xfrm>
            <a:off x="5738744" y="1274938"/>
            <a:ext cx="28022" cy="280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s"/>
          <p:cNvSpPr/>
          <p:nvPr/>
        </p:nvSpPr>
        <p:spPr>
          <a:xfrm>
            <a:off x="7074924" y="328894"/>
            <a:ext cx="33896" cy="3389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s"/>
          <p:cNvSpPr/>
          <p:nvPr/>
        </p:nvSpPr>
        <p:spPr>
          <a:xfrm>
            <a:off x="1302255" y="6413685"/>
            <a:ext cx="30287" cy="302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s"/>
          <p:cNvSpPr/>
          <p:nvPr/>
        </p:nvSpPr>
        <p:spPr>
          <a:xfrm>
            <a:off x="9613779" y="6619401"/>
            <a:ext cx="38815" cy="3881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s"/>
          <p:cNvSpPr/>
          <p:nvPr/>
        </p:nvSpPr>
        <p:spPr>
          <a:xfrm>
            <a:off x="5263809" y="2853153"/>
            <a:ext cx="34783" cy="3478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s"/>
          <p:cNvSpPr/>
          <p:nvPr/>
        </p:nvSpPr>
        <p:spPr>
          <a:xfrm>
            <a:off x="5875018" y="4985935"/>
            <a:ext cx="28275" cy="2827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"/>
          <p:cNvSpPr/>
          <p:nvPr/>
        </p:nvSpPr>
        <p:spPr>
          <a:xfrm>
            <a:off x="9729027" y="6684814"/>
            <a:ext cx="26948" cy="2694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s"/>
          <p:cNvSpPr/>
          <p:nvPr/>
        </p:nvSpPr>
        <p:spPr>
          <a:xfrm>
            <a:off x="1153650" y="785140"/>
            <a:ext cx="20845" cy="2084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s"/>
          <p:cNvSpPr/>
          <p:nvPr/>
        </p:nvSpPr>
        <p:spPr>
          <a:xfrm>
            <a:off x="7954050" y="5847212"/>
            <a:ext cx="33762" cy="3376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s"/>
          <p:cNvSpPr/>
          <p:nvPr/>
        </p:nvSpPr>
        <p:spPr>
          <a:xfrm>
            <a:off x="1090518" y="508932"/>
            <a:ext cx="35958" cy="3595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s"/>
          <p:cNvSpPr/>
          <p:nvPr/>
        </p:nvSpPr>
        <p:spPr>
          <a:xfrm>
            <a:off x="11769083" y="2597174"/>
            <a:ext cx="33205" cy="3320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s"/>
          <p:cNvSpPr/>
          <p:nvPr/>
        </p:nvSpPr>
        <p:spPr>
          <a:xfrm>
            <a:off x="9696328" y="5714631"/>
            <a:ext cx="38932" cy="389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s"/>
          <p:cNvSpPr/>
          <p:nvPr/>
        </p:nvSpPr>
        <p:spPr>
          <a:xfrm>
            <a:off x="0" y="2350000"/>
            <a:ext cx="12192000" cy="205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002366"/>
              </a:gs>
              <a:gs pos="100000">
                <a:srgbClr val="0b1a3a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56" name="s"/>
          <p:cNvSpPr/>
          <p:nvPr/>
        </p:nvSpPr>
        <p:spPr>
          <a:xfrm>
            <a:off x="820000" y="2620000"/>
            <a:ext cx="1450000" cy="1450000"/>
          </a:xfrm>
          <a:prstGeom prst="roundRect">
            <a:avLst>
              <a:gd name="adj" fmla="val 24000"/>
            </a:avLst>
          </a:prstGeom>
          <a:gradFill>
            <a:gsLst>
              <a:gs pos="0">
                <a:srgbClr val="0b1a3a"/>
              </a:gs>
              <a:gs pos="100000">
                <a:srgbClr val="002366"/>
              </a:gs>
            </a:gsLst>
            <a:lin ang="5400000" scaled="1"/>
          </a:gradFill>
          <a:ln w="12700">
            <a:solidFill>
              <a:srgbClr val="22d3ee"/>
            </a:solidFill>
          </a:ln>
        </p:spPr>
        <p:txBody>
          <a:bodyPr/>
          <a:lstStyle/>
          <a:p/>
        </p:txBody>
      </p:sp>
      <p:cxnSp>
        <p:nvCxnSpPr>
          <p:cNvPr id="57" name="l"/>
          <p:cNvCxnSpPr/>
          <p:nvPr/>
        </p:nvCxnSpPr>
        <p:spPr>
          <a:xfrm flipH="0" flipV="0">
            <a:off x="1545000" y="3345000"/>
            <a:ext cx="493000" cy="1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58" name="l"/>
          <p:cNvCxnSpPr/>
          <p:nvPr/>
        </p:nvCxnSpPr>
        <p:spPr>
          <a:xfrm flipH="0" flipV="0">
            <a:off x="1545000" y="3345000"/>
            <a:ext cx="246500" cy="426950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59" name="l"/>
          <p:cNvCxnSpPr/>
          <p:nvPr/>
        </p:nvCxnSpPr>
        <p:spPr>
          <a:xfrm flipH="1" flipV="0">
            <a:off x="1298501" y="3345000"/>
            <a:ext cx="246499" cy="426950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0" name="l"/>
          <p:cNvCxnSpPr/>
          <p:nvPr/>
        </p:nvCxnSpPr>
        <p:spPr>
          <a:xfrm flipH="1" flipV="0">
            <a:off x="1052000" y="3345000"/>
            <a:ext cx="493000" cy="1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1" name="l"/>
          <p:cNvCxnSpPr/>
          <p:nvPr/>
        </p:nvCxnSpPr>
        <p:spPr>
          <a:xfrm flipH="1" flipV="1">
            <a:off x="1298500" y="2918050"/>
            <a:ext cx="246500" cy="426950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2" name="l"/>
          <p:cNvCxnSpPr/>
          <p:nvPr/>
        </p:nvCxnSpPr>
        <p:spPr>
          <a:xfrm flipH="0" flipV="1">
            <a:off x="1545000" y="2918050"/>
            <a:ext cx="246500" cy="426950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sp>
        <p:nvSpPr>
          <p:cNvPr id="63" name="s"/>
          <p:cNvSpPr/>
          <p:nvPr/>
        </p:nvSpPr>
        <p:spPr>
          <a:xfrm>
            <a:off x="2000000" y="330700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s"/>
          <p:cNvSpPr/>
          <p:nvPr/>
        </p:nvSpPr>
        <p:spPr>
          <a:xfrm>
            <a:off x="1753500" y="373395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s"/>
          <p:cNvSpPr/>
          <p:nvPr/>
        </p:nvSpPr>
        <p:spPr>
          <a:xfrm>
            <a:off x="1260501" y="373395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s"/>
          <p:cNvSpPr/>
          <p:nvPr/>
        </p:nvSpPr>
        <p:spPr>
          <a:xfrm>
            <a:off x="1014000" y="330700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s"/>
          <p:cNvSpPr/>
          <p:nvPr/>
        </p:nvSpPr>
        <p:spPr>
          <a:xfrm>
            <a:off x="1260500" y="288005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s"/>
          <p:cNvSpPr/>
          <p:nvPr/>
        </p:nvSpPr>
        <p:spPr>
          <a:xfrm>
            <a:off x="1753500" y="288005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s"/>
          <p:cNvSpPr/>
          <p:nvPr/>
        </p:nvSpPr>
        <p:spPr>
          <a:xfrm>
            <a:off x="1475000" y="3275000"/>
            <a:ext cx="140000" cy="140000"/>
          </a:xfrm>
          <a:prstGeom prst="ellipse">
            <a:avLst/>
          </a:prstGeom>
          <a:solidFill>
            <a:srgbClr val="f5c542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2600000" y="2540000"/>
            <a:ext cx="8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f5c542"/>
                </a:solidFill>
                <a:latin typeface="Tahoma"/>
                <a:cs typeface="Tahoma"/>
              </a:rPr>
              <a:t>Demo Video · ไม่เกิน 5 นาที</a:t>
            </a:r>
          </a:p>
        </p:txBody>
      </p:sp>
      <p:sp>
        <p:nvSpPr>
          <p:cNvPr id="71" name="t"/>
          <p:cNvSpPr txBox="1"/>
          <p:nvPr/>
        </p:nvSpPr>
        <p:spPr>
          <a:xfrm>
            <a:off x="2600000" y="2960000"/>
            <a:ext cx="8800000" cy="7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4000" b="1" i="0" dirty="0">
                <a:solidFill>
                  <a:srgbClr val="e5edff"/>
                </a:solidFill>
                <a:latin typeface="Tahoma"/>
                <a:cs typeface="Tahoma"/>
              </a:rPr>
              <a:t>LIKA Nexus</a:t>
            </a:r>
          </a:p>
        </p:txBody>
      </p:sp>
      <p:sp>
        <p:nvSpPr>
          <p:cNvPr id="72" name="t"/>
          <p:cNvSpPr txBox="1"/>
          <p:nvPr/>
        </p:nvSpPr>
        <p:spPr>
          <a:xfrm>
            <a:off x="2600000" y="3780000"/>
            <a:ext cx="88000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0" i="0" dirty="0">
                <a:solidFill>
                  <a:srgbClr val="22d3ee"/>
                </a:solidFill>
                <a:latin typeface="Tahoma"/>
                <a:cs typeface="Tahoma"/>
              </a:rPr>
              <a:t>ผู้ช่วยทบทวนวรรณกรรมและจัดการความรู้งานวิจัย · ห้องสมุดวิทยาเขตกาญจนบุรี</a:t>
            </a:r>
          </a:p>
        </p:txBody>
      </p:sp>
      <p:sp>
        <p:nvSpPr>
          <p:cNvPr id="73" name="s"/>
          <p:cNvSpPr/>
          <p:nvPr/>
        </p:nvSpPr>
        <p:spPr>
          <a:xfrm>
            <a:off x="1500000" y="4700000"/>
            <a:ext cx="1025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87171"/>
            </a:solidFill>
          </a:ln>
        </p:spPr>
        <p:txBody>
          <a:bodyPr/>
          <a:lstStyle/>
          <a:p/>
        </p:txBody>
      </p:sp>
      <p:sp>
        <p:nvSpPr>
          <p:cNvPr id="74" name="t"/>
          <p:cNvSpPr txBox="1"/>
          <p:nvPr/>
        </p:nvSpPr>
        <p:spPr>
          <a:xfrm>
            <a:off x="1500000" y="4694000"/>
            <a:ext cx="1025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f87171"/>
                </a:solidFill>
                <a:latin typeface="Tahoma"/>
                <a:cs typeface="Tahoma"/>
              </a:rPr>
              <a:t>Problem</a:t>
            </a:r>
          </a:p>
        </p:txBody>
      </p:sp>
      <p:sp>
        <p:nvSpPr>
          <p:cNvPr id="75" name="t"/>
          <p:cNvSpPr txBox="1"/>
          <p:nvPr/>
        </p:nvSpPr>
        <p:spPr>
          <a:xfrm>
            <a:off x="2525000" y="4660000"/>
            <a:ext cx="3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76" name="s"/>
          <p:cNvSpPr/>
          <p:nvPr/>
        </p:nvSpPr>
        <p:spPr>
          <a:xfrm>
            <a:off x="2855000" y="4700000"/>
            <a:ext cx="112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77" name="t"/>
          <p:cNvSpPr txBox="1"/>
          <p:nvPr/>
        </p:nvSpPr>
        <p:spPr>
          <a:xfrm>
            <a:off x="2855000" y="4694000"/>
            <a:ext cx="1120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f5c542"/>
                </a:solidFill>
                <a:latin typeface="Tahoma"/>
                <a:cs typeface="Tahoma"/>
              </a:rPr>
              <a:t>Solution</a:t>
            </a:r>
          </a:p>
        </p:txBody>
      </p:sp>
      <p:sp>
        <p:nvSpPr>
          <p:cNvPr id="78" name="t"/>
          <p:cNvSpPr txBox="1"/>
          <p:nvPr/>
        </p:nvSpPr>
        <p:spPr>
          <a:xfrm>
            <a:off x="3975000" y="4660000"/>
            <a:ext cx="3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79" name="s"/>
          <p:cNvSpPr/>
          <p:nvPr/>
        </p:nvSpPr>
        <p:spPr>
          <a:xfrm>
            <a:off x="4305000" y="4700000"/>
            <a:ext cx="1025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80" name="t"/>
          <p:cNvSpPr txBox="1"/>
          <p:nvPr/>
        </p:nvSpPr>
        <p:spPr>
          <a:xfrm>
            <a:off x="4305000" y="4694000"/>
            <a:ext cx="1025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22d3ee"/>
                </a:solidFill>
                <a:latin typeface="Tahoma"/>
                <a:cs typeface="Tahoma"/>
              </a:rPr>
              <a:t>AI/Kiro</a:t>
            </a:r>
          </a:p>
        </p:txBody>
      </p:sp>
      <p:sp>
        <p:nvSpPr>
          <p:cNvPr id="81" name="t"/>
          <p:cNvSpPr txBox="1"/>
          <p:nvPr/>
        </p:nvSpPr>
        <p:spPr>
          <a:xfrm>
            <a:off x="5330000" y="4660000"/>
            <a:ext cx="3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82" name="s"/>
          <p:cNvSpPr/>
          <p:nvPr/>
        </p:nvSpPr>
        <p:spPr>
          <a:xfrm>
            <a:off x="5660000" y="4700000"/>
            <a:ext cx="1215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83" name="t"/>
          <p:cNvSpPr txBox="1"/>
          <p:nvPr/>
        </p:nvSpPr>
        <p:spPr>
          <a:xfrm>
            <a:off x="5660000" y="4694000"/>
            <a:ext cx="1215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34d399"/>
                </a:solidFill>
                <a:latin typeface="Tahoma"/>
                <a:cs typeface="Tahoma"/>
              </a:rPr>
              <a:t>Prototype</a:t>
            </a:r>
          </a:p>
        </p:txBody>
      </p:sp>
      <p:sp>
        <p:nvSpPr>
          <p:cNvPr id="84" name="t"/>
          <p:cNvSpPr txBox="1"/>
          <p:nvPr/>
        </p:nvSpPr>
        <p:spPr>
          <a:xfrm>
            <a:off x="6875000" y="4660000"/>
            <a:ext cx="3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85" name="s"/>
          <p:cNvSpPr/>
          <p:nvPr/>
        </p:nvSpPr>
        <p:spPr>
          <a:xfrm>
            <a:off x="7205000" y="4700000"/>
            <a:ext cx="93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86" name="t"/>
          <p:cNvSpPr txBox="1"/>
          <p:nvPr/>
        </p:nvSpPr>
        <p:spPr>
          <a:xfrm>
            <a:off x="7205000" y="4694000"/>
            <a:ext cx="930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a78bfa"/>
                </a:solidFill>
                <a:latin typeface="Tahoma"/>
                <a:cs typeface="Tahoma"/>
              </a:rPr>
              <a:t>Impact</a:t>
            </a:r>
          </a:p>
        </p:txBody>
      </p:sp>
      <p:sp>
        <p:nvSpPr>
          <p:cNvPr id="87" name="s"/>
          <p:cNvSpPr/>
          <p:nvPr/>
        </p:nvSpPr>
        <p:spPr>
          <a:xfrm>
            <a:off x="600000" y="5720000"/>
            <a:ext cx="11000000" cy="900000"/>
          </a:xfrm>
          <a:prstGeom prst="roundRect">
            <a:avLst>
              <a:gd name="adj" fmla="val 10000"/>
            </a:avLst>
          </a:prstGeom>
          <a:solidFill>
            <a:srgbClr val="0a1428"/>
          </a:solidFill>
          <a:ln w="1270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88" name="t"/>
          <p:cNvSpPr txBox="1"/>
          <p:nvPr/>
        </p:nvSpPr>
        <p:spPr>
          <a:xfrm>
            <a:off x="850000" y="5810000"/>
            <a:ext cx="10500000" cy="72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▶  </a:t>
            </a:r>
            <a:r>
              <a:rPr lang="th-TH" sz="1400" b="0" i="0" dirty="0">
                <a:solidFill>
                  <a:srgbClr val="e5edff"/>
                </a:solidFill>
                <a:latin typeface="Tahoma"/>
                <a:cs typeface="Tahoma"/>
              </a:rPr>
              <a:t>LIKA Nexus — ระบบผู้ช่วยทบทวนวรรณกรรมและจัดการความรู้งานวิจัย ห้องสมุดวิทยาเขตกาญจนบุรี</a:t>
            </a:r>
          </a:p>
        </p:txBody>
      </p:sp>
    </p:spTree>
  </p:cSld>
  <p:transition xmlns:p14="http://schemas.microsoft.com/office/powerpoint/2010/main" spd="med" p14:dur="600" advTm="6000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t"/>
          <p:cNvSpPr txBox="1"/>
          <p:nvPr/>
        </p:nvSpPr>
        <p:spPr>
          <a:xfrm>
            <a:off x="760000" y="450000"/>
            <a:ext cx="88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① PROBLEM — ปัญหา</a:t>
            </a:r>
          </a:p>
        </p:txBody>
      </p:sp>
      <p:sp>
        <p:nvSpPr>
          <p:cNvPr id="91" name="t"/>
          <p:cNvSpPr txBox="1"/>
          <p:nvPr/>
        </p:nvSpPr>
        <p:spPr>
          <a:xfrm>
            <a:off x="760000" y="790000"/>
            <a:ext cx="89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500" b="1" i="0" dirty="0">
                <a:solidFill>
                  <a:srgbClr val="e5edff"/>
                </a:solidFill>
                <a:latin typeface="Tahoma"/>
                <a:cs typeface="Tahoma"/>
              </a:rPr>
              <a:t>การทบทวนวรรณกรรมใช้เวลานานมาก</a:t>
            </a:r>
          </a:p>
        </p:txBody>
      </p:sp>
      <p:sp>
        <p:nvSpPr>
          <p:cNvPr id="92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2/7</a:t>
            </a:r>
          </a:p>
        </p:txBody>
      </p:sp>
      <p:sp>
        <p:nvSpPr>
          <p:cNvPr id="93" name="s"/>
          <p:cNvSpPr/>
          <p:nvPr/>
        </p:nvSpPr>
        <p:spPr>
          <a:xfrm>
            <a:off x="9950000" y="470000"/>
            <a:ext cx="1700000" cy="5400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f87171"/>
            </a:solidFill>
          </a:ln>
        </p:spPr>
        <p:txBody>
          <a:bodyPr/>
          <a:lstStyle/>
          <a:p/>
        </p:txBody>
      </p:sp>
      <p:sp>
        <p:nvSpPr>
          <p:cNvPr id="94" name="t"/>
          <p:cNvSpPr txBox="1"/>
          <p:nvPr/>
        </p:nvSpPr>
        <p:spPr>
          <a:xfrm>
            <a:off x="9950000" y="520000"/>
            <a:ext cx="1700000" cy="2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800" b="1" i="0" dirty="0">
                <a:solidFill>
                  <a:srgbClr val="22d3ee"/>
                </a:solidFill>
                <a:latin typeface="Tahoma"/>
                <a:cs typeface="Tahoma"/>
              </a:rPr>
              <a:t>⏱ TIMECODE</a:t>
            </a:r>
          </a:p>
        </p:txBody>
      </p:sp>
      <p:sp>
        <p:nvSpPr>
          <p:cNvPr id="95" name="t"/>
          <p:cNvSpPr txBox="1"/>
          <p:nvPr/>
        </p:nvSpPr>
        <p:spPr>
          <a:xfrm>
            <a:off x="9950000" y="740000"/>
            <a:ext cx="1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f87171"/>
                </a:solidFill>
                <a:latin typeface="Tahoma"/>
                <a:cs typeface="Tahoma"/>
              </a:rPr>
              <a:t>0:30–1:15</a:t>
            </a:r>
          </a:p>
        </p:txBody>
      </p:sp>
      <p:sp>
        <p:nvSpPr>
          <p:cNvPr id="96" name="s"/>
          <p:cNvSpPr/>
          <p:nvPr/>
        </p:nvSpPr>
        <p:spPr>
          <a:xfrm>
            <a:off x="9850000" y="2300000"/>
            <a:ext cx="1300000" cy="1300000"/>
          </a:xfrm>
          <a:prstGeom prst="ellipse">
            <a:avLst/>
          </a:prstGeom>
          <a:solidFill>
            <a:srgbClr val="0b1a3a"/>
          </a:solidFill>
          <a:ln w="19050">
            <a:solidFill>
              <a:srgbClr val="f87171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97" name="t"/>
          <p:cNvSpPr txBox="1"/>
          <p:nvPr/>
        </p:nvSpPr>
        <p:spPr>
          <a:xfrm>
            <a:off x="9850000" y="2300000"/>
            <a:ext cx="1300000" cy="13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800" b="0" i="0" dirty="0">
                <a:solidFill>
                  <a:srgbClr val="f5c542"/>
                </a:solidFill>
                <a:latin typeface="Tahoma"/>
                <a:cs typeface="Tahoma"/>
              </a:rPr>
              <a:t>⏳</a:t>
            </a:r>
          </a:p>
        </p:txBody>
      </p:sp>
      <p:sp>
        <p:nvSpPr>
          <p:cNvPr id="98" name="t"/>
          <p:cNvSpPr txBox="1"/>
          <p:nvPr/>
        </p:nvSpPr>
        <p:spPr>
          <a:xfrm>
            <a:off x="760000" y="2300000"/>
            <a:ext cx="8700000" cy="7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ต้องอ่านงานวิจัยจำนวนมากทีละฉบับ ใช้เวลาหลายวัน–หลายสัปดาห์</a:t>
            </a:r>
          </a:p>
        </p:txBody>
      </p:sp>
      <p:sp>
        <p:nvSpPr>
          <p:cNvPr id="99" name="t"/>
          <p:cNvSpPr txBox="1"/>
          <p:nvPr/>
        </p:nvSpPr>
        <p:spPr>
          <a:xfrm>
            <a:off x="760000" y="3020000"/>
            <a:ext cx="8700000" cy="7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สายวิทยาศาสตร์/การแพทย์มีเปเปอร์มหาศาลและเพิ่มขึ้นต่อเนื่อง</a:t>
            </a:r>
          </a:p>
        </p:txBody>
      </p:sp>
      <p:sp>
        <p:nvSpPr>
          <p:cNvPr id="100" name="t"/>
          <p:cNvSpPr txBox="1"/>
          <p:nvPr/>
        </p:nvSpPr>
        <p:spPr>
          <a:xfrm>
            <a:off x="760000" y="3740000"/>
            <a:ext cx="8700000" cy="7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ต้องสกัดประเด็น เปรียบเทียบระเบียบวิธี และเขียนเองทั้งหมด</a:t>
            </a:r>
          </a:p>
        </p:txBody>
      </p:sp>
      <p:sp>
        <p:nvSpPr>
          <p:cNvPr id="101" name="t"/>
          <p:cNvSpPr txBox="1"/>
          <p:nvPr/>
        </p:nvSpPr>
        <p:spPr>
          <a:xfrm>
            <a:off x="760000" y="4460000"/>
            <a:ext cx="8700000" cy="7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เครื่องมือที่มีมักเสียเงิน ซับซ้อน หรือเสี่ยงต่อความลับข้อมูล</a:t>
            </a:r>
          </a:p>
        </p:txBody>
      </p:sp>
      <p:sp>
        <p:nvSpPr>
          <p:cNvPr id="102" name="s"/>
          <p:cNvSpPr/>
          <p:nvPr/>
        </p:nvSpPr>
        <p:spPr>
          <a:xfrm>
            <a:off x="600000" y="5720000"/>
            <a:ext cx="11000000" cy="900000"/>
          </a:xfrm>
          <a:prstGeom prst="roundRect">
            <a:avLst>
              <a:gd name="adj" fmla="val 10000"/>
            </a:avLst>
          </a:prstGeom>
          <a:solidFill>
            <a:srgbClr val="0a1428"/>
          </a:solidFill>
          <a:ln w="12700">
            <a:solidFill>
              <a:srgbClr val="f87171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03" name="t"/>
          <p:cNvSpPr txBox="1"/>
          <p:nvPr/>
        </p:nvSpPr>
        <p:spPr>
          <a:xfrm>
            <a:off x="850000" y="5810000"/>
            <a:ext cx="10500000" cy="72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th-TH" sz="1200" b="1" i="0" dirty="0">
                <a:solidFill>
                  <a:srgbClr val="f87171"/>
                </a:solidFill>
                <a:latin typeface="Tahoma"/>
                <a:cs typeface="Tahoma"/>
              </a:rPr>
              <a:t>▶  </a:t>
            </a:r>
            <a:r>
              <a:rPr lang="th-TH" sz="1400" b="0" i="0" dirty="0">
                <a:solidFill>
                  <a:srgbClr val="e5edff"/>
                </a:solidFill>
                <a:latin typeface="Tahoma"/>
                <a:cs typeface="Tahoma"/>
              </a:rPr>
              <a:t>ปัญหา: การทบทวนวรรณกรรมใช้เวลานาน ต้องอ่าน-สกัด-เปรียบเทียบ-เขียนเองทั้งหมด</a:t>
            </a:r>
          </a:p>
        </p:txBody>
      </p:sp>
    </p:spTree>
  </p:cSld>
  <p:transition xmlns:p14="http://schemas.microsoft.com/office/powerpoint/2010/main" spd="med" p14:dur="700" advTm="11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presetID="10" presetClass="entr" presetSubtype="0" fill="hold" grpId="0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6"/>
                            </p:tgtEl>
                          </p:cBhvr>
                        </p:animEffect>
                      </p:childTnLst>
                    </p:cTn>
                  </p:par>
                  <p:par>
                    <p:cTn presetID="10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8"/>
                            </p:tgtEl>
                          </p:cBhvr>
                        </p:animEffect>
                      </p:childTnLst>
                    </p:cTn>
                  </p:par>
                  <p:par>
                    <p:cTn presetID="10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9"/>
                            </p:tgtEl>
                          </p:cBhvr>
                        </p:animEffect>
                      </p:childTnLst>
                    </p:cTn>
                  </p:par>
                  <p:par>
                    <p:cTn presetID="10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0"/>
                            </p:tgtEl>
                          </p:cBhvr>
                        </p:animEffect>
                      </p:childTnLst>
                    </p:cTn>
                  </p:par>
                  <p:par>
                    <p:cTn presetID="10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98" grpId="0"/>
      <p:bldP spid="99" grpId="0"/>
      <p:bldP spid="100" grpId="0"/>
      <p:bldP spid="101" grpId="0"/>
    </p:bldLst>
  </p:timing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t"/>
          <p:cNvSpPr txBox="1"/>
          <p:nvPr/>
        </p:nvSpPr>
        <p:spPr>
          <a:xfrm>
            <a:off x="760000" y="450000"/>
            <a:ext cx="88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② SOLUTION — แนวคิด</a:t>
            </a:r>
          </a:p>
        </p:txBody>
      </p:sp>
      <p:sp>
        <p:nvSpPr>
          <p:cNvPr id="106" name="t"/>
          <p:cNvSpPr txBox="1"/>
          <p:nvPr/>
        </p:nvSpPr>
        <p:spPr>
          <a:xfrm>
            <a:off x="760000" y="790000"/>
            <a:ext cx="89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500" b="1" i="0" dirty="0">
                <a:solidFill>
                  <a:srgbClr val="e5edff"/>
                </a:solidFill>
                <a:latin typeface="Tahoma"/>
                <a:cs typeface="Tahoma"/>
              </a:rPr>
              <a:t>เว็บผู้ช่วยทบทวนวรรณกรรมอัตโนมัติ</a:t>
            </a:r>
          </a:p>
        </p:txBody>
      </p:sp>
      <p:sp>
        <p:nvSpPr>
          <p:cNvPr id="107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3/7</a:t>
            </a:r>
          </a:p>
        </p:txBody>
      </p:sp>
      <p:sp>
        <p:nvSpPr>
          <p:cNvPr id="108" name="s"/>
          <p:cNvSpPr/>
          <p:nvPr/>
        </p:nvSpPr>
        <p:spPr>
          <a:xfrm>
            <a:off x="9950000" y="470000"/>
            <a:ext cx="1700000" cy="5400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109" name="t"/>
          <p:cNvSpPr txBox="1"/>
          <p:nvPr/>
        </p:nvSpPr>
        <p:spPr>
          <a:xfrm>
            <a:off x="9950000" y="520000"/>
            <a:ext cx="1700000" cy="2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800" b="1" i="0" dirty="0">
                <a:solidFill>
                  <a:srgbClr val="22d3ee"/>
                </a:solidFill>
                <a:latin typeface="Tahoma"/>
                <a:cs typeface="Tahoma"/>
              </a:rPr>
              <a:t>⏱ TIMECODE</a:t>
            </a:r>
          </a:p>
        </p:txBody>
      </p:sp>
      <p:sp>
        <p:nvSpPr>
          <p:cNvPr id="110" name="t"/>
          <p:cNvSpPr txBox="1"/>
          <p:nvPr/>
        </p:nvSpPr>
        <p:spPr>
          <a:xfrm>
            <a:off x="9950000" y="740000"/>
            <a:ext cx="1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1:15–2:00</a:t>
            </a:r>
          </a:p>
        </p:txBody>
      </p:sp>
      <p:sp>
        <p:nvSpPr>
          <p:cNvPr id="111" name="s"/>
          <p:cNvSpPr/>
          <p:nvPr/>
        </p:nvSpPr>
        <p:spPr>
          <a:xfrm>
            <a:off x="760000" y="2150000"/>
            <a:ext cx="5300000" cy="132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12" name="s"/>
          <p:cNvSpPr/>
          <p:nvPr/>
        </p:nvSpPr>
        <p:spPr>
          <a:xfrm>
            <a:off x="940000" y="238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13" name="t"/>
          <p:cNvSpPr txBox="1"/>
          <p:nvPr/>
        </p:nvSpPr>
        <p:spPr>
          <a:xfrm>
            <a:off x="940000" y="238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📄</a:t>
            </a:r>
          </a:p>
        </p:txBody>
      </p:sp>
      <p:sp>
        <p:nvSpPr>
          <p:cNvPr id="114" name="t"/>
          <p:cNvSpPr txBox="1"/>
          <p:nvPr/>
        </p:nvSpPr>
        <p:spPr>
          <a:xfrm>
            <a:off x="1960000" y="2380000"/>
            <a:ext cx="395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f5c542"/>
                </a:solidFill>
                <a:latin typeface="Tahoma"/>
                <a:cs typeface="Tahoma"/>
              </a:rPr>
              <a:t>รับไฟล์หลายฉบับ</a:t>
            </a:r>
          </a:p>
        </p:txBody>
      </p:sp>
      <p:sp>
        <p:nvSpPr>
          <p:cNvPr id="115" name="t"/>
          <p:cNvSpPr txBox="1"/>
          <p:nvPr/>
        </p:nvSpPr>
        <p:spPr>
          <a:xfrm>
            <a:off x="1960000" y="2830000"/>
            <a:ext cx="395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อัปโหลด PDF/TXT แล้วสกัดอัตโนมัติ</a:t>
            </a:r>
          </a:p>
        </p:txBody>
      </p:sp>
      <p:sp>
        <p:nvSpPr>
          <p:cNvPr id="116" name="s"/>
          <p:cNvSpPr/>
          <p:nvPr/>
        </p:nvSpPr>
        <p:spPr>
          <a:xfrm>
            <a:off x="6310000" y="2150000"/>
            <a:ext cx="5300000" cy="132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17" name="s"/>
          <p:cNvSpPr/>
          <p:nvPr/>
        </p:nvSpPr>
        <p:spPr>
          <a:xfrm>
            <a:off x="6490000" y="238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18" name="t"/>
          <p:cNvSpPr txBox="1"/>
          <p:nvPr/>
        </p:nvSpPr>
        <p:spPr>
          <a:xfrm>
            <a:off x="6490000" y="238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📊</a:t>
            </a:r>
          </a:p>
        </p:txBody>
      </p:sp>
      <p:sp>
        <p:nvSpPr>
          <p:cNvPr id="119" name="t"/>
          <p:cNvSpPr txBox="1"/>
          <p:nvPr/>
        </p:nvSpPr>
        <p:spPr>
          <a:xfrm>
            <a:off x="7510000" y="2380000"/>
            <a:ext cx="395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22d3ee"/>
                </a:solidFill>
                <a:latin typeface="Tahoma"/>
                <a:cs typeface="Tahoma"/>
              </a:rPr>
              <a:t>เปรียบเทียบ</a:t>
            </a:r>
          </a:p>
        </p:txBody>
      </p:sp>
      <p:sp>
        <p:nvSpPr>
          <p:cNvPr id="120" name="t"/>
          <p:cNvSpPr txBox="1"/>
          <p:nvPr/>
        </p:nvSpPr>
        <p:spPr>
          <a:xfrm>
            <a:off x="7510000" y="2830000"/>
            <a:ext cx="395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ตารางระเบียบวิธี 5 ประเด็น</a:t>
            </a:r>
          </a:p>
        </p:txBody>
      </p:sp>
      <p:sp>
        <p:nvSpPr>
          <p:cNvPr id="121" name="s"/>
          <p:cNvSpPr/>
          <p:nvPr/>
        </p:nvSpPr>
        <p:spPr>
          <a:xfrm>
            <a:off x="760000" y="3650000"/>
            <a:ext cx="5300000" cy="132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22" name="s"/>
          <p:cNvSpPr/>
          <p:nvPr/>
        </p:nvSpPr>
        <p:spPr>
          <a:xfrm>
            <a:off x="940000" y="388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23" name="t"/>
          <p:cNvSpPr txBox="1"/>
          <p:nvPr/>
        </p:nvSpPr>
        <p:spPr>
          <a:xfrm>
            <a:off x="940000" y="388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🕸️</a:t>
            </a:r>
          </a:p>
        </p:txBody>
      </p:sp>
      <p:sp>
        <p:nvSpPr>
          <p:cNvPr id="124" name="t"/>
          <p:cNvSpPr txBox="1"/>
          <p:nvPr/>
        </p:nvSpPr>
        <p:spPr>
          <a:xfrm>
            <a:off x="1960000" y="3880000"/>
            <a:ext cx="395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34d399"/>
                </a:solidFill>
                <a:latin typeface="Tahoma"/>
                <a:cs typeface="Tahoma"/>
              </a:rPr>
              <a:t>กราฟ 3 มิติ</a:t>
            </a:r>
          </a:p>
        </p:txBody>
      </p:sp>
      <p:sp>
        <p:nvSpPr>
          <p:cNvPr id="125" name="t"/>
          <p:cNvSpPr txBox="1"/>
          <p:nvPr/>
        </p:nvSpPr>
        <p:spPr>
          <a:xfrm>
            <a:off x="1960000" y="4330000"/>
            <a:ext cx="395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เชื่อมโยงงานวิจัย + ค้นหา</a:t>
            </a:r>
          </a:p>
        </p:txBody>
      </p:sp>
      <p:sp>
        <p:nvSpPr>
          <p:cNvPr id="126" name="s"/>
          <p:cNvSpPr/>
          <p:nvPr/>
        </p:nvSpPr>
        <p:spPr>
          <a:xfrm>
            <a:off x="6310000" y="3650000"/>
            <a:ext cx="5300000" cy="132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27" name="s"/>
          <p:cNvSpPr/>
          <p:nvPr/>
        </p:nvSpPr>
        <p:spPr>
          <a:xfrm>
            <a:off x="6490000" y="388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28" name="t"/>
          <p:cNvSpPr txBox="1"/>
          <p:nvPr/>
        </p:nvSpPr>
        <p:spPr>
          <a:xfrm>
            <a:off x="6490000" y="388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✍️</a:t>
            </a:r>
          </a:p>
        </p:txBody>
      </p:sp>
      <p:sp>
        <p:nvSpPr>
          <p:cNvPr id="129" name="t"/>
          <p:cNvSpPr txBox="1"/>
          <p:nvPr/>
        </p:nvSpPr>
        <p:spPr>
          <a:xfrm>
            <a:off x="7510000" y="3880000"/>
            <a:ext cx="395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a78bfa"/>
                </a:solidFill>
                <a:latin typeface="Tahoma"/>
                <a:cs typeface="Tahoma"/>
              </a:rPr>
              <a:t>ร่าง + APA</a:t>
            </a:r>
          </a:p>
        </p:txBody>
      </p:sp>
      <p:sp>
        <p:nvSpPr>
          <p:cNvPr id="130" name="t"/>
          <p:cNvSpPr txBox="1"/>
          <p:nvPr/>
        </p:nvSpPr>
        <p:spPr>
          <a:xfrm>
            <a:off x="7510000" y="4330000"/>
            <a:ext cx="395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บททบทวนพร้อมอ้างอิง แก้ไขได้</a:t>
            </a:r>
          </a:p>
        </p:txBody>
      </p:sp>
      <p:sp>
        <p:nvSpPr>
          <p:cNvPr id="131" name="s"/>
          <p:cNvSpPr/>
          <p:nvPr/>
        </p:nvSpPr>
        <p:spPr>
          <a:xfrm>
            <a:off x="600000" y="5720000"/>
            <a:ext cx="11000000" cy="900000"/>
          </a:xfrm>
          <a:prstGeom prst="roundRect">
            <a:avLst>
              <a:gd name="adj" fmla="val 10000"/>
            </a:avLst>
          </a:prstGeom>
          <a:solidFill>
            <a:srgbClr val="0a1428"/>
          </a:solidFill>
          <a:ln w="1270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32" name="t"/>
          <p:cNvSpPr txBox="1"/>
          <p:nvPr/>
        </p:nvSpPr>
        <p:spPr>
          <a:xfrm>
            <a:off x="850000" y="5810000"/>
            <a:ext cx="10500000" cy="72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▶  </a:t>
            </a:r>
            <a:r>
              <a:rPr lang="th-TH" sz="1400" b="0" i="0" dirty="0">
                <a:solidFill>
                  <a:srgbClr val="e5edff"/>
                </a:solidFill>
                <a:latin typeface="Tahoma"/>
                <a:cs typeface="Tahoma"/>
              </a:rPr>
              <a:t>แนวคิด: รวมงานวิจัยหลายฉบับในระบบเดียว สกัดอัตโนมัติ 5 ประเด็น แล้วแสดงกราฟ-ตาราง-ร่าง Lit-Review</a:t>
            </a:r>
          </a:p>
        </p:txBody>
      </p:sp>
    </p:spTree>
  </p:cSld>
  <p:transition xmlns:p14="http://schemas.microsoft.com/office/powerpoint/2010/main" spd="med" p14:dur="600" advTm="1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presetID="10" presetClass="entr" presetSubtype="0" fill="hold" grpId="0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1"/>
                            </p:tgtEl>
                          </p:cBhvr>
                        </p:animEffect>
                      </p:childTnLst>
                    </p:cTn>
                  </p:par>
                  <p:par>
                    <p:cTn presetID="10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6"/>
                            </p:tgtEl>
                          </p:cBhvr>
                        </p:animEffect>
                      </p:childTnLst>
                    </p:cTn>
                  </p:par>
                  <p:par>
                    <p:cTn presetID="10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21"/>
                            </p:tgtEl>
                          </p:cBhvr>
                        </p:animEffect>
                      </p:childTnLst>
                    </p:cTn>
                  </p:par>
                  <p:par>
                    <p:cTn presetID="10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6" grpId="0"/>
      <p:bldP spid="121" grpId="0"/>
      <p:bldP spid="126" grpId="0"/>
    </p:bldLst>
  </p:timing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t"/>
          <p:cNvSpPr txBox="1"/>
          <p:nvPr/>
        </p:nvSpPr>
        <p:spPr>
          <a:xfrm>
            <a:off x="760000" y="450000"/>
            <a:ext cx="88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③ AI / KIRO</a:t>
            </a:r>
          </a:p>
        </p:txBody>
      </p:sp>
      <p:sp>
        <p:nvSpPr>
          <p:cNvPr id="135" name="t"/>
          <p:cNvSpPr txBox="1"/>
          <p:nvPr/>
        </p:nvSpPr>
        <p:spPr>
          <a:xfrm>
            <a:off x="760000" y="790000"/>
            <a:ext cx="89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500" b="1" i="0" dirty="0">
                <a:solidFill>
                  <a:srgbClr val="e5edff"/>
                </a:solidFill>
                <a:latin typeface="Tahoma"/>
                <a:cs typeface="Tahoma"/>
              </a:rPr>
              <a:t>เทคโนโลยีเบื้องหลัง</a:t>
            </a:r>
          </a:p>
        </p:txBody>
      </p:sp>
      <p:sp>
        <p:nvSpPr>
          <p:cNvPr id="136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4/7</a:t>
            </a:r>
          </a:p>
        </p:txBody>
      </p:sp>
      <p:sp>
        <p:nvSpPr>
          <p:cNvPr id="137" name="s"/>
          <p:cNvSpPr/>
          <p:nvPr/>
        </p:nvSpPr>
        <p:spPr>
          <a:xfrm>
            <a:off x="9950000" y="470000"/>
            <a:ext cx="1700000" cy="5400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138" name="t"/>
          <p:cNvSpPr txBox="1"/>
          <p:nvPr/>
        </p:nvSpPr>
        <p:spPr>
          <a:xfrm>
            <a:off x="9950000" y="520000"/>
            <a:ext cx="1700000" cy="2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800" b="1" i="0" dirty="0">
                <a:solidFill>
                  <a:srgbClr val="22d3ee"/>
                </a:solidFill>
                <a:latin typeface="Tahoma"/>
                <a:cs typeface="Tahoma"/>
              </a:rPr>
              <a:t>⏱ TIMECODE</a:t>
            </a:r>
          </a:p>
        </p:txBody>
      </p:sp>
      <p:sp>
        <p:nvSpPr>
          <p:cNvPr id="139" name="t"/>
          <p:cNvSpPr txBox="1"/>
          <p:nvPr/>
        </p:nvSpPr>
        <p:spPr>
          <a:xfrm>
            <a:off x="9950000" y="740000"/>
            <a:ext cx="1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2:00–2:40</a:t>
            </a:r>
          </a:p>
        </p:txBody>
      </p:sp>
      <p:sp>
        <p:nvSpPr>
          <p:cNvPr id="140" name="s"/>
          <p:cNvSpPr/>
          <p:nvPr/>
        </p:nvSpPr>
        <p:spPr>
          <a:xfrm>
            <a:off x="760000" y="2050000"/>
            <a:ext cx="5250000" cy="33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41" name="s"/>
          <p:cNvSpPr/>
          <p:nvPr/>
        </p:nvSpPr>
        <p:spPr>
          <a:xfrm>
            <a:off x="2910000" y="222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42" name="t"/>
          <p:cNvSpPr txBox="1"/>
          <p:nvPr/>
        </p:nvSpPr>
        <p:spPr>
          <a:xfrm>
            <a:off x="2910000" y="222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🤖</a:t>
            </a:r>
          </a:p>
        </p:txBody>
      </p:sp>
      <p:sp>
        <p:nvSpPr>
          <p:cNvPr id="143" name="t"/>
          <p:cNvSpPr txBox="1"/>
          <p:nvPr/>
        </p:nvSpPr>
        <p:spPr>
          <a:xfrm>
            <a:off x="960000" y="3130000"/>
            <a:ext cx="49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22d3ee"/>
                </a:solidFill>
                <a:latin typeface="Tahoma"/>
                <a:cs typeface="Tahoma"/>
              </a:rPr>
              <a:t>AI</a:t>
            </a:r>
          </a:p>
        </p:txBody>
      </p:sp>
      <p:sp>
        <p:nvSpPr>
          <p:cNvPr id="144" name="t"/>
          <p:cNvSpPr txBox="1"/>
          <p:nvPr/>
        </p:nvSpPr>
        <p:spPr>
          <a:xfrm>
            <a:off x="1000000" y="356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วิเคราะห์ตามโครงสร้าง IMRaD</a:t>
            </a:r>
          </a:p>
        </p:txBody>
      </p:sp>
      <p:sp>
        <p:nvSpPr>
          <p:cNvPr id="145" name="t"/>
          <p:cNvSpPr txBox="1"/>
          <p:nvPr/>
        </p:nvSpPr>
        <p:spPr>
          <a:xfrm>
            <a:off x="1000000" y="410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จำแนก 22 สาขา + ระเบียบวิธี</a:t>
            </a:r>
          </a:p>
        </p:txBody>
      </p:sp>
      <p:sp>
        <p:nvSpPr>
          <p:cNvPr id="146" name="t"/>
          <p:cNvSpPr txBox="1"/>
          <p:nvPr/>
        </p:nvSpPr>
        <p:spPr>
          <a:xfrm>
            <a:off x="1000000" y="464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รองรับไทย–อังกฤษ</a:t>
            </a:r>
          </a:p>
        </p:txBody>
      </p:sp>
      <p:sp>
        <p:nvSpPr>
          <p:cNvPr id="147" name="s"/>
          <p:cNvSpPr/>
          <p:nvPr/>
        </p:nvSpPr>
        <p:spPr>
          <a:xfrm>
            <a:off x="6260000" y="2050000"/>
            <a:ext cx="5200000" cy="33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48" name="s"/>
          <p:cNvSpPr/>
          <p:nvPr/>
        </p:nvSpPr>
        <p:spPr>
          <a:xfrm>
            <a:off x="8430000" y="222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49" name="t"/>
          <p:cNvSpPr txBox="1"/>
          <p:nvPr/>
        </p:nvSpPr>
        <p:spPr>
          <a:xfrm>
            <a:off x="8430000" y="222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⚙️</a:t>
            </a:r>
          </a:p>
        </p:txBody>
      </p:sp>
      <p:sp>
        <p:nvSpPr>
          <p:cNvPr id="150" name="t"/>
          <p:cNvSpPr txBox="1"/>
          <p:nvPr/>
        </p:nvSpPr>
        <p:spPr>
          <a:xfrm>
            <a:off x="6460000" y="3130000"/>
            <a:ext cx="48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f5c542"/>
                </a:solidFill>
                <a:latin typeface="Tahoma"/>
                <a:cs typeface="Tahoma"/>
              </a:rPr>
              <a:t>Kiro (Spec-driven)</a:t>
            </a:r>
          </a:p>
        </p:txBody>
      </p:sp>
      <p:sp>
        <p:nvSpPr>
          <p:cNvPr id="151" name="t"/>
          <p:cNvSpPr txBox="1"/>
          <p:nvPr/>
        </p:nvSpPr>
        <p:spPr>
          <a:xfrm>
            <a:off x="6500000" y="356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Steering Rules — มาตรฐานการพัฒนา</a:t>
            </a:r>
          </a:p>
        </p:txBody>
      </p:sp>
      <p:sp>
        <p:nvSpPr>
          <p:cNvPr id="152" name="t"/>
          <p:cNvSpPr txBox="1"/>
          <p:nvPr/>
        </p:nvSpPr>
        <p:spPr>
          <a:xfrm>
            <a:off x="6500000" y="410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Specs — ข้อกำหนด</a:t>
            </a:r>
          </a:p>
        </p:txBody>
      </p:sp>
      <p:sp>
        <p:nvSpPr>
          <p:cNvPr id="153" name="t"/>
          <p:cNvSpPr txBox="1"/>
          <p:nvPr/>
        </p:nvSpPr>
        <p:spPr>
          <a:xfrm>
            <a:off x="6500000" y="464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Kiro เขียนโค้ด ทดสอบ และ deploy</a:t>
            </a:r>
          </a:p>
        </p:txBody>
      </p:sp>
      <p:sp>
        <p:nvSpPr>
          <p:cNvPr id="154" name="s"/>
          <p:cNvSpPr/>
          <p:nvPr/>
        </p:nvSpPr>
        <p:spPr>
          <a:xfrm>
            <a:off x="600000" y="5720000"/>
            <a:ext cx="11000000" cy="900000"/>
          </a:xfrm>
          <a:prstGeom prst="roundRect">
            <a:avLst>
              <a:gd name="adj" fmla="val 10000"/>
            </a:avLst>
          </a:prstGeom>
          <a:solidFill>
            <a:srgbClr val="0a1428"/>
          </a:solidFill>
          <a:ln w="1270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55" name="t"/>
          <p:cNvSpPr txBox="1"/>
          <p:nvPr/>
        </p:nvSpPr>
        <p:spPr>
          <a:xfrm>
            <a:off x="850000" y="5810000"/>
            <a:ext cx="10500000" cy="72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th-TH" sz="1200" b="1" i="0" dirty="0">
                <a:solidFill>
                  <a:srgbClr val="22d3ee"/>
                </a:solidFill>
                <a:latin typeface="Tahoma"/>
                <a:cs typeface="Tahoma"/>
              </a:rPr>
              <a:t>▶  </a:t>
            </a:r>
            <a:r>
              <a:rPr lang="th-TH" sz="1400" b="0" i="0" dirty="0">
                <a:solidFill>
                  <a:srgbClr val="e5edff"/>
                </a:solidFill>
                <a:latin typeface="Tahoma"/>
                <a:cs typeface="Tahoma"/>
              </a:rPr>
              <a:t>เทคโนโลยี: AI สกัดตามโครงสร้าง IMRaD จำแนก 22 สาขา · พัฒนาด้วย Kiro แบบ Spec-driven</a:t>
            </a:r>
          </a:p>
        </p:txBody>
      </p:sp>
    </p:spTree>
  </p:cSld>
  <p:transition xmlns:p14="http://schemas.microsoft.com/office/powerpoint/2010/main" spd="med" p14:dur="700" advTm="11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presetID="10" presetClass="entr" presetSubtype="0" fill="hold" grpId="0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40"/>
                            </p:tgtEl>
                          </p:cBhvr>
                        </p:animEffect>
                      </p:childTnLst>
                    </p:cTn>
                  </p:par>
                  <p:par>
                    <p:cTn presetID="10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4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147" grpId="0"/>
    </p:bldLst>
  </p:timing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t"/>
          <p:cNvSpPr txBox="1"/>
          <p:nvPr/>
        </p:nvSpPr>
        <p:spPr>
          <a:xfrm>
            <a:off x="760000" y="450000"/>
            <a:ext cx="88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④ PROTOTYPE — สาธิตสด</a:t>
            </a:r>
          </a:p>
        </p:txBody>
      </p:sp>
      <p:sp>
        <p:nvSpPr>
          <p:cNvPr id="158" name="t"/>
          <p:cNvSpPr txBox="1"/>
          <p:nvPr/>
        </p:nvSpPr>
        <p:spPr>
          <a:xfrm>
            <a:off x="760000" y="790000"/>
            <a:ext cx="89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500" b="1" i="0" dirty="0">
                <a:solidFill>
                  <a:srgbClr val="e5edff"/>
                </a:solidFill>
                <a:latin typeface="Tahoma"/>
                <a:cs typeface="Tahoma"/>
              </a:rPr>
              <a:t>อัดหน้าจอเว็บจริง (ช่วงสำคัญที่สุด)</a:t>
            </a:r>
          </a:p>
        </p:txBody>
      </p:sp>
      <p:sp>
        <p:nvSpPr>
          <p:cNvPr id="159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5/7</a:t>
            </a:r>
          </a:p>
        </p:txBody>
      </p:sp>
      <p:sp>
        <p:nvSpPr>
          <p:cNvPr id="160" name="s"/>
          <p:cNvSpPr/>
          <p:nvPr/>
        </p:nvSpPr>
        <p:spPr>
          <a:xfrm>
            <a:off x="9950000" y="470000"/>
            <a:ext cx="1700000" cy="5400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61" name="t"/>
          <p:cNvSpPr txBox="1"/>
          <p:nvPr/>
        </p:nvSpPr>
        <p:spPr>
          <a:xfrm>
            <a:off x="9950000" y="520000"/>
            <a:ext cx="1700000" cy="2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800" b="1" i="0" dirty="0">
                <a:solidFill>
                  <a:srgbClr val="22d3ee"/>
                </a:solidFill>
                <a:latin typeface="Tahoma"/>
                <a:cs typeface="Tahoma"/>
              </a:rPr>
              <a:t>⏱ TIMECODE</a:t>
            </a:r>
          </a:p>
        </p:txBody>
      </p:sp>
      <p:sp>
        <p:nvSpPr>
          <p:cNvPr id="162" name="t"/>
          <p:cNvSpPr txBox="1"/>
          <p:nvPr/>
        </p:nvSpPr>
        <p:spPr>
          <a:xfrm>
            <a:off x="9950000" y="740000"/>
            <a:ext cx="1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34d399"/>
                </a:solidFill>
                <a:latin typeface="Tahoma"/>
                <a:cs typeface="Tahoma"/>
              </a:rPr>
              <a:t>2:40–4:15</a:t>
            </a:r>
          </a:p>
        </p:txBody>
      </p:sp>
      <p:sp>
        <p:nvSpPr>
          <p:cNvPr id="163" name="s"/>
          <p:cNvSpPr/>
          <p:nvPr/>
        </p:nvSpPr>
        <p:spPr>
          <a:xfrm>
            <a:off x="760000" y="2050000"/>
            <a:ext cx="4700000" cy="3250000"/>
          </a:xfrm>
          <a:prstGeom prst="roundRect">
            <a:avLst>
              <a:gd name="adj" fmla="val 6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64" name="s"/>
          <p:cNvSpPr/>
          <p:nvPr/>
        </p:nvSpPr>
        <p:spPr>
          <a:xfrm>
            <a:off x="760000" y="2050000"/>
            <a:ext cx="4700000" cy="380000"/>
          </a:xfrm>
          <a:prstGeom prst="roundRect">
            <a:avLst>
              <a:gd name="adj" fmla="val 6000"/>
            </a:avLst>
          </a:prstGeom>
          <a:solidFill>
            <a:srgbClr val="00236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s"/>
          <p:cNvSpPr/>
          <p:nvPr/>
        </p:nvSpPr>
        <p:spPr>
          <a:xfrm>
            <a:off x="910000" y="2170000"/>
            <a:ext cx="120000" cy="1200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s"/>
          <p:cNvSpPr/>
          <p:nvPr/>
        </p:nvSpPr>
        <p:spPr>
          <a:xfrm>
            <a:off x="1130000" y="2170000"/>
            <a:ext cx="120000" cy="120000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s"/>
          <p:cNvSpPr/>
          <p:nvPr/>
        </p:nvSpPr>
        <p:spPr>
          <a:xfrm>
            <a:off x="1350000" y="2170000"/>
            <a:ext cx="120000" cy="1200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t"/>
          <p:cNvSpPr txBox="1"/>
          <p:nvPr/>
        </p:nvSpPr>
        <p:spPr>
          <a:xfrm>
            <a:off x="1610000" y="2120000"/>
            <a:ext cx="30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1" i="0" dirty="0">
                <a:solidFill>
                  <a:srgbClr val="e5edff"/>
                </a:solidFill>
                <a:latin typeface="Tahoma"/>
                <a:cs typeface="Tahoma"/>
              </a:rPr>
              <a:t>LIKA Nexus</a:t>
            </a:r>
          </a:p>
        </p:txBody>
      </p:sp>
      <p:sp>
        <p:nvSpPr>
          <p:cNvPr id="169" name="s"/>
          <p:cNvSpPr/>
          <p:nvPr/>
        </p:nvSpPr>
        <p:spPr>
          <a:xfrm>
            <a:off x="3232000" y="3710000"/>
            <a:ext cx="320000" cy="320000"/>
          </a:xfrm>
          <a:prstGeom prst="ellipse">
            <a:avLst/>
          </a:prstGeom>
          <a:solidFill>
            <a:srgbClr val="f5c542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70" name="l"/>
          <p:cNvCxnSpPr/>
          <p:nvPr/>
        </p:nvCxnSpPr>
        <p:spPr>
          <a:xfrm flipH="0" flipV="0">
            <a:off x="3392000" y="3870000"/>
            <a:ext cx="900000" cy="1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71" name="s"/>
          <p:cNvSpPr/>
          <p:nvPr/>
        </p:nvSpPr>
        <p:spPr>
          <a:xfrm>
            <a:off x="4162000" y="3740000"/>
            <a:ext cx="260000" cy="26000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72" name="l"/>
          <p:cNvCxnSpPr/>
          <p:nvPr/>
        </p:nvCxnSpPr>
        <p:spPr>
          <a:xfrm flipH="0" flipV="0">
            <a:off x="3392000" y="3870000"/>
            <a:ext cx="278115" cy="855950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73" name="s"/>
          <p:cNvSpPr/>
          <p:nvPr/>
        </p:nvSpPr>
        <p:spPr>
          <a:xfrm>
            <a:off x="3540115" y="4595950"/>
            <a:ext cx="260000" cy="260000"/>
          </a:xfrm>
          <a:prstGeom prst="ellipse">
            <a:avLst/>
          </a:prstGeom>
          <a:solidFill>
            <a:srgbClr val="34d399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74" name="l"/>
          <p:cNvCxnSpPr/>
          <p:nvPr/>
        </p:nvCxnSpPr>
        <p:spPr>
          <a:xfrm flipH="1" flipV="0">
            <a:off x="2663884" y="3870000"/>
            <a:ext cx="728116" cy="529006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75" name="s"/>
          <p:cNvSpPr/>
          <p:nvPr/>
        </p:nvSpPr>
        <p:spPr>
          <a:xfrm>
            <a:off x="2533884" y="4269006"/>
            <a:ext cx="260000" cy="2600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76" name="l"/>
          <p:cNvCxnSpPr/>
          <p:nvPr/>
        </p:nvCxnSpPr>
        <p:spPr>
          <a:xfrm flipH="1" flipV="1">
            <a:off x="2663884" y="3340993"/>
            <a:ext cx="728116" cy="529007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77" name="s"/>
          <p:cNvSpPr/>
          <p:nvPr/>
        </p:nvSpPr>
        <p:spPr>
          <a:xfrm>
            <a:off x="2533884" y="3210993"/>
            <a:ext cx="260000" cy="26000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78" name="l"/>
          <p:cNvCxnSpPr/>
          <p:nvPr/>
        </p:nvCxnSpPr>
        <p:spPr>
          <a:xfrm flipH="0" flipV="1">
            <a:off x="3392000" y="3014049"/>
            <a:ext cx="278115" cy="855951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79" name="s"/>
          <p:cNvSpPr/>
          <p:nvPr/>
        </p:nvSpPr>
        <p:spPr>
          <a:xfrm>
            <a:off x="3540115" y="2884049"/>
            <a:ext cx="260000" cy="260000"/>
          </a:xfrm>
          <a:prstGeom prst="ellipse">
            <a:avLst/>
          </a:prstGeom>
          <a:solidFill>
            <a:srgbClr val="f472b6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80" name="t"/>
          <p:cNvSpPr txBox="1"/>
          <p:nvPr/>
        </p:nvSpPr>
        <p:spPr>
          <a:xfrm>
            <a:off x="5750000" y="2000000"/>
            <a:ext cx="57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34d399"/>
                </a:solidFill>
                <a:latin typeface="Tahoma"/>
                <a:cs typeface="Tahoma"/>
              </a:rPr>
              <a:t>ลำดับการสาธิต (อัดหน้าจอ):</a:t>
            </a:r>
          </a:p>
        </p:txBody>
      </p:sp>
      <p:sp>
        <p:nvSpPr>
          <p:cNvPr id="181" name="t"/>
          <p:cNvSpPr txBox="1"/>
          <p:nvPr/>
        </p:nvSpPr>
        <p:spPr>
          <a:xfrm>
            <a:off x="5750000" y="2450000"/>
            <a:ext cx="5700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1. เข้าสู่ระบบ — เลือกประเภทผู้ใช้</a:t>
            </a:r>
          </a:p>
        </p:txBody>
      </p:sp>
      <p:sp>
        <p:nvSpPr>
          <p:cNvPr id="182" name="t"/>
          <p:cNvSpPr txBox="1"/>
          <p:nvPr/>
        </p:nvSpPr>
        <p:spPr>
          <a:xfrm>
            <a:off x="5750000" y="2910000"/>
            <a:ext cx="5700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2. อัปโหลดไฟล์ / กดโหลดตัวอย่าง 6 สาขา</a:t>
            </a:r>
          </a:p>
        </p:txBody>
      </p:sp>
      <p:sp>
        <p:nvSpPr>
          <p:cNvPr id="183" name="t"/>
          <p:cNvSpPr txBox="1"/>
          <p:nvPr/>
        </p:nvSpPr>
        <p:spPr>
          <a:xfrm>
            <a:off x="5750000" y="3370000"/>
            <a:ext cx="5700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3. กราฟ 3 มิติ — หมุน + คลิกโหนด</a:t>
            </a:r>
          </a:p>
        </p:txBody>
      </p:sp>
      <p:sp>
        <p:nvSpPr>
          <p:cNvPr id="184" name="t"/>
          <p:cNvSpPr txBox="1"/>
          <p:nvPr/>
        </p:nvSpPr>
        <p:spPr>
          <a:xfrm>
            <a:off x="5750000" y="3830000"/>
            <a:ext cx="5700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4. ตารางเปรียบเทียบ 5 ประเด็น</a:t>
            </a:r>
          </a:p>
        </p:txBody>
      </p:sp>
      <p:sp>
        <p:nvSpPr>
          <p:cNvPr id="185" name="t"/>
          <p:cNvSpPr txBox="1"/>
          <p:nvPr/>
        </p:nvSpPr>
        <p:spPr>
          <a:xfrm>
            <a:off x="5750000" y="4290000"/>
            <a:ext cx="5700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5. ร่าง Lit-Review + ส่งออก APA</a:t>
            </a:r>
          </a:p>
        </p:txBody>
      </p:sp>
      <p:sp>
        <p:nvSpPr>
          <p:cNvPr id="186" name="t"/>
          <p:cNvSpPr txBox="1"/>
          <p:nvPr/>
        </p:nvSpPr>
        <p:spPr>
          <a:xfrm>
            <a:off x="5750000" y="4750000"/>
            <a:ext cx="5700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6. Usage Dashboard — สถิติผู้ใช้</a:t>
            </a:r>
          </a:p>
        </p:txBody>
      </p:sp>
      <p:sp>
        <p:nvSpPr>
          <p:cNvPr id="187" name="s"/>
          <p:cNvSpPr/>
          <p:nvPr/>
        </p:nvSpPr>
        <p:spPr>
          <a:xfrm>
            <a:off x="600000" y="5720000"/>
            <a:ext cx="11000000" cy="900000"/>
          </a:xfrm>
          <a:prstGeom prst="roundRect">
            <a:avLst>
              <a:gd name="adj" fmla="val 10000"/>
            </a:avLst>
          </a:prstGeom>
          <a:solidFill>
            <a:srgbClr val="0a1428"/>
          </a:solidFill>
          <a:ln w="1270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88" name="t"/>
          <p:cNvSpPr txBox="1"/>
          <p:nvPr/>
        </p:nvSpPr>
        <p:spPr>
          <a:xfrm>
            <a:off x="850000" y="5810000"/>
            <a:ext cx="10500000" cy="72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▶  </a:t>
            </a:r>
            <a:r>
              <a:rPr lang="th-TH" sz="1400" b="0" i="0" dirty="0">
                <a:solidFill>
                  <a:srgbClr val="e5edff"/>
                </a:solidFill>
                <a:latin typeface="Tahoma"/>
                <a:cs typeface="Tahoma"/>
              </a:rPr>
              <a:t>สาธิตจริง: อัปโหลด → กราฟ 3 มิติ → ตารางเปรียบเทียบ → ร่าง Lit-Review + APA → แดชบอร์ดสถิติ</a:t>
            </a:r>
          </a:p>
        </p:txBody>
      </p:sp>
    </p:spTree>
  </p:cSld>
  <p:transition xmlns:p14="http://schemas.microsoft.com/office/powerpoint/2010/main" spd="med" p14:dur="600" advTm="14000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t"/>
          <p:cNvSpPr txBox="1"/>
          <p:nvPr/>
        </p:nvSpPr>
        <p:spPr>
          <a:xfrm>
            <a:off x="760000" y="450000"/>
            <a:ext cx="88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⑤ EXPECTED IMPACT</a:t>
            </a:r>
          </a:p>
        </p:txBody>
      </p:sp>
      <p:sp>
        <p:nvSpPr>
          <p:cNvPr id="191" name="t"/>
          <p:cNvSpPr txBox="1"/>
          <p:nvPr/>
        </p:nvSpPr>
        <p:spPr>
          <a:xfrm>
            <a:off x="760000" y="790000"/>
            <a:ext cx="89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500" b="1" i="0" dirty="0">
                <a:solidFill>
                  <a:srgbClr val="e5edff"/>
                </a:solidFill>
                <a:latin typeface="Tahoma"/>
                <a:cs typeface="Tahoma"/>
              </a:rPr>
              <a:t>ผลลัพธ์ที่คาดหวัง</a:t>
            </a:r>
          </a:p>
        </p:txBody>
      </p:sp>
      <p:sp>
        <p:nvSpPr>
          <p:cNvPr id="192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6/7</a:t>
            </a:r>
          </a:p>
        </p:txBody>
      </p:sp>
      <p:sp>
        <p:nvSpPr>
          <p:cNvPr id="193" name="s"/>
          <p:cNvSpPr/>
          <p:nvPr/>
        </p:nvSpPr>
        <p:spPr>
          <a:xfrm>
            <a:off x="9950000" y="470000"/>
            <a:ext cx="1700000" cy="5400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94" name="t"/>
          <p:cNvSpPr txBox="1"/>
          <p:nvPr/>
        </p:nvSpPr>
        <p:spPr>
          <a:xfrm>
            <a:off x="9950000" y="520000"/>
            <a:ext cx="1700000" cy="2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800" b="1" i="0" dirty="0">
                <a:solidFill>
                  <a:srgbClr val="22d3ee"/>
                </a:solidFill>
                <a:latin typeface="Tahoma"/>
                <a:cs typeface="Tahoma"/>
              </a:rPr>
              <a:t>⏱ TIMECODE</a:t>
            </a:r>
          </a:p>
        </p:txBody>
      </p:sp>
      <p:sp>
        <p:nvSpPr>
          <p:cNvPr id="195" name="t"/>
          <p:cNvSpPr txBox="1"/>
          <p:nvPr/>
        </p:nvSpPr>
        <p:spPr>
          <a:xfrm>
            <a:off x="9950000" y="740000"/>
            <a:ext cx="1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a78bfa"/>
                </a:solidFill>
                <a:latin typeface="Tahoma"/>
                <a:cs typeface="Tahoma"/>
              </a:rPr>
              <a:t>4:15–4:50</a:t>
            </a:r>
          </a:p>
        </p:txBody>
      </p:sp>
      <p:sp>
        <p:nvSpPr>
          <p:cNvPr id="196" name="s"/>
          <p:cNvSpPr/>
          <p:nvPr/>
        </p:nvSpPr>
        <p:spPr>
          <a:xfrm>
            <a:off x="760000" y="2150000"/>
            <a:ext cx="5300000" cy="128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97" name="t"/>
          <p:cNvSpPr txBox="1"/>
          <p:nvPr/>
        </p:nvSpPr>
        <p:spPr>
          <a:xfrm>
            <a:off x="1010000" y="237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900" b="1" i="0" dirty="0">
                <a:solidFill>
                  <a:srgbClr val="f5c542"/>
                </a:solidFill>
                <a:latin typeface="Tahoma"/>
                <a:cs typeface="Tahoma"/>
              </a:rPr>
              <a:t>หลายวัน→นาที</a:t>
            </a:r>
          </a:p>
        </p:txBody>
      </p:sp>
      <p:sp>
        <p:nvSpPr>
          <p:cNvPr id="198" name="t"/>
          <p:cNvSpPr txBox="1"/>
          <p:nvPr/>
        </p:nvSpPr>
        <p:spPr>
          <a:xfrm>
            <a:off x="1010000" y="2970000"/>
            <a:ext cx="48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ลดเวลาทบทวนวรรณกรรม</a:t>
            </a:r>
          </a:p>
        </p:txBody>
      </p:sp>
      <p:sp>
        <p:nvSpPr>
          <p:cNvPr id="199" name="s"/>
          <p:cNvSpPr/>
          <p:nvPr/>
        </p:nvSpPr>
        <p:spPr>
          <a:xfrm>
            <a:off x="6310000" y="2150000"/>
            <a:ext cx="5300000" cy="128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00" name="t"/>
          <p:cNvSpPr txBox="1"/>
          <p:nvPr/>
        </p:nvSpPr>
        <p:spPr>
          <a:xfrm>
            <a:off x="6560000" y="237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900" b="1" i="0" dirty="0">
                <a:solidFill>
                  <a:srgbClr val="22d3ee"/>
                </a:solidFill>
                <a:latin typeface="Tahoma"/>
                <a:cs typeface="Tahoma"/>
              </a:rPr>
              <a:t>22 สาขา</a:t>
            </a:r>
          </a:p>
        </p:txBody>
      </p:sp>
      <p:sp>
        <p:nvSpPr>
          <p:cNvPr id="201" name="t"/>
          <p:cNvSpPr txBox="1"/>
          <p:nvPr/>
        </p:nvSpPr>
        <p:spPr>
          <a:xfrm>
            <a:off x="6560000" y="2970000"/>
            <a:ext cx="48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วิทย์ · สังคม · มนุษยศาสตร์</a:t>
            </a:r>
          </a:p>
        </p:txBody>
      </p:sp>
      <p:sp>
        <p:nvSpPr>
          <p:cNvPr id="202" name="s"/>
          <p:cNvSpPr/>
          <p:nvPr/>
        </p:nvSpPr>
        <p:spPr>
          <a:xfrm>
            <a:off x="760000" y="3600000"/>
            <a:ext cx="5300000" cy="128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03" name="t"/>
          <p:cNvSpPr txBox="1"/>
          <p:nvPr/>
        </p:nvSpPr>
        <p:spPr>
          <a:xfrm>
            <a:off x="1010000" y="382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900" b="1" i="0" dirty="0">
                <a:solidFill>
                  <a:srgbClr val="34d399"/>
                </a:solidFill>
                <a:latin typeface="Tahoma"/>
                <a:cs typeface="Tahoma"/>
              </a:rPr>
              <a:t>Privacy-first</a:t>
            </a:r>
          </a:p>
        </p:txBody>
      </p:sp>
      <p:sp>
        <p:nvSpPr>
          <p:cNvPr id="204" name="t"/>
          <p:cNvSpPr txBox="1"/>
          <p:nvPr/>
        </p:nvSpPr>
        <p:spPr>
          <a:xfrm>
            <a:off x="1010000" y="4420000"/>
            <a:ext cx="48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ประมวลผลในเครื่อง ปลอดภัย</a:t>
            </a:r>
          </a:p>
        </p:txBody>
      </p:sp>
      <p:sp>
        <p:nvSpPr>
          <p:cNvPr id="205" name="s"/>
          <p:cNvSpPr/>
          <p:nvPr/>
        </p:nvSpPr>
        <p:spPr>
          <a:xfrm>
            <a:off x="6310000" y="3600000"/>
            <a:ext cx="5300000" cy="128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06" name="t"/>
          <p:cNvSpPr txBox="1"/>
          <p:nvPr/>
        </p:nvSpPr>
        <p:spPr>
          <a:xfrm>
            <a:off x="6560000" y="382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900" b="1" i="0" dirty="0">
                <a:solidFill>
                  <a:srgbClr val="a78bfa"/>
                </a:solidFill>
                <a:latin typeface="Tahoma"/>
                <a:cs typeface="Tahoma"/>
              </a:rPr>
              <a:t>ต่อยอดได้</a:t>
            </a:r>
          </a:p>
        </p:txBody>
      </p:sp>
      <p:sp>
        <p:nvSpPr>
          <p:cNvPr id="207" name="t"/>
          <p:cNvSpPr txBox="1"/>
          <p:nvPr/>
        </p:nvSpPr>
        <p:spPr>
          <a:xfrm>
            <a:off x="6560000" y="4420000"/>
            <a:ext cx="48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สืบค้นออนไลน์ · เชื่อมระบบห้องสมุด</a:t>
            </a:r>
          </a:p>
        </p:txBody>
      </p:sp>
      <p:sp>
        <p:nvSpPr>
          <p:cNvPr id="208" name="s"/>
          <p:cNvSpPr/>
          <p:nvPr/>
        </p:nvSpPr>
        <p:spPr>
          <a:xfrm>
            <a:off x="600000" y="5720000"/>
            <a:ext cx="11000000" cy="900000"/>
          </a:xfrm>
          <a:prstGeom prst="roundRect">
            <a:avLst>
              <a:gd name="adj" fmla="val 10000"/>
            </a:avLst>
          </a:prstGeom>
          <a:solidFill>
            <a:srgbClr val="0a1428"/>
          </a:solidFill>
          <a:ln w="12700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09" name="t"/>
          <p:cNvSpPr txBox="1"/>
          <p:nvPr/>
        </p:nvSpPr>
        <p:spPr>
          <a:xfrm>
            <a:off x="850000" y="5810000"/>
            <a:ext cx="10500000" cy="72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th-TH" sz="1200" b="1" i="0" dirty="0">
                <a:solidFill>
                  <a:srgbClr val="a78bfa"/>
                </a:solidFill>
                <a:latin typeface="Tahoma"/>
                <a:cs typeface="Tahoma"/>
              </a:rPr>
              <a:t>▶  </a:t>
            </a:r>
            <a:r>
              <a:rPr lang="th-TH" sz="1400" b="0" i="0" dirty="0">
                <a:solidFill>
                  <a:srgbClr val="e5edff"/>
                </a:solidFill>
                <a:latin typeface="Tahoma"/>
                <a:cs typeface="Tahoma"/>
              </a:rPr>
              <a:t>ผลลัพธ์: ลดเวลาจากหลายวันเหลือไม่กี่นาที · ฟรี · ปลอดภัย · รองรับ 22 สาขา · ต่อยอดได้</a:t>
            </a:r>
          </a:p>
        </p:txBody>
      </p:sp>
    </p:spTree>
  </p:cSld>
  <p:transition xmlns:p14="http://schemas.microsoft.com/office/powerpoint/2010/main" spd="med" p14:dur="700" advTm="10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presetID="10" presetClass="entr" presetSubtype="0" fill="hold" grpId="0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6"/>
                            </p:tgtEl>
                          </p:cBhvr>
                        </p:animEffect>
                      </p:childTnLst>
                    </p:cTn>
                  </p:par>
                  <p:par>
                    <p:cTn presetID="10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9"/>
                            </p:tgtEl>
                          </p:cBhvr>
                        </p:animEffect>
                      </p:childTnLst>
                    </p:cTn>
                  </p:par>
                  <p:par>
                    <p:cTn presetID="10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2"/>
                            </p:tgtEl>
                          </p:cBhvr>
                        </p:animEffect>
                      </p:childTnLst>
                    </p:cTn>
                  </p:par>
                  <p:par>
                    <p:cTn presetID="10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/>
      <p:bldP spid="199" grpId="0"/>
      <p:bldP spid="202" grpId="0"/>
      <p:bldP spid="205" grpId="0"/>
    </p:bldLst>
  </p:timing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"/>
          <p:cNvSpPr/>
          <p:nvPr/>
        </p:nvSpPr>
        <p:spPr>
          <a:xfrm>
            <a:off x="7589669" y="4695711"/>
            <a:ext cx="37598" cy="375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s"/>
          <p:cNvSpPr/>
          <p:nvPr/>
        </p:nvSpPr>
        <p:spPr>
          <a:xfrm>
            <a:off x="7812311" y="3790244"/>
            <a:ext cx="28640" cy="2864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s"/>
          <p:cNvSpPr/>
          <p:nvPr/>
        </p:nvSpPr>
        <p:spPr>
          <a:xfrm>
            <a:off x="9854682" y="1593013"/>
            <a:ext cx="18050" cy="1805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s"/>
          <p:cNvSpPr/>
          <p:nvPr/>
        </p:nvSpPr>
        <p:spPr>
          <a:xfrm>
            <a:off x="8588401" y="3990991"/>
            <a:ext cx="32639" cy="3263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s"/>
          <p:cNvSpPr/>
          <p:nvPr/>
        </p:nvSpPr>
        <p:spPr>
          <a:xfrm>
            <a:off x="10300519" y="6651972"/>
            <a:ext cx="18100" cy="1810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s"/>
          <p:cNvSpPr/>
          <p:nvPr/>
        </p:nvSpPr>
        <p:spPr>
          <a:xfrm>
            <a:off x="1579129" y="3746294"/>
            <a:ext cx="21941" cy="21941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s"/>
          <p:cNvSpPr/>
          <p:nvPr/>
        </p:nvSpPr>
        <p:spPr>
          <a:xfrm>
            <a:off x="2378927" y="760599"/>
            <a:ext cx="29651" cy="29651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s"/>
          <p:cNvSpPr/>
          <p:nvPr/>
        </p:nvSpPr>
        <p:spPr>
          <a:xfrm>
            <a:off x="11633967" y="5322175"/>
            <a:ext cx="13372" cy="1337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s"/>
          <p:cNvSpPr/>
          <p:nvPr/>
        </p:nvSpPr>
        <p:spPr>
          <a:xfrm>
            <a:off x="9989766" y="3323230"/>
            <a:ext cx="26843" cy="2684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s"/>
          <p:cNvSpPr/>
          <p:nvPr/>
        </p:nvSpPr>
        <p:spPr>
          <a:xfrm>
            <a:off x="10970999" y="6198475"/>
            <a:ext cx="32170" cy="3217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s"/>
          <p:cNvSpPr/>
          <p:nvPr/>
        </p:nvSpPr>
        <p:spPr>
          <a:xfrm>
            <a:off x="10906381" y="1321156"/>
            <a:ext cx="32418" cy="3241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s"/>
          <p:cNvSpPr/>
          <p:nvPr/>
        </p:nvSpPr>
        <p:spPr>
          <a:xfrm>
            <a:off x="251670" y="4432383"/>
            <a:ext cx="14069" cy="1406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s"/>
          <p:cNvSpPr/>
          <p:nvPr/>
        </p:nvSpPr>
        <p:spPr>
          <a:xfrm>
            <a:off x="999101" y="299077"/>
            <a:ext cx="18232" cy="182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s"/>
          <p:cNvSpPr/>
          <p:nvPr/>
        </p:nvSpPr>
        <p:spPr>
          <a:xfrm>
            <a:off x="4059130" y="5029961"/>
            <a:ext cx="12985" cy="1298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s"/>
          <p:cNvSpPr/>
          <p:nvPr/>
        </p:nvSpPr>
        <p:spPr>
          <a:xfrm>
            <a:off x="7783528" y="2737147"/>
            <a:ext cx="26435" cy="2643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s"/>
          <p:cNvSpPr/>
          <p:nvPr/>
        </p:nvSpPr>
        <p:spPr>
          <a:xfrm>
            <a:off x="9914654" y="1638474"/>
            <a:ext cx="29010" cy="2901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s"/>
          <p:cNvSpPr/>
          <p:nvPr/>
        </p:nvSpPr>
        <p:spPr>
          <a:xfrm>
            <a:off x="3919923" y="5371156"/>
            <a:ext cx="21638" cy="2163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s"/>
          <p:cNvSpPr/>
          <p:nvPr/>
        </p:nvSpPr>
        <p:spPr>
          <a:xfrm>
            <a:off x="8384802" y="38535"/>
            <a:ext cx="33707" cy="3370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s"/>
          <p:cNvSpPr/>
          <p:nvPr/>
        </p:nvSpPr>
        <p:spPr>
          <a:xfrm>
            <a:off x="1425874" y="3836361"/>
            <a:ext cx="33456" cy="3345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s"/>
          <p:cNvSpPr/>
          <p:nvPr/>
        </p:nvSpPr>
        <p:spPr>
          <a:xfrm>
            <a:off x="4666799" y="3412307"/>
            <a:ext cx="30063" cy="3006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s"/>
          <p:cNvSpPr/>
          <p:nvPr/>
        </p:nvSpPr>
        <p:spPr>
          <a:xfrm>
            <a:off x="1395922" y="5937537"/>
            <a:ext cx="20322" cy="203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s"/>
          <p:cNvSpPr/>
          <p:nvPr/>
        </p:nvSpPr>
        <p:spPr>
          <a:xfrm>
            <a:off x="5289473" y="6358481"/>
            <a:ext cx="19525" cy="1952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s"/>
          <p:cNvSpPr/>
          <p:nvPr/>
        </p:nvSpPr>
        <p:spPr>
          <a:xfrm>
            <a:off x="8604776" y="2424642"/>
            <a:ext cx="12974" cy="1297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s"/>
          <p:cNvSpPr/>
          <p:nvPr/>
        </p:nvSpPr>
        <p:spPr>
          <a:xfrm>
            <a:off x="1178154" y="4723979"/>
            <a:ext cx="37109" cy="3710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" name="s"/>
          <p:cNvSpPr/>
          <p:nvPr/>
        </p:nvSpPr>
        <p:spPr>
          <a:xfrm>
            <a:off x="1810713" y="3358797"/>
            <a:ext cx="15532" cy="155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s"/>
          <p:cNvSpPr/>
          <p:nvPr/>
        </p:nvSpPr>
        <p:spPr>
          <a:xfrm>
            <a:off x="4880540" y="3242310"/>
            <a:ext cx="14189" cy="1418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s"/>
          <p:cNvSpPr/>
          <p:nvPr/>
        </p:nvSpPr>
        <p:spPr>
          <a:xfrm>
            <a:off x="283375" y="5745336"/>
            <a:ext cx="12017" cy="1201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s"/>
          <p:cNvSpPr/>
          <p:nvPr/>
        </p:nvSpPr>
        <p:spPr>
          <a:xfrm>
            <a:off x="3581963" y="1759237"/>
            <a:ext cx="13714" cy="1371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" name="s"/>
          <p:cNvSpPr/>
          <p:nvPr/>
        </p:nvSpPr>
        <p:spPr>
          <a:xfrm>
            <a:off x="7885078" y="3149613"/>
            <a:ext cx="35229" cy="3522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s"/>
          <p:cNvSpPr/>
          <p:nvPr/>
        </p:nvSpPr>
        <p:spPr>
          <a:xfrm>
            <a:off x="6667674" y="3521465"/>
            <a:ext cx="14393" cy="1439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s"/>
          <p:cNvSpPr/>
          <p:nvPr/>
        </p:nvSpPr>
        <p:spPr>
          <a:xfrm>
            <a:off x="9499960" y="5280250"/>
            <a:ext cx="18504" cy="1850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s"/>
          <p:cNvSpPr/>
          <p:nvPr/>
        </p:nvSpPr>
        <p:spPr>
          <a:xfrm>
            <a:off x="11323096" y="2263041"/>
            <a:ext cx="23039" cy="2303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s"/>
          <p:cNvSpPr/>
          <p:nvPr/>
        </p:nvSpPr>
        <p:spPr>
          <a:xfrm>
            <a:off x="1462037" y="2610615"/>
            <a:ext cx="22898" cy="228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s"/>
          <p:cNvSpPr/>
          <p:nvPr/>
        </p:nvSpPr>
        <p:spPr>
          <a:xfrm>
            <a:off x="254166" y="3439756"/>
            <a:ext cx="36839" cy="3683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" name="s"/>
          <p:cNvSpPr/>
          <p:nvPr/>
        </p:nvSpPr>
        <p:spPr>
          <a:xfrm>
            <a:off x="0" y="2250000"/>
            <a:ext cx="12192000" cy="155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002366"/>
              </a:gs>
              <a:gs pos="100000">
                <a:srgbClr val="0b1a3a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45" name="s"/>
          <p:cNvSpPr/>
          <p:nvPr/>
        </p:nvSpPr>
        <p:spPr>
          <a:xfrm>
            <a:off x="4650000" y="1250000"/>
            <a:ext cx="900000" cy="900000"/>
          </a:xfrm>
          <a:prstGeom prst="roundRect">
            <a:avLst>
              <a:gd name="adj" fmla="val 24000"/>
            </a:avLst>
          </a:prstGeom>
          <a:gradFill>
            <a:gsLst>
              <a:gs pos="0">
                <a:srgbClr val="0b1a3a"/>
              </a:gs>
              <a:gs pos="100000">
                <a:srgbClr val="002366"/>
              </a:gs>
            </a:gsLst>
            <a:lin ang="5400000" scaled="1"/>
          </a:gradFill>
          <a:ln w="12700">
            <a:solidFill>
              <a:srgbClr val="22d3ee"/>
            </a:solidFill>
          </a:ln>
        </p:spPr>
        <p:txBody>
          <a:bodyPr/>
          <a:lstStyle/>
          <a:p/>
        </p:txBody>
      </p:sp>
      <p:cxnSp>
        <p:nvCxnSpPr>
          <p:cNvPr id="246" name="l"/>
          <p:cNvCxnSpPr/>
          <p:nvPr/>
        </p:nvCxnSpPr>
        <p:spPr>
          <a:xfrm flipH="0" flipV="0">
            <a:off x="5100000" y="1700000"/>
            <a:ext cx="306000" cy="1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247" name="l"/>
          <p:cNvCxnSpPr/>
          <p:nvPr/>
        </p:nvCxnSpPr>
        <p:spPr>
          <a:xfrm flipH="0" flipV="0">
            <a:off x="5100000" y="1700000"/>
            <a:ext cx="153000" cy="265003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248" name="l"/>
          <p:cNvCxnSpPr/>
          <p:nvPr/>
        </p:nvCxnSpPr>
        <p:spPr>
          <a:xfrm flipH="1" flipV="0">
            <a:off x="4947001" y="1700000"/>
            <a:ext cx="152999" cy="265003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249" name="l"/>
          <p:cNvCxnSpPr/>
          <p:nvPr/>
        </p:nvCxnSpPr>
        <p:spPr>
          <a:xfrm flipH="1" flipV="0">
            <a:off x="4794000" y="1700000"/>
            <a:ext cx="306000" cy="1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250" name="l"/>
          <p:cNvCxnSpPr/>
          <p:nvPr/>
        </p:nvCxnSpPr>
        <p:spPr>
          <a:xfrm flipH="1" flipV="1">
            <a:off x="4947000" y="1434997"/>
            <a:ext cx="153000" cy="265003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251" name="l"/>
          <p:cNvCxnSpPr/>
          <p:nvPr/>
        </p:nvCxnSpPr>
        <p:spPr>
          <a:xfrm flipH="0" flipV="1">
            <a:off x="5100000" y="1434997"/>
            <a:ext cx="153000" cy="265003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sp>
        <p:nvSpPr>
          <p:cNvPr id="252" name="s"/>
          <p:cNvSpPr/>
          <p:nvPr/>
        </p:nvSpPr>
        <p:spPr>
          <a:xfrm>
            <a:off x="5368000" y="166200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s"/>
          <p:cNvSpPr/>
          <p:nvPr/>
        </p:nvSpPr>
        <p:spPr>
          <a:xfrm>
            <a:off x="5215000" y="1927003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" name="s"/>
          <p:cNvSpPr/>
          <p:nvPr/>
        </p:nvSpPr>
        <p:spPr>
          <a:xfrm>
            <a:off x="4909001" y="1927003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" name="s"/>
          <p:cNvSpPr/>
          <p:nvPr/>
        </p:nvSpPr>
        <p:spPr>
          <a:xfrm>
            <a:off x="4756000" y="166200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" name="s"/>
          <p:cNvSpPr/>
          <p:nvPr/>
        </p:nvSpPr>
        <p:spPr>
          <a:xfrm>
            <a:off x="4909000" y="1396997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" name="s"/>
          <p:cNvSpPr/>
          <p:nvPr/>
        </p:nvSpPr>
        <p:spPr>
          <a:xfrm>
            <a:off x="5215000" y="1396997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" name="s"/>
          <p:cNvSpPr/>
          <p:nvPr/>
        </p:nvSpPr>
        <p:spPr>
          <a:xfrm>
            <a:off x="5030000" y="1630000"/>
            <a:ext cx="140000" cy="140000"/>
          </a:xfrm>
          <a:prstGeom prst="ellipse">
            <a:avLst/>
          </a:prstGeom>
          <a:solidFill>
            <a:srgbClr val="f5c542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59" name="t"/>
          <p:cNvSpPr txBox="1"/>
          <p:nvPr/>
        </p:nvSpPr>
        <p:spPr>
          <a:xfrm>
            <a:off x="760000" y="2420000"/>
            <a:ext cx="108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3000" b="1" i="0" dirty="0">
                <a:solidFill>
                  <a:srgbClr val="e5edff"/>
                </a:solidFill>
                <a:latin typeface="Tahoma"/>
                <a:cs typeface="Tahoma"/>
              </a:rPr>
              <a:t>ขอบคุณค่ะ / Thank You</a:t>
            </a:r>
          </a:p>
        </p:txBody>
      </p:sp>
      <p:sp>
        <p:nvSpPr>
          <p:cNvPr id="260" name="t"/>
          <p:cNvSpPr txBox="1"/>
          <p:nvPr/>
        </p:nvSpPr>
        <p:spPr>
          <a:xfrm>
            <a:off x="760000" y="3250000"/>
            <a:ext cx="10800000" cy="4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0" i="0" dirty="0">
                <a:solidFill>
                  <a:srgbClr val="22d3ee"/>
                </a:solidFill>
                <a:latin typeface="Tahoma"/>
                <a:cs typeface="Tahoma"/>
              </a:rPr>
              <a:t>LIKA Nexus · ห้องสมุดวิทยาเขตกาญจนบุรี มหาวิทยาลัยมหิดล</a:t>
            </a:r>
          </a:p>
        </p:txBody>
      </p:sp>
      <p:sp>
        <p:nvSpPr>
          <p:cNvPr id="261" name="t"/>
          <p:cNvSpPr txBox="1"/>
          <p:nvPr/>
        </p:nvSpPr>
        <p:spPr>
          <a:xfrm>
            <a:off x="760000" y="4600000"/>
            <a:ext cx="108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200" b="0" i="0" dirty="0">
                <a:solidFill>
                  <a:srgbClr val="f5c542"/>
                </a:solidFill>
                <a:latin typeface="Tahoma"/>
                <a:cs typeface="Tahoma"/>
              </a:rPr>
              <a:t>🌐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https://tinyurl.com/lika-nexus</a:t>
            </a:r>
          </a:p>
        </p:txBody>
      </p:sp>
      <p:sp>
        <p:nvSpPr>
          <p:cNvPr id="262" name="t"/>
          <p:cNvSpPr txBox="1"/>
          <p:nvPr/>
        </p:nvSpPr>
        <p:spPr>
          <a:xfrm>
            <a:off x="760000" y="5050000"/>
            <a:ext cx="108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200" b="0" i="0" dirty="0">
                <a:solidFill>
                  <a:srgbClr val="f5c542"/>
                </a:solidFill>
                <a:latin typeface="Tahoma"/>
                <a:cs typeface="Tahoma"/>
              </a:rPr>
              <a:t>💻 </a:t>
            </a:r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github.com/kanchanathsao-crypto/lika-lit-review-helper-</a:t>
            </a:r>
          </a:p>
        </p:txBody>
      </p:sp>
    </p:spTree>
  </p:cSld>
  <p:transition xmlns:p14="http://schemas.microsoft.com/office/powerpoint/2010/main" spd="med" p14:dur="600" advTm="5000">
    <p:fade/>
  </p:transition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IKA">
  <a:themeElements>
    <a:clrScheme name="LIKA">
      <a:dk1>
        <a:srgbClr val="060a16"/>
      </a:dk1>
      <a:lt1>
        <a:srgbClr val="FFFFFF"/>
      </a:lt1>
      <a:dk2>
        <a:srgbClr val="002366"/>
      </a:dk2>
      <a:lt2>
        <a:srgbClr val="E5EDFF"/>
      </a:lt2>
      <a:accent1>
        <a:srgbClr val="002366"/>
      </a:accent1>
      <a:accent2>
        <a:srgbClr val="F5C542"/>
      </a:accent2>
      <a:accent3>
        <a:srgbClr val="22D3EE"/>
      </a:accent3>
      <a:accent4>
        <a:srgbClr val="34D399"/>
      </a:accent4>
      <a:accent5>
        <a:srgbClr val="A78BFA"/>
      </a:accent5>
      <a:accent6>
        <a:srgbClr val="FB923C"/>
      </a:accent6>
      <a:hlink>
        <a:srgbClr val="22D3EE"/>
      </a:hlink>
      <a:folHlink>
        <a:srgbClr val="7DD3FC"/>
      </a:folHlink>
    </a:clrScheme>
    <a:fontScheme name="LIK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IK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LIKA-Notes">
  <a:themeElements>
    <a:clrScheme name="LIKA">
      <a:dk1>
        <a:srgbClr val="060a16"/>
      </a:dk1>
      <a:lt1>
        <a:srgbClr val="FFFFFF"/>
      </a:lt1>
      <a:dk2>
        <a:srgbClr val="002366"/>
      </a:dk2>
      <a:lt2>
        <a:srgbClr val="E5EDFF"/>
      </a:lt2>
      <a:accent1>
        <a:srgbClr val="002366"/>
      </a:accent1>
      <a:accent2>
        <a:srgbClr val="F5C542"/>
      </a:accent2>
      <a:accent3>
        <a:srgbClr val="22D3EE"/>
      </a:accent3>
      <a:accent4>
        <a:srgbClr val="34D399"/>
      </a:accent4>
      <a:accent5>
        <a:srgbClr val="A78BFA"/>
      </a:accent5>
      <a:accent6>
        <a:srgbClr val="FB923C"/>
      </a:accent6>
      <a:hlink>
        <a:srgbClr val="22D3EE"/>
      </a:hlink>
      <a:folHlink>
        <a:srgbClr val="7DD3FC"/>
      </a:folHlink>
    </a:clrScheme>
    <a:fontScheme name="LIK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IK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