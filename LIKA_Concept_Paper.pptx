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Theme" Type="http://schemas.openxmlformats.org/officeDocument/2006/relationships/theme" Target="theme/theme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T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"/>
          <p:cNvSpPr/>
          <p:nvPr/>
        </p:nvSpPr>
        <p:spPr>
          <a:xfrm>
            <a:off x="5433012" y="1265414"/>
            <a:ext cx="24937" cy="2493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"/>
          <p:cNvSpPr/>
          <p:nvPr/>
        </p:nvSpPr>
        <p:spPr>
          <a:xfrm>
            <a:off x="10920868" y="405055"/>
            <a:ext cx="14373" cy="1437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"/>
          <p:cNvSpPr/>
          <p:nvPr/>
        </p:nvSpPr>
        <p:spPr>
          <a:xfrm>
            <a:off x="8990608" y="789620"/>
            <a:ext cx="23982" cy="2398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"/>
          <p:cNvSpPr/>
          <p:nvPr/>
        </p:nvSpPr>
        <p:spPr>
          <a:xfrm>
            <a:off x="9777560" y="486530"/>
            <a:ext cx="28627" cy="2862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s"/>
          <p:cNvSpPr/>
          <p:nvPr/>
        </p:nvSpPr>
        <p:spPr>
          <a:xfrm>
            <a:off x="3602037" y="314536"/>
            <a:ext cx="14816" cy="1481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"/>
          <p:cNvSpPr/>
          <p:nvPr/>
        </p:nvSpPr>
        <p:spPr>
          <a:xfrm>
            <a:off x="7275367" y="3507882"/>
            <a:ext cx="14289" cy="1428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s"/>
          <p:cNvSpPr/>
          <p:nvPr/>
        </p:nvSpPr>
        <p:spPr>
          <a:xfrm>
            <a:off x="4037655" y="760955"/>
            <a:ext cx="30056" cy="3005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"/>
          <p:cNvSpPr/>
          <p:nvPr/>
        </p:nvSpPr>
        <p:spPr>
          <a:xfrm>
            <a:off x="7122250" y="495854"/>
            <a:ext cx="39094" cy="3909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"/>
          <p:cNvSpPr/>
          <p:nvPr/>
        </p:nvSpPr>
        <p:spPr>
          <a:xfrm>
            <a:off x="9486738" y="1038526"/>
            <a:ext cx="19315" cy="1931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s"/>
          <p:cNvSpPr/>
          <p:nvPr/>
        </p:nvSpPr>
        <p:spPr>
          <a:xfrm>
            <a:off x="10580147" y="5263291"/>
            <a:ext cx="31103" cy="3110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"/>
          <p:cNvSpPr/>
          <p:nvPr/>
        </p:nvSpPr>
        <p:spPr>
          <a:xfrm>
            <a:off x="1037872" y="4841090"/>
            <a:ext cx="31187" cy="3118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"/>
          <p:cNvSpPr/>
          <p:nvPr/>
        </p:nvSpPr>
        <p:spPr>
          <a:xfrm>
            <a:off x="6655194" y="415985"/>
            <a:ext cx="19244" cy="1924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s"/>
          <p:cNvSpPr/>
          <p:nvPr/>
        </p:nvSpPr>
        <p:spPr>
          <a:xfrm>
            <a:off x="781527" y="4669643"/>
            <a:ext cx="16363" cy="1636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s"/>
          <p:cNvSpPr/>
          <p:nvPr/>
        </p:nvSpPr>
        <p:spPr>
          <a:xfrm>
            <a:off x="4858837" y="3515993"/>
            <a:ext cx="16726" cy="1672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"/>
          <p:cNvSpPr/>
          <p:nvPr/>
        </p:nvSpPr>
        <p:spPr>
          <a:xfrm>
            <a:off x="9071203" y="988112"/>
            <a:ext cx="30707" cy="3070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s"/>
          <p:cNvSpPr/>
          <p:nvPr/>
        </p:nvSpPr>
        <p:spPr>
          <a:xfrm>
            <a:off x="5175466" y="4699778"/>
            <a:ext cx="38742" cy="3874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s"/>
          <p:cNvSpPr/>
          <p:nvPr/>
        </p:nvSpPr>
        <p:spPr>
          <a:xfrm>
            <a:off x="11442106" y="1516042"/>
            <a:ext cx="15376" cy="1537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s"/>
          <p:cNvSpPr/>
          <p:nvPr/>
        </p:nvSpPr>
        <p:spPr>
          <a:xfrm>
            <a:off x="9757631" y="4791609"/>
            <a:ext cx="32935" cy="3293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s"/>
          <p:cNvSpPr/>
          <p:nvPr/>
        </p:nvSpPr>
        <p:spPr>
          <a:xfrm>
            <a:off x="3151952" y="3123897"/>
            <a:ext cx="15192" cy="1519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s"/>
          <p:cNvSpPr/>
          <p:nvPr/>
        </p:nvSpPr>
        <p:spPr>
          <a:xfrm>
            <a:off x="9189627" y="5973618"/>
            <a:ext cx="14057" cy="1405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"/>
          <p:cNvSpPr/>
          <p:nvPr/>
        </p:nvSpPr>
        <p:spPr>
          <a:xfrm>
            <a:off x="9468528" y="499970"/>
            <a:ext cx="32283" cy="3228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s"/>
          <p:cNvSpPr/>
          <p:nvPr/>
        </p:nvSpPr>
        <p:spPr>
          <a:xfrm>
            <a:off x="3455413" y="4164226"/>
            <a:ext cx="34295" cy="3429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s"/>
          <p:cNvSpPr/>
          <p:nvPr/>
        </p:nvSpPr>
        <p:spPr>
          <a:xfrm>
            <a:off x="8920785" y="3586904"/>
            <a:ext cx="37468" cy="3746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s"/>
          <p:cNvSpPr/>
          <p:nvPr/>
        </p:nvSpPr>
        <p:spPr>
          <a:xfrm>
            <a:off x="5270514" y="3905751"/>
            <a:ext cx="31187" cy="3118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s"/>
          <p:cNvSpPr/>
          <p:nvPr/>
        </p:nvSpPr>
        <p:spPr>
          <a:xfrm>
            <a:off x="7603172" y="3033172"/>
            <a:ext cx="21822" cy="2182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s"/>
          <p:cNvSpPr/>
          <p:nvPr/>
        </p:nvSpPr>
        <p:spPr>
          <a:xfrm>
            <a:off x="4167906" y="6663738"/>
            <a:ext cx="17890" cy="1789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"/>
          <p:cNvSpPr/>
          <p:nvPr/>
        </p:nvSpPr>
        <p:spPr>
          <a:xfrm>
            <a:off x="11727180" y="6541685"/>
            <a:ext cx="19998" cy="1999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s"/>
          <p:cNvSpPr/>
          <p:nvPr/>
        </p:nvSpPr>
        <p:spPr>
          <a:xfrm>
            <a:off x="1373299" y="4818615"/>
            <a:ext cx="21838" cy="2183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s"/>
          <p:cNvSpPr/>
          <p:nvPr/>
        </p:nvSpPr>
        <p:spPr>
          <a:xfrm>
            <a:off x="8811335" y="4153337"/>
            <a:ext cx="23255" cy="2325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s"/>
          <p:cNvSpPr/>
          <p:nvPr/>
        </p:nvSpPr>
        <p:spPr>
          <a:xfrm>
            <a:off x="7530188" y="2415397"/>
            <a:ext cx="31954" cy="3195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s"/>
          <p:cNvSpPr/>
          <p:nvPr/>
        </p:nvSpPr>
        <p:spPr>
          <a:xfrm>
            <a:off x="1228106" y="990407"/>
            <a:ext cx="28775" cy="2877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s"/>
          <p:cNvSpPr/>
          <p:nvPr/>
        </p:nvSpPr>
        <p:spPr>
          <a:xfrm>
            <a:off x="7014936" y="1383802"/>
            <a:ext cx="36809" cy="3680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"/>
          <p:cNvSpPr/>
          <p:nvPr/>
        </p:nvSpPr>
        <p:spPr>
          <a:xfrm>
            <a:off x="5738744" y="1274938"/>
            <a:ext cx="28022" cy="2802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s"/>
          <p:cNvSpPr/>
          <p:nvPr/>
        </p:nvSpPr>
        <p:spPr>
          <a:xfrm>
            <a:off x="7074924" y="328894"/>
            <a:ext cx="33896" cy="3389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s"/>
          <p:cNvSpPr/>
          <p:nvPr/>
        </p:nvSpPr>
        <p:spPr>
          <a:xfrm>
            <a:off x="1302255" y="6413685"/>
            <a:ext cx="30287" cy="3028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s"/>
          <p:cNvSpPr/>
          <p:nvPr/>
        </p:nvSpPr>
        <p:spPr>
          <a:xfrm>
            <a:off x="9613779" y="6619401"/>
            <a:ext cx="38815" cy="3881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s"/>
          <p:cNvSpPr/>
          <p:nvPr/>
        </p:nvSpPr>
        <p:spPr>
          <a:xfrm>
            <a:off x="5263809" y="2853153"/>
            <a:ext cx="34783" cy="3478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s"/>
          <p:cNvSpPr/>
          <p:nvPr/>
        </p:nvSpPr>
        <p:spPr>
          <a:xfrm>
            <a:off x="5875018" y="4985935"/>
            <a:ext cx="28275" cy="2827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"/>
          <p:cNvSpPr/>
          <p:nvPr/>
        </p:nvSpPr>
        <p:spPr>
          <a:xfrm>
            <a:off x="9729027" y="6684814"/>
            <a:ext cx="26948" cy="2694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s"/>
          <p:cNvSpPr/>
          <p:nvPr/>
        </p:nvSpPr>
        <p:spPr>
          <a:xfrm>
            <a:off x="1153650" y="785140"/>
            <a:ext cx="20845" cy="2084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s"/>
          <p:cNvSpPr/>
          <p:nvPr/>
        </p:nvSpPr>
        <p:spPr>
          <a:xfrm>
            <a:off x="7954050" y="5847212"/>
            <a:ext cx="33762" cy="3376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s"/>
          <p:cNvSpPr/>
          <p:nvPr/>
        </p:nvSpPr>
        <p:spPr>
          <a:xfrm>
            <a:off x="1090518" y="508932"/>
            <a:ext cx="35958" cy="3595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s"/>
          <p:cNvSpPr/>
          <p:nvPr/>
        </p:nvSpPr>
        <p:spPr>
          <a:xfrm>
            <a:off x="11769083" y="2597174"/>
            <a:ext cx="33205" cy="3320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s"/>
          <p:cNvSpPr/>
          <p:nvPr/>
        </p:nvSpPr>
        <p:spPr>
          <a:xfrm>
            <a:off x="9696328" y="5714631"/>
            <a:ext cx="38932" cy="3893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s"/>
          <p:cNvSpPr/>
          <p:nvPr/>
        </p:nvSpPr>
        <p:spPr>
          <a:xfrm>
            <a:off x="7476611" y="2387360"/>
            <a:ext cx="35482" cy="3548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s"/>
          <p:cNvSpPr/>
          <p:nvPr/>
        </p:nvSpPr>
        <p:spPr>
          <a:xfrm>
            <a:off x="6472506" y="5609065"/>
            <a:ext cx="23370" cy="2337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s"/>
          <p:cNvSpPr/>
          <p:nvPr/>
        </p:nvSpPr>
        <p:spPr>
          <a:xfrm>
            <a:off x="0" y="2350000"/>
            <a:ext cx="12192000" cy="20000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002366"/>
              </a:gs>
              <a:gs pos="100000">
                <a:srgbClr val="0b1a3a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58" name="s"/>
          <p:cNvSpPr/>
          <p:nvPr/>
        </p:nvSpPr>
        <p:spPr>
          <a:xfrm>
            <a:off x="820000" y="2620000"/>
            <a:ext cx="1420000" cy="1420000"/>
          </a:xfrm>
          <a:prstGeom prst="roundRect">
            <a:avLst>
              <a:gd name="adj" fmla="val 24000"/>
            </a:avLst>
          </a:prstGeom>
          <a:gradFill>
            <a:gsLst>
              <a:gs pos="0">
                <a:srgbClr val="0b1a3a"/>
              </a:gs>
              <a:gs pos="100000">
                <a:srgbClr val="002366"/>
              </a:gs>
            </a:gsLst>
            <a:lin ang="5400000" scaled="1"/>
          </a:gradFill>
          <a:ln w="12700">
            <a:solidFill>
              <a:srgbClr val="22d3ee"/>
            </a:solidFill>
          </a:ln>
        </p:spPr>
        <p:txBody>
          <a:bodyPr/>
          <a:lstStyle/>
          <a:p/>
        </p:txBody>
      </p:sp>
      <p:cxnSp>
        <p:nvCxnSpPr>
          <p:cNvPr id="59" name="l"/>
          <p:cNvCxnSpPr/>
          <p:nvPr/>
        </p:nvCxnSpPr>
        <p:spPr>
          <a:xfrm flipH="0" flipV="0">
            <a:off x="1530000" y="3330000"/>
            <a:ext cx="482800" cy="0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60" name="l"/>
          <p:cNvCxnSpPr/>
          <p:nvPr/>
        </p:nvCxnSpPr>
        <p:spPr>
          <a:xfrm flipH="0" flipV="0">
            <a:off x="1530000" y="3330000"/>
            <a:ext cx="241400" cy="418117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61" name="l"/>
          <p:cNvCxnSpPr/>
          <p:nvPr/>
        </p:nvCxnSpPr>
        <p:spPr>
          <a:xfrm flipH="1" flipV="0">
            <a:off x="1288601" y="3330000"/>
            <a:ext cx="241399" cy="418117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62" name="l"/>
          <p:cNvCxnSpPr/>
          <p:nvPr/>
        </p:nvCxnSpPr>
        <p:spPr>
          <a:xfrm flipH="1" flipV="0">
            <a:off x="1047200" y="3330000"/>
            <a:ext cx="482800" cy="0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63" name="l"/>
          <p:cNvCxnSpPr/>
          <p:nvPr/>
        </p:nvCxnSpPr>
        <p:spPr>
          <a:xfrm flipH="1" flipV="1">
            <a:off x="1288600" y="2911883"/>
            <a:ext cx="241400" cy="418117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64" name="l"/>
          <p:cNvCxnSpPr/>
          <p:nvPr/>
        </p:nvCxnSpPr>
        <p:spPr>
          <a:xfrm flipH="0" flipV="1">
            <a:off x="1530000" y="2911883"/>
            <a:ext cx="241400" cy="418117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sp>
        <p:nvSpPr>
          <p:cNvPr id="65" name="s"/>
          <p:cNvSpPr/>
          <p:nvPr/>
        </p:nvSpPr>
        <p:spPr>
          <a:xfrm>
            <a:off x="1974800" y="329200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s"/>
          <p:cNvSpPr/>
          <p:nvPr/>
        </p:nvSpPr>
        <p:spPr>
          <a:xfrm>
            <a:off x="1733400" y="3710117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s"/>
          <p:cNvSpPr/>
          <p:nvPr/>
        </p:nvSpPr>
        <p:spPr>
          <a:xfrm>
            <a:off x="1250601" y="3710117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s"/>
          <p:cNvSpPr/>
          <p:nvPr/>
        </p:nvSpPr>
        <p:spPr>
          <a:xfrm>
            <a:off x="1009200" y="329200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s"/>
          <p:cNvSpPr/>
          <p:nvPr/>
        </p:nvSpPr>
        <p:spPr>
          <a:xfrm>
            <a:off x="1250600" y="2873883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s"/>
          <p:cNvSpPr/>
          <p:nvPr/>
        </p:nvSpPr>
        <p:spPr>
          <a:xfrm>
            <a:off x="1733400" y="2873883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s"/>
          <p:cNvSpPr/>
          <p:nvPr/>
        </p:nvSpPr>
        <p:spPr>
          <a:xfrm>
            <a:off x="1460000" y="3260000"/>
            <a:ext cx="140000" cy="140000"/>
          </a:xfrm>
          <a:prstGeom prst="ellipse">
            <a:avLst/>
          </a:prstGeom>
          <a:solidFill>
            <a:srgbClr val="f5c542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72" name="t"/>
          <p:cNvSpPr txBox="1"/>
          <p:nvPr/>
        </p:nvSpPr>
        <p:spPr>
          <a:xfrm>
            <a:off x="2550000" y="2560000"/>
            <a:ext cx="90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500" b="1" i="0" dirty="0">
                <a:solidFill>
                  <a:srgbClr val="f5c542"/>
                </a:solidFill>
                <a:latin typeface="Tahoma"/>
                <a:cs typeface="Tahoma"/>
              </a:rPr>
              <a:t>Concept Paper</a:t>
            </a:r>
          </a:p>
        </p:txBody>
      </p:sp>
      <p:sp>
        <p:nvSpPr>
          <p:cNvPr id="73" name="t"/>
          <p:cNvSpPr txBox="1"/>
          <p:nvPr/>
        </p:nvSpPr>
        <p:spPr>
          <a:xfrm>
            <a:off x="2550000" y="2960000"/>
            <a:ext cx="9000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4000" b="1" i="0" dirty="0">
                <a:solidFill>
                  <a:srgbClr val="e5edff"/>
                </a:solidFill>
                <a:latin typeface="Tahoma"/>
                <a:cs typeface="Tahoma"/>
              </a:rPr>
              <a:t>LIKA Nexus</a:t>
            </a:r>
          </a:p>
        </p:txBody>
      </p:sp>
      <p:sp>
        <p:nvSpPr>
          <p:cNvPr id="74" name="t"/>
          <p:cNvSpPr txBox="1"/>
          <p:nvPr/>
        </p:nvSpPr>
        <p:spPr>
          <a:xfrm>
            <a:off x="2550000" y="3760000"/>
            <a:ext cx="900000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0" i="0" dirty="0">
                <a:solidFill>
                  <a:srgbClr val="22d3ee"/>
                </a:solidFill>
                <a:latin typeface="Tahoma"/>
                <a:cs typeface="Tahoma"/>
              </a:rPr>
              <a:t>ระบบผู้ช่วยทบทวนวรรณกรรมและจัดการความรู้งานวิจัย · ห้องสมุดวิทยาเขตกาญจนบุรี</a:t>
            </a:r>
          </a:p>
        </p:txBody>
      </p:sp>
      <p:sp>
        <p:nvSpPr>
          <p:cNvPr id="75" name="s"/>
          <p:cNvSpPr/>
          <p:nvPr/>
        </p:nvSpPr>
        <p:spPr>
          <a:xfrm>
            <a:off x="820000" y="4600000"/>
            <a:ext cx="1960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5c542"/>
            </a:solidFill>
          </a:ln>
        </p:spPr>
        <p:txBody>
          <a:bodyPr/>
          <a:lstStyle/>
          <a:p/>
        </p:txBody>
      </p:sp>
      <p:sp>
        <p:nvSpPr>
          <p:cNvPr id="76" name="t"/>
          <p:cNvSpPr txBox="1"/>
          <p:nvPr/>
        </p:nvSpPr>
        <p:spPr>
          <a:xfrm>
            <a:off x="820000" y="4594000"/>
            <a:ext cx="1960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f5c542"/>
                </a:solidFill>
                <a:latin typeface="Tahoma"/>
                <a:cs typeface="Tahoma"/>
              </a:rPr>
              <a:t>Research &amp; Innovation</a:t>
            </a:r>
          </a:p>
        </p:txBody>
      </p:sp>
      <p:sp>
        <p:nvSpPr>
          <p:cNvPr id="77" name="s"/>
          <p:cNvSpPr/>
          <p:nvPr/>
        </p:nvSpPr>
        <p:spPr>
          <a:xfrm>
            <a:off x="2930000" y="4600000"/>
            <a:ext cx="1480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2d3ee"/>
            </a:solidFill>
          </a:ln>
        </p:spPr>
        <p:txBody>
          <a:bodyPr/>
          <a:lstStyle/>
          <a:p/>
        </p:txBody>
      </p:sp>
      <p:sp>
        <p:nvSpPr>
          <p:cNvPr id="78" name="t"/>
          <p:cNvSpPr txBox="1"/>
          <p:nvPr/>
        </p:nvSpPr>
        <p:spPr>
          <a:xfrm>
            <a:off x="2930000" y="4594000"/>
            <a:ext cx="1480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22d3ee"/>
                </a:solidFill>
                <a:latin typeface="Tahoma"/>
                <a:cs typeface="Tahoma"/>
              </a:rPr>
              <a:t>Powered by Kiro</a:t>
            </a:r>
          </a:p>
        </p:txBody>
      </p:sp>
      <p:sp>
        <p:nvSpPr>
          <p:cNvPr id="79" name="s"/>
          <p:cNvSpPr/>
          <p:nvPr/>
        </p:nvSpPr>
        <p:spPr>
          <a:xfrm>
            <a:off x="4560000" y="4600000"/>
            <a:ext cx="1320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80" name="t"/>
          <p:cNvSpPr txBox="1"/>
          <p:nvPr/>
        </p:nvSpPr>
        <p:spPr>
          <a:xfrm>
            <a:off x="4560000" y="4594000"/>
            <a:ext cx="1320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34d399"/>
                </a:solidFill>
                <a:latin typeface="Tahoma"/>
                <a:cs typeface="Tahoma"/>
              </a:rPr>
              <a:t>Privacy-first</a:t>
            </a:r>
          </a:p>
        </p:txBody>
      </p:sp>
      <p:sp>
        <p:nvSpPr>
          <p:cNvPr id="81" name="s"/>
          <p:cNvSpPr/>
          <p:nvPr/>
        </p:nvSpPr>
        <p:spPr>
          <a:xfrm>
            <a:off x="6030000" y="4600000"/>
            <a:ext cx="1160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82" name="t"/>
          <p:cNvSpPr txBox="1"/>
          <p:nvPr/>
        </p:nvSpPr>
        <p:spPr>
          <a:xfrm>
            <a:off x="6030000" y="4594000"/>
            <a:ext cx="1160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a78bfa"/>
                </a:solidFill>
                <a:latin typeface="Tahoma"/>
                <a:cs typeface="Tahoma"/>
              </a:rPr>
              <a:t>22 สาขาวิชา</a:t>
            </a:r>
          </a:p>
        </p:txBody>
      </p:sp>
      <p:sp>
        <p:nvSpPr>
          <p:cNvPr id="83" name="t"/>
          <p:cNvSpPr txBox="1"/>
          <p:nvPr/>
        </p:nvSpPr>
        <p:spPr>
          <a:xfrm>
            <a:off x="820000" y="5750000"/>
            <a:ext cx="106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00" b="1" i="0" dirty="0">
                <a:solidFill>
                  <a:srgbClr val="9fb3d1"/>
                </a:solidFill>
                <a:latin typeface="Tahoma"/>
                <a:cs typeface="Tahoma"/>
              </a:rPr>
              <a:t>เสนอต่อ: </a:t>
            </a:r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Mahidol AI Community 2026 — การพิจารณาผลงานรอบที่ 1 (Technical Review)</a:t>
            </a:r>
          </a:p>
        </p:txBody>
      </p:sp>
      <p:sp>
        <p:nvSpPr>
          <p:cNvPr id="84" name="t"/>
          <p:cNvSpPr txBox="1"/>
          <p:nvPr/>
        </p:nvSpPr>
        <p:spPr>
          <a:xfrm>
            <a:off x="820000" y="6120000"/>
            <a:ext cx="106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00" b="1" i="0" dirty="0">
                <a:solidFill>
                  <a:srgbClr val="f5c542"/>
                </a:solidFill>
                <a:latin typeface="Tahoma"/>
                <a:cs typeface="Tahoma"/>
              </a:rPr>
              <a:t>Demo: </a:t>
            </a:r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https://tinyurl.com/lika-nexus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t"/>
          <p:cNvSpPr txBox="1"/>
          <p:nvPr/>
        </p:nvSpPr>
        <p:spPr>
          <a:xfrm>
            <a:off x="760000" y="450000"/>
            <a:ext cx="92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EXECUTIVE SUMMARY</a:t>
            </a:r>
          </a:p>
        </p:txBody>
      </p:sp>
      <p:sp>
        <p:nvSpPr>
          <p:cNvPr id="87" name="t"/>
          <p:cNvSpPr txBox="1"/>
          <p:nvPr/>
        </p:nvSpPr>
        <p:spPr>
          <a:xfrm>
            <a:off x="760000" y="790000"/>
            <a:ext cx="96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600" b="1" i="0" dirty="0">
                <a:solidFill>
                  <a:srgbClr val="e5edff"/>
                </a:solidFill>
                <a:latin typeface="Tahoma"/>
                <a:cs typeface="Tahoma"/>
              </a:rPr>
              <a:t>บทสรุปผู้บริหาร</a:t>
            </a:r>
          </a:p>
        </p:txBody>
      </p:sp>
      <p:sp>
        <p:nvSpPr>
          <p:cNvPr id="88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2/10</a:t>
            </a:r>
          </a:p>
        </p:txBody>
      </p:sp>
      <p:sp>
        <p:nvSpPr>
          <p:cNvPr id="89" name="s"/>
          <p:cNvSpPr/>
          <p:nvPr/>
        </p:nvSpPr>
        <p:spPr>
          <a:xfrm>
            <a:off x="760000" y="1950000"/>
            <a:ext cx="6400000" cy="375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1270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90" name="t"/>
          <p:cNvSpPr txBox="1"/>
          <p:nvPr/>
        </p:nvSpPr>
        <p:spPr>
          <a:xfrm>
            <a:off x="1000000" y="2120000"/>
            <a:ext cx="6000000" cy="1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0" i="0" dirty="0">
                <a:solidFill>
                  <a:srgbClr val="e5edff"/>
                </a:solidFill>
                <a:latin typeface="Tahoma"/>
                <a:cs typeface="Tahoma"/>
              </a:rPr>
              <a:t>LIKA Nexus เป็นเว็บแอปพลิเคชันผู้ช่วยทบทวนวรรณกรรม</a:t>
            </a:r>
          </a:p>
          <a:p>
            <a:pPr algn="l"/>
            <a:r>
              <a:rPr lang="th-TH" sz="1300" b="0" i="0" dirty="0">
                <a:solidFill>
                  <a:srgbClr val="e5edff"/>
                </a:solidFill>
                <a:latin typeface="Tahoma"/>
                <a:cs typeface="Tahoma"/>
              </a:rPr>
              <a:t>ที่นำไฟล์งานวิจัยหลายฉบับเข้ามาสกัดประเด็นสำคัญโดยอัตโนมัติ</a:t>
            </a:r>
          </a:p>
          <a:p>
            <a:pPr algn="l"/>
            <a:r>
              <a:rPr lang="th-TH" sz="1300" b="0" i="0" dirty="0">
                <a:solidFill>
                  <a:srgbClr val="e5edff"/>
                </a:solidFill>
                <a:latin typeface="Tahoma"/>
                <a:cs typeface="Tahoma"/>
              </a:rPr>
              <a:t>จัดทำตารางเปรียบเทียบระเบียบวิธีวิจัย กราฟความรู้ 3 มิติ</a:t>
            </a:r>
          </a:p>
          <a:p>
            <a:pPr algn="l"/>
            <a:r>
              <a:rPr lang="th-TH" sz="1300" b="0" i="0" dirty="0">
                <a:solidFill>
                  <a:srgbClr val="e5edff"/>
                </a:solidFill>
                <a:latin typeface="Tahoma"/>
                <a:cs typeface="Tahoma"/>
              </a:rPr>
              <a:t>และร่างบททบทวนวรรณกรรมพร้อมการอ้างอิง เพื่อลดระยะเวลา</a:t>
            </a:r>
          </a:p>
          <a:p>
            <a:pPr algn="l"/>
            <a:r>
              <a:rPr lang="th-TH" sz="1300" b="0" i="0" dirty="0">
                <a:solidFill>
                  <a:srgbClr val="e5edff"/>
                </a:solidFill>
                <a:latin typeface="Tahoma"/>
                <a:cs typeface="Tahoma"/>
              </a:rPr>
              <a:t>การทำ Literature Review จากหลายวันเหลือเพียงไม่กี่นาที</a:t>
            </a:r>
          </a:p>
        </p:txBody>
      </p:sp>
      <p:sp>
        <p:nvSpPr>
          <p:cNvPr id="91" name="t"/>
          <p:cNvSpPr txBox="1"/>
          <p:nvPr/>
        </p:nvSpPr>
        <p:spPr>
          <a:xfrm>
            <a:off x="1000000" y="4150000"/>
            <a:ext cx="6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ประมวลผลภายในเบราว์เซอร์ทั้งหมด (Privacy-first)</a:t>
            </a:r>
          </a:p>
        </p:txBody>
      </p:sp>
      <p:sp>
        <p:nvSpPr>
          <p:cNvPr id="92" name="t"/>
          <p:cNvSpPr txBox="1"/>
          <p:nvPr/>
        </p:nvSpPr>
        <p:spPr>
          <a:xfrm>
            <a:off x="1000000" y="4520000"/>
            <a:ext cx="6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พัฒนาด้วย Kiro แบบ Spec-driven · ใช้งานได้จริงแล้ว</a:t>
            </a:r>
          </a:p>
        </p:txBody>
      </p:sp>
      <p:sp>
        <p:nvSpPr>
          <p:cNvPr id="93" name="t"/>
          <p:cNvSpPr txBox="1"/>
          <p:nvPr/>
        </p:nvSpPr>
        <p:spPr>
          <a:xfrm>
            <a:off x="7450000" y="1980000"/>
            <a:ext cx="40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หัวข้อในเอกสาร</a:t>
            </a:r>
          </a:p>
        </p:txBody>
      </p:sp>
      <p:sp>
        <p:nvSpPr>
          <p:cNvPr id="94" name="s"/>
          <p:cNvSpPr/>
          <p:nvPr/>
        </p:nvSpPr>
        <p:spPr>
          <a:xfrm>
            <a:off x="7450000" y="2420000"/>
            <a:ext cx="4050000" cy="38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t"/>
          <p:cNvSpPr txBox="1"/>
          <p:nvPr/>
        </p:nvSpPr>
        <p:spPr>
          <a:xfrm>
            <a:off x="7620000" y="2440000"/>
            <a:ext cx="38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1  ปัญหา (Problem)</a:t>
            </a:r>
          </a:p>
        </p:txBody>
      </p:sp>
      <p:sp>
        <p:nvSpPr>
          <p:cNvPr id="96" name="s"/>
          <p:cNvSpPr/>
          <p:nvPr/>
        </p:nvSpPr>
        <p:spPr>
          <a:xfrm>
            <a:off x="7450000" y="2860000"/>
            <a:ext cx="4050000" cy="38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t"/>
          <p:cNvSpPr txBox="1"/>
          <p:nvPr/>
        </p:nvSpPr>
        <p:spPr>
          <a:xfrm>
            <a:off x="7620000" y="2880000"/>
            <a:ext cx="38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2  แนวคิดและวัตถุประสงค์</a:t>
            </a:r>
          </a:p>
        </p:txBody>
      </p:sp>
      <p:sp>
        <p:nvSpPr>
          <p:cNvPr id="98" name="s"/>
          <p:cNvSpPr/>
          <p:nvPr/>
        </p:nvSpPr>
        <p:spPr>
          <a:xfrm>
            <a:off x="7450000" y="3300000"/>
            <a:ext cx="4050000" cy="38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t"/>
          <p:cNvSpPr txBox="1"/>
          <p:nvPr/>
        </p:nvSpPr>
        <p:spPr>
          <a:xfrm>
            <a:off x="7620000" y="3320000"/>
            <a:ext cx="38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3  กลุ่มผู้ใช้ / ผู้ได้รับประโยชน์</a:t>
            </a:r>
          </a:p>
        </p:txBody>
      </p:sp>
      <p:sp>
        <p:nvSpPr>
          <p:cNvPr id="100" name="s"/>
          <p:cNvSpPr/>
          <p:nvPr/>
        </p:nvSpPr>
        <p:spPr>
          <a:xfrm>
            <a:off x="7450000" y="3740000"/>
            <a:ext cx="4050000" cy="38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t"/>
          <p:cNvSpPr txBox="1"/>
          <p:nvPr/>
        </p:nvSpPr>
        <p:spPr>
          <a:xfrm>
            <a:off x="7620000" y="3760000"/>
            <a:ext cx="38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4  การประยุกต์ใช้ AI</a:t>
            </a:r>
          </a:p>
        </p:txBody>
      </p:sp>
      <p:sp>
        <p:nvSpPr>
          <p:cNvPr id="102" name="s"/>
          <p:cNvSpPr/>
          <p:nvPr/>
        </p:nvSpPr>
        <p:spPr>
          <a:xfrm>
            <a:off x="7450000" y="4180000"/>
            <a:ext cx="4050000" cy="38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t"/>
          <p:cNvSpPr txBox="1"/>
          <p:nvPr/>
        </p:nvSpPr>
        <p:spPr>
          <a:xfrm>
            <a:off x="7620000" y="4200000"/>
            <a:ext cx="38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5  การประยุกต์ใช้ Kiro</a:t>
            </a:r>
          </a:p>
        </p:txBody>
      </p:sp>
      <p:sp>
        <p:nvSpPr>
          <p:cNvPr id="104" name="s"/>
          <p:cNvSpPr/>
          <p:nvPr/>
        </p:nvSpPr>
        <p:spPr>
          <a:xfrm>
            <a:off x="7450000" y="4620000"/>
            <a:ext cx="4050000" cy="38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t"/>
          <p:cNvSpPr txBox="1"/>
          <p:nvPr/>
        </p:nvSpPr>
        <p:spPr>
          <a:xfrm>
            <a:off x="7620000" y="4640000"/>
            <a:ext cx="38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6  ต้นแบบ (Prototype)</a:t>
            </a:r>
          </a:p>
        </p:txBody>
      </p:sp>
      <p:sp>
        <p:nvSpPr>
          <p:cNvPr id="106" name="s"/>
          <p:cNvSpPr/>
          <p:nvPr/>
        </p:nvSpPr>
        <p:spPr>
          <a:xfrm>
            <a:off x="7450000" y="5060000"/>
            <a:ext cx="4050000" cy="38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t"/>
          <p:cNvSpPr txBox="1"/>
          <p:nvPr/>
        </p:nvSpPr>
        <p:spPr>
          <a:xfrm>
            <a:off x="7620000" y="5080000"/>
            <a:ext cx="38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7  คุณค่า &amp; โอกาสใช้งานจริง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t"/>
          <p:cNvSpPr txBox="1"/>
          <p:nvPr/>
        </p:nvSpPr>
        <p:spPr>
          <a:xfrm>
            <a:off x="760000" y="450000"/>
            <a:ext cx="92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① ปัญหา (PROBLEM)</a:t>
            </a:r>
          </a:p>
        </p:txBody>
      </p:sp>
      <p:sp>
        <p:nvSpPr>
          <p:cNvPr id="110" name="t"/>
          <p:cNvSpPr txBox="1"/>
          <p:nvPr/>
        </p:nvSpPr>
        <p:spPr>
          <a:xfrm>
            <a:off x="760000" y="790000"/>
            <a:ext cx="96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600" b="1" i="0" dirty="0">
                <a:solidFill>
                  <a:srgbClr val="e5edff"/>
                </a:solidFill>
                <a:latin typeface="Tahoma"/>
                <a:cs typeface="Tahoma"/>
              </a:rPr>
              <a:t>การทบทวนวรรณกรรมใช้เวลาและทรัพยากรสูง</a:t>
            </a:r>
          </a:p>
        </p:txBody>
      </p:sp>
      <p:sp>
        <p:nvSpPr>
          <p:cNvPr id="111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3/10</a:t>
            </a:r>
          </a:p>
        </p:txBody>
      </p:sp>
      <p:sp>
        <p:nvSpPr>
          <p:cNvPr id="112" name="s"/>
          <p:cNvSpPr/>
          <p:nvPr/>
        </p:nvSpPr>
        <p:spPr>
          <a:xfrm>
            <a:off x="10050000" y="2000000"/>
            <a:ext cx="1300000" cy="1300000"/>
          </a:xfrm>
          <a:prstGeom prst="ellipse">
            <a:avLst/>
          </a:prstGeom>
          <a:solidFill>
            <a:srgbClr val="0b1a3a"/>
          </a:solidFill>
          <a:ln w="19050">
            <a:solidFill>
              <a:srgbClr val="f87171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13" name="t"/>
          <p:cNvSpPr txBox="1"/>
          <p:nvPr/>
        </p:nvSpPr>
        <p:spPr>
          <a:xfrm>
            <a:off x="10050000" y="2000000"/>
            <a:ext cx="1300000" cy="13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800" b="0" i="0" dirty="0">
                <a:solidFill>
                  <a:srgbClr val="f5c542"/>
                </a:solidFill>
                <a:latin typeface="Tahoma"/>
                <a:cs typeface="Tahoma"/>
              </a:rPr>
              <a:t>⏳</a:t>
            </a:r>
          </a:p>
        </p:txBody>
      </p:sp>
      <p:sp>
        <p:nvSpPr>
          <p:cNvPr id="114" name="t"/>
          <p:cNvSpPr txBox="1"/>
          <p:nvPr/>
        </p:nvSpPr>
        <p:spPr>
          <a:xfrm>
            <a:off x="760000" y="2050000"/>
            <a:ext cx="89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350" b="0" i="0" dirty="0">
                <a:solidFill>
                  <a:srgbClr val="e5edff"/>
                </a:solidFill>
                <a:latin typeface="Tahoma"/>
                <a:cs typeface="Tahoma"/>
              </a:rPr>
              <a:t>การทบทวนวรรณกรรมต้องอ่านเอกสารจำนวนมากทีละฉบับ ใช้เวลาหลายวันถึงหลายสัปดาห์</a:t>
            </a:r>
          </a:p>
        </p:txBody>
      </p:sp>
      <p:sp>
        <p:nvSpPr>
          <p:cNvPr id="115" name="t"/>
          <p:cNvSpPr txBox="1"/>
          <p:nvPr/>
        </p:nvSpPr>
        <p:spPr>
          <a:xfrm>
            <a:off x="760000" y="2670000"/>
            <a:ext cx="89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350" b="0" i="0" dirty="0">
                <a:solidFill>
                  <a:srgbClr val="e5edff"/>
                </a:solidFill>
                <a:latin typeface="Tahoma"/>
                <a:cs typeface="Tahoma"/>
              </a:rPr>
              <a:t>สาขาวิทยาศาสตร์และการแพทย์มีปริมาณงานวิจัยเพิ่มขึ้นอย่างรวดเร็วและต่อเนื่อง</a:t>
            </a:r>
          </a:p>
        </p:txBody>
      </p:sp>
      <p:sp>
        <p:nvSpPr>
          <p:cNvPr id="116" name="t"/>
          <p:cNvSpPr txBox="1"/>
          <p:nvPr/>
        </p:nvSpPr>
        <p:spPr>
          <a:xfrm>
            <a:off x="760000" y="3290000"/>
            <a:ext cx="89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350" b="0" i="0" dirty="0">
                <a:solidFill>
                  <a:srgbClr val="e5edff"/>
                </a:solidFill>
                <a:latin typeface="Tahoma"/>
                <a:cs typeface="Tahoma"/>
              </a:rPr>
              <a:t>ผู้วิจัยต้องสกัดประเด็น เปรียบเทียบระเบียบวิธี และเรียบเรียงบทความด้วยตนเองทั้งหมด</a:t>
            </a:r>
          </a:p>
        </p:txBody>
      </p:sp>
      <p:sp>
        <p:nvSpPr>
          <p:cNvPr id="117" name="t"/>
          <p:cNvSpPr txBox="1"/>
          <p:nvPr/>
        </p:nvSpPr>
        <p:spPr>
          <a:xfrm>
            <a:off x="760000" y="3910000"/>
            <a:ext cx="89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350" b="0" i="0" dirty="0">
                <a:solidFill>
                  <a:srgbClr val="e5edff"/>
                </a:solidFill>
                <a:latin typeface="Tahoma"/>
                <a:cs typeface="Tahoma"/>
              </a:rPr>
              <a:t>บุคลากรห้องสมุดได้รับคำขอสนับสนุนการสืบค้นจำนวนมากภายใต้ข้อจำกัดด้านเวลา</a:t>
            </a:r>
          </a:p>
        </p:txBody>
      </p:sp>
      <p:sp>
        <p:nvSpPr>
          <p:cNvPr id="118" name="t"/>
          <p:cNvSpPr txBox="1"/>
          <p:nvPr/>
        </p:nvSpPr>
        <p:spPr>
          <a:xfrm>
            <a:off x="760000" y="4530000"/>
            <a:ext cx="89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350" b="0" i="0" dirty="0">
                <a:solidFill>
                  <a:srgbClr val="e5edff"/>
                </a:solidFill>
                <a:latin typeface="Tahoma"/>
                <a:cs typeface="Tahoma"/>
              </a:rPr>
              <a:t>เครื่องมือที่มีอยู่มักมีค่าใช้จ่ายสูง ใช้งานซับซ้อน หรือต้องอัปโหลดเอกสารขึ้นระบบภายนอก</a:t>
            </a:r>
          </a:p>
        </p:txBody>
      </p:sp>
      <p:sp>
        <p:nvSpPr>
          <p:cNvPr id="119" name="s"/>
          <p:cNvSpPr/>
          <p:nvPr/>
        </p:nvSpPr>
        <p:spPr>
          <a:xfrm>
            <a:off x="760000" y="5500000"/>
            <a:ext cx="10700000" cy="760000"/>
          </a:xfrm>
          <a:prstGeom prst="roundRect">
            <a:avLst>
              <a:gd name="adj" fmla="val 14000"/>
            </a:avLst>
          </a:prstGeom>
          <a:noFill/>
          <a:ln w="9525">
            <a:solidFill>
              <a:srgbClr val="fb923c"/>
            </a:solidFill>
          </a:ln>
        </p:spPr>
        <p:txBody>
          <a:bodyPr/>
          <a:lstStyle/>
          <a:p/>
        </p:txBody>
      </p:sp>
      <p:sp>
        <p:nvSpPr>
          <p:cNvPr id="120" name="t"/>
          <p:cNvSpPr txBox="1"/>
          <p:nvPr/>
        </p:nvSpPr>
        <p:spPr>
          <a:xfrm>
            <a:off x="1000000" y="5600000"/>
            <a:ext cx="103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b923c"/>
                </a:solidFill>
                <a:latin typeface="Tahoma"/>
                <a:cs typeface="Tahoma"/>
              </a:rPr>
              <a:t>ผลกระทบ: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ประสิทธิภาพงานวิจัยและงานบริการวิชาการลดลง และมีความเสี่ยงด้านความลับของงานวิจัยที่ยังไม่เผยแพร่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t"/>
          <p:cNvSpPr txBox="1"/>
          <p:nvPr/>
        </p:nvSpPr>
        <p:spPr>
          <a:xfrm>
            <a:off x="760000" y="450000"/>
            <a:ext cx="92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② แนวคิดและวัตถุประสงค์ของ SOLUTION</a:t>
            </a:r>
          </a:p>
        </p:txBody>
      </p:sp>
      <p:sp>
        <p:nvSpPr>
          <p:cNvPr id="123" name="t"/>
          <p:cNvSpPr txBox="1"/>
          <p:nvPr/>
        </p:nvSpPr>
        <p:spPr>
          <a:xfrm>
            <a:off x="760000" y="790000"/>
            <a:ext cx="96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600" b="1" i="0" dirty="0">
                <a:solidFill>
                  <a:srgbClr val="e5edff"/>
                </a:solidFill>
                <a:latin typeface="Tahoma"/>
                <a:cs typeface="Tahoma"/>
              </a:rPr>
              <a:t>แปลงงานทบทวนวรรณกรรมให้เป็นระบบอัตโนมัติ</a:t>
            </a:r>
          </a:p>
        </p:txBody>
      </p:sp>
      <p:sp>
        <p:nvSpPr>
          <p:cNvPr id="124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4/10</a:t>
            </a:r>
          </a:p>
        </p:txBody>
      </p:sp>
      <p:sp>
        <p:nvSpPr>
          <p:cNvPr id="125" name="t"/>
          <p:cNvSpPr txBox="1"/>
          <p:nvPr/>
        </p:nvSpPr>
        <p:spPr>
          <a:xfrm>
            <a:off x="760000" y="1950000"/>
            <a:ext cx="110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แนวคิดหลัก (Concept)</a:t>
            </a:r>
          </a:p>
        </p:txBody>
      </p:sp>
      <p:sp>
        <p:nvSpPr>
          <p:cNvPr id="126" name="s"/>
          <p:cNvSpPr/>
          <p:nvPr/>
        </p:nvSpPr>
        <p:spPr>
          <a:xfrm>
            <a:off x="760000" y="2320000"/>
            <a:ext cx="10700000" cy="76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 w="9525">
            <a:solidFill>
              <a:srgbClr val="22d3ee"/>
            </a:solidFill>
          </a:ln>
        </p:spPr>
        <p:txBody>
          <a:bodyPr/>
          <a:lstStyle/>
          <a:p/>
        </p:txBody>
      </p:sp>
      <p:sp>
        <p:nvSpPr>
          <p:cNvPr id="127" name="t"/>
          <p:cNvSpPr txBox="1"/>
          <p:nvPr/>
        </p:nvSpPr>
        <p:spPr>
          <a:xfrm>
            <a:off x="1000000" y="2420000"/>
            <a:ext cx="10300000" cy="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50" b="0" i="0" dirty="0">
                <a:solidFill>
                  <a:srgbClr val="e5edff"/>
                </a:solidFill>
                <a:latin typeface="Tahoma"/>
                <a:cs typeface="Tahoma"/>
              </a:rPr>
              <a:t>รวบรวม–วิเคราะห์–สังเคราะห์ งานวิจัยหลายฉบับไว้ในระบบเดียว โดยใช้ AI สกัดสาระสำคัญ แล้วนำเสนอผ่านกราฟความรู้ ตารางเปรียบเทียบ และร่างบททบทวนวรรณกรรมที่ปรับแก้ได้</a:t>
            </a:r>
          </a:p>
        </p:txBody>
      </p:sp>
      <p:sp>
        <p:nvSpPr>
          <p:cNvPr id="128" name="t"/>
          <p:cNvSpPr txBox="1"/>
          <p:nvPr/>
        </p:nvSpPr>
        <p:spPr>
          <a:xfrm>
            <a:off x="760000" y="3300000"/>
            <a:ext cx="110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วัตถุประสงค์ (Objectives)</a:t>
            </a:r>
          </a:p>
        </p:txBody>
      </p:sp>
      <p:sp>
        <p:nvSpPr>
          <p:cNvPr id="129" name="s"/>
          <p:cNvSpPr/>
          <p:nvPr/>
        </p:nvSpPr>
        <p:spPr>
          <a:xfrm>
            <a:off x="760000" y="3700000"/>
            <a:ext cx="5300000" cy="92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 w="8000">
            <a:solidFill>
              <a:srgbClr val="f5c542"/>
            </a:solidFill>
          </a:ln>
        </p:spPr>
        <p:txBody>
          <a:bodyPr/>
          <a:lstStyle/>
          <a:p/>
        </p:txBody>
      </p:sp>
      <p:sp>
        <p:nvSpPr>
          <p:cNvPr id="130" name="s"/>
          <p:cNvSpPr/>
          <p:nvPr/>
        </p:nvSpPr>
        <p:spPr>
          <a:xfrm>
            <a:off x="910000" y="3850000"/>
            <a:ext cx="620000" cy="62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31" name="t"/>
          <p:cNvSpPr txBox="1"/>
          <p:nvPr/>
        </p:nvSpPr>
        <p:spPr>
          <a:xfrm>
            <a:off x="910000" y="3850000"/>
            <a:ext cx="620000" cy="62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300" b="0" i="0" dirty="0">
                <a:solidFill>
                  <a:srgbClr val="f5c542"/>
                </a:solidFill>
                <a:latin typeface="Tahoma"/>
                <a:cs typeface="Tahoma"/>
              </a:rPr>
              <a:t>⏱️</a:t>
            </a:r>
          </a:p>
        </p:txBody>
      </p:sp>
      <p:sp>
        <p:nvSpPr>
          <p:cNvPr id="132" name="t"/>
          <p:cNvSpPr txBox="1"/>
          <p:nvPr/>
        </p:nvSpPr>
        <p:spPr>
          <a:xfrm>
            <a:off x="1660000" y="3840000"/>
            <a:ext cx="43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ลดระยะเวลา</a:t>
            </a:r>
          </a:p>
        </p:txBody>
      </p:sp>
      <p:sp>
        <p:nvSpPr>
          <p:cNvPr id="133" name="t"/>
          <p:cNvSpPr txBox="1"/>
          <p:nvPr/>
        </p:nvSpPr>
        <p:spPr>
          <a:xfrm>
            <a:off x="1660000" y="4200000"/>
            <a:ext cx="43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ย่นเวลาทบทวนวรรณกรรมจากหลายวันเหลือไม่กี่นาที</a:t>
            </a:r>
          </a:p>
        </p:txBody>
      </p:sp>
      <p:sp>
        <p:nvSpPr>
          <p:cNvPr id="134" name="s"/>
          <p:cNvSpPr/>
          <p:nvPr/>
        </p:nvSpPr>
        <p:spPr>
          <a:xfrm>
            <a:off x="6310000" y="3700000"/>
            <a:ext cx="5300000" cy="92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 w="8000">
            <a:solidFill>
              <a:srgbClr val="22d3ee"/>
            </a:solidFill>
          </a:ln>
        </p:spPr>
        <p:txBody>
          <a:bodyPr/>
          <a:lstStyle/>
          <a:p/>
        </p:txBody>
      </p:sp>
      <p:sp>
        <p:nvSpPr>
          <p:cNvPr id="135" name="s"/>
          <p:cNvSpPr/>
          <p:nvPr/>
        </p:nvSpPr>
        <p:spPr>
          <a:xfrm>
            <a:off x="6460000" y="3850000"/>
            <a:ext cx="620000" cy="62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36" name="t"/>
          <p:cNvSpPr txBox="1"/>
          <p:nvPr/>
        </p:nvSpPr>
        <p:spPr>
          <a:xfrm>
            <a:off x="6460000" y="3850000"/>
            <a:ext cx="620000" cy="62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300" b="0" i="0" dirty="0">
                <a:solidFill>
                  <a:srgbClr val="f5c542"/>
                </a:solidFill>
                <a:latin typeface="Tahoma"/>
                <a:cs typeface="Tahoma"/>
              </a:rPr>
              <a:t>🧩</a:t>
            </a:r>
          </a:p>
        </p:txBody>
      </p:sp>
      <p:sp>
        <p:nvSpPr>
          <p:cNvPr id="137" name="t"/>
          <p:cNvSpPr txBox="1"/>
          <p:nvPr/>
        </p:nvSpPr>
        <p:spPr>
          <a:xfrm>
            <a:off x="7210000" y="3840000"/>
            <a:ext cx="43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เพิ่มคุณภาพ</a:t>
            </a:r>
          </a:p>
        </p:txBody>
      </p:sp>
      <p:sp>
        <p:nvSpPr>
          <p:cNvPr id="138" name="t"/>
          <p:cNvSpPr txBox="1"/>
          <p:nvPr/>
        </p:nvSpPr>
        <p:spPr>
          <a:xfrm>
            <a:off x="7210000" y="4200000"/>
            <a:ext cx="43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เปรียบเทียบระเบียบวิธีอย่างเป็นระบบ 5 ประเด็น</a:t>
            </a:r>
          </a:p>
        </p:txBody>
      </p:sp>
      <p:sp>
        <p:nvSpPr>
          <p:cNvPr id="139" name="s"/>
          <p:cNvSpPr/>
          <p:nvPr/>
        </p:nvSpPr>
        <p:spPr>
          <a:xfrm>
            <a:off x="760000" y="4730000"/>
            <a:ext cx="5300000" cy="92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 w="8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140" name="s"/>
          <p:cNvSpPr/>
          <p:nvPr/>
        </p:nvSpPr>
        <p:spPr>
          <a:xfrm>
            <a:off x="910000" y="4880000"/>
            <a:ext cx="620000" cy="62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41" name="t"/>
          <p:cNvSpPr txBox="1"/>
          <p:nvPr/>
        </p:nvSpPr>
        <p:spPr>
          <a:xfrm>
            <a:off x="910000" y="4880000"/>
            <a:ext cx="620000" cy="62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300" b="0" i="0" dirty="0">
                <a:solidFill>
                  <a:srgbClr val="f5c542"/>
                </a:solidFill>
                <a:latin typeface="Tahoma"/>
                <a:cs typeface="Tahoma"/>
              </a:rPr>
              <a:t>🔐</a:t>
            </a:r>
          </a:p>
        </p:txBody>
      </p:sp>
      <p:sp>
        <p:nvSpPr>
          <p:cNvPr id="142" name="t"/>
          <p:cNvSpPr txBox="1"/>
          <p:nvPr/>
        </p:nvSpPr>
        <p:spPr>
          <a:xfrm>
            <a:off x="1660000" y="4870000"/>
            <a:ext cx="43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34d399"/>
                </a:solidFill>
                <a:latin typeface="Tahoma"/>
                <a:cs typeface="Tahoma"/>
              </a:rPr>
              <a:t>รักษาความลับ</a:t>
            </a:r>
          </a:p>
        </p:txBody>
      </p:sp>
      <p:sp>
        <p:nvSpPr>
          <p:cNvPr id="143" name="t"/>
          <p:cNvSpPr txBox="1"/>
          <p:nvPr/>
        </p:nvSpPr>
        <p:spPr>
          <a:xfrm>
            <a:off x="1660000" y="5230000"/>
            <a:ext cx="43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ประมวลผลในเบราว์เซอร์ ไม่ส่งไฟล์ออกภายนอก</a:t>
            </a:r>
          </a:p>
        </p:txBody>
      </p:sp>
      <p:sp>
        <p:nvSpPr>
          <p:cNvPr id="144" name="s"/>
          <p:cNvSpPr/>
          <p:nvPr/>
        </p:nvSpPr>
        <p:spPr>
          <a:xfrm>
            <a:off x="6310000" y="4730000"/>
            <a:ext cx="5300000" cy="92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 w="8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145" name="s"/>
          <p:cNvSpPr/>
          <p:nvPr/>
        </p:nvSpPr>
        <p:spPr>
          <a:xfrm>
            <a:off x="6460000" y="4880000"/>
            <a:ext cx="620000" cy="62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46" name="t"/>
          <p:cNvSpPr txBox="1"/>
          <p:nvPr/>
        </p:nvSpPr>
        <p:spPr>
          <a:xfrm>
            <a:off x="6460000" y="4880000"/>
            <a:ext cx="620000" cy="62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300" b="0" i="0" dirty="0">
                <a:solidFill>
                  <a:srgbClr val="f5c542"/>
                </a:solidFill>
                <a:latin typeface="Tahoma"/>
                <a:cs typeface="Tahoma"/>
              </a:rPr>
              <a:t>📚</a:t>
            </a:r>
          </a:p>
        </p:txBody>
      </p:sp>
      <p:sp>
        <p:nvSpPr>
          <p:cNvPr id="147" name="t"/>
          <p:cNvSpPr txBox="1"/>
          <p:nvPr/>
        </p:nvSpPr>
        <p:spPr>
          <a:xfrm>
            <a:off x="7210000" y="4870000"/>
            <a:ext cx="43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a78bfa"/>
                </a:solidFill>
                <a:latin typeface="Tahoma"/>
                <a:cs typeface="Tahoma"/>
              </a:rPr>
              <a:t>ครอบคลุม</a:t>
            </a:r>
          </a:p>
        </p:txBody>
      </p:sp>
      <p:sp>
        <p:nvSpPr>
          <p:cNvPr id="148" name="t"/>
          <p:cNvSpPr txBox="1"/>
          <p:nvPr/>
        </p:nvSpPr>
        <p:spPr>
          <a:xfrm>
            <a:off x="7210000" y="5230000"/>
            <a:ext cx="43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รองรับงานวิจัย 22 สาขา ทั้งวิทย์-สังคม-มนุษยศาสตร์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t"/>
          <p:cNvSpPr txBox="1"/>
          <p:nvPr/>
        </p:nvSpPr>
        <p:spPr>
          <a:xfrm>
            <a:off x="760000" y="450000"/>
            <a:ext cx="92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③ กลุ่มผู้ใช้ / ผู้ได้รับประโยชน์</a:t>
            </a:r>
          </a:p>
        </p:txBody>
      </p:sp>
      <p:sp>
        <p:nvSpPr>
          <p:cNvPr id="151" name="t"/>
          <p:cNvSpPr txBox="1"/>
          <p:nvPr/>
        </p:nvSpPr>
        <p:spPr>
          <a:xfrm>
            <a:off x="760000" y="790000"/>
            <a:ext cx="96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600" b="1" i="0" dirty="0">
                <a:solidFill>
                  <a:srgbClr val="e5edff"/>
                </a:solidFill>
                <a:latin typeface="Tahoma"/>
                <a:cs typeface="Tahoma"/>
              </a:rPr>
              <a:t>ออกแบบเพื่อประชาคมวิจัย MUKA</a:t>
            </a:r>
          </a:p>
        </p:txBody>
      </p:sp>
      <p:sp>
        <p:nvSpPr>
          <p:cNvPr id="152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5/10</a:t>
            </a:r>
          </a:p>
        </p:txBody>
      </p:sp>
      <p:sp>
        <p:nvSpPr>
          <p:cNvPr id="153" name="s"/>
          <p:cNvSpPr/>
          <p:nvPr/>
        </p:nvSpPr>
        <p:spPr>
          <a:xfrm>
            <a:off x="760000" y="2000000"/>
            <a:ext cx="5300000" cy="145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54" name="s"/>
          <p:cNvSpPr/>
          <p:nvPr/>
        </p:nvSpPr>
        <p:spPr>
          <a:xfrm>
            <a:off x="940000" y="2250000"/>
            <a:ext cx="940000" cy="94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55" name="t"/>
          <p:cNvSpPr txBox="1"/>
          <p:nvPr/>
        </p:nvSpPr>
        <p:spPr>
          <a:xfrm>
            <a:off x="940000" y="2250000"/>
            <a:ext cx="940000" cy="9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0" i="0" dirty="0">
                <a:solidFill>
                  <a:srgbClr val="f5c542"/>
                </a:solidFill>
                <a:latin typeface="Tahoma"/>
                <a:cs typeface="Tahoma"/>
              </a:rPr>
              <a:t>👩‍🏫</a:t>
            </a:r>
          </a:p>
        </p:txBody>
      </p:sp>
      <p:sp>
        <p:nvSpPr>
          <p:cNvPr id="156" name="t"/>
          <p:cNvSpPr txBox="1"/>
          <p:nvPr/>
        </p:nvSpPr>
        <p:spPr>
          <a:xfrm>
            <a:off x="2060000" y="2230000"/>
            <a:ext cx="3900000" cy="4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400" b="1" i="0" dirty="0">
                <a:solidFill>
                  <a:srgbClr val="f5c542"/>
                </a:solidFill>
                <a:latin typeface="Tahoma"/>
                <a:cs typeface="Tahoma"/>
              </a:rPr>
              <a:t>อาจารย์ / นักวิจัย</a:t>
            </a:r>
          </a:p>
        </p:txBody>
      </p:sp>
      <p:sp>
        <p:nvSpPr>
          <p:cNvPr id="157" name="t"/>
          <p:cNvSpPr txBox="1"/>
          <p:nvPr/>
        </p:nvSpPr>
        <p:spPr>
          <a:xfrm>
            <a:off x="2060000" y="2660000"/>
            <a:ext cx="39000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จัดทำร่างบททบทวนวรรณกรรมตั้งต้นและเปรียบเทียบระเบียบวิธีได้รวดเร็ว</a:t>
            </a:r>
          </a:p>
        </p:txBody>
      </p:sp>
      <p:sp>
        <p:nvSpPr>
          <p:cNvPr id="158" name="s"/>
          <p:cNvSpPr/>
          <p:nvPr/>
        </p:nvSpPr>
        <p:spPr>
          <a:xfrm>
            <a:off x="6310000" y="2000000"/>
            <a:ext cx="5300000" cy="145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59" name="s"/>
          <p:cNvSpPr/>
          <p:nvPr/>
        </p:nvSpPr>
        <p:spPr>
          <a:xfrm>
            <a:off x="6490000" y="2250000"/>
            <a:ext cx="940000" cy="94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60" name="t"/>
          <p:cNvSpPr txBox="1"/>
          <p:nvPr/>
        </p:nvSpPr>
        <p:spPr>
          <a:xfrm>
            <a:off x="6490000" y="2250000"/>
            <a:ext cx="940000" cy="9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0" i="0" dirty="0">
                <a:solidFill>
                  <a:srgbClr val="f5c542"/>
                </a:solidFill>
                <a:latin typeface="Tahoma"/>
                <a:cs typeface="Tahoma"/>
              </a:rPr>
              <a:t>🧑‍💼</a:t>
            </a:r>
          </a:p>
        </p:txBody>
      </p:sp>
      <p:sp>
        <p:nvSpPr>
          <p:cNvPr id="161" name="t"/>
          <p:cNvSpPr txBox="1"/>
          <p:nvPr/>
        </p:nvSpPr>
        <p:spPr>
          <a:xfrm>
            <a:off x="7610000" y="2230000"/>
            <a:ext cx="3900000" cy="4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400" b="1" i="0" dirty="0">
                <a:solidFill>
                  <a:srgbClr val="22d3ee"/>
                </a:solidFill>
                <a:latin typeface="Tahoma"/>
                <a:cs typeface="Tahoma"/>
              </a:rPr>
              <a:t>บุคลากร / บรรณารักษ์</a:t>
            </a:r>
          </a:p>
        </p:txBody>
      </p:sp>
      <p:sp>
        <p:nvSpPr>
          <p:cNvPr id="162" name="t"/>
          <p:cNvSpPr txBox="1"/>
          <p:nvPr/>
        </p:nvSpPr>
        <p:spPr>
          <a:xfrm>
            <a:off x="7610000" y="2660000"/>
            <a:ext cx="39000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ให้บริการสนับสนุนงานวิจัยได้มีประสิทธิภาพ พร้อมจัดเก็บสถิติการใช้บริการ</a:t>
            </a:r>
          </a:p>
        </p:txBody>
      </p:sp>
      <p:sp>
        <p:nvSpPr>
          <p:cNvPr id="163" name="s"/>
          <p:cNvSpPr/>
          <p:nvPr/>
        </p:nvSpPr>
        <p:spPr>
          <a:xfrm>
            <a:off x="760000" y="3620000"/>
            <a:ext cx="5300000" cy="145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64" name="s"/>
          <p:cNvSpPr/>
          <p:nvPr/>
        </p:nvSpPr>
        <p:spPr>
          <a:xfrm>
            <a:off x="940000" y="3870000"/>
            <a:ext cx="940000" cy="94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65" name="t"/>
          <p:cNvSpPr txBox="1"/>
          <p:nvPr/>
        </p:nvSpPr>
        <p:spPr>
          <a:xfrm>
            <a:off x="940000" y="3870000"/>
            <a:ext cx="940000" cy="9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0" i="0" dirty="0">
                <a:solidFill>
                  <a:srgbClr val="f5c542"/>
                </a:solidFill>
                <a:latin typeface="Tahoma"/>
                <a:cs typeface="Tahoma"/>
              </a:rPr>
              <a:t>🧑‍🎓</a:t>
            </a:r>
          </a:p>
        </p:txBody>
      </p:sp>
      <p:sp>
        <p:nvSpPr>
          <p:cNvPr id="166" name="t"/>
          <p:cNvSpPr txBox="1"/>
          <p:nvPr/>
        </p:nvSpPr>
        <p:spPr>
          <a:xfrm>
            <a:off x="2060000" y="3850000"/>
            <a:ext cx="3900000" cy="4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400" b="1" i="0" dirty="0">
                <a:solidFill>
                  <a:srgbClr val="34d399"/>
                </a:solidFill>
                <a:latin typeface="Tahoma"/>
                <a:cs typeface="Tahoma"/>
              </a:rPr>
              <a:t>นักศึกษา</a:t>
            </a:r>
          </a:p>
        </p:txBody>
      </p:sp>
      <p:sp>
        <p:nvSpPr>
          <p:cNvPr id="167" name="t"/>
          <p:cNvSpPr txBox="1"/>
          <p:nvPr/>
        </p:nvSpPr>
        <p:spPr>
          <a:xfrm>
            <a:off x="2060000" y="4280000"/>
            <a:ext cx="39000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เรียนรู้โครงสร้างงานวิจัยและเริ่มเขียนบททบทวนวรรณกรรมได้โดยง่าย</a:t>
            </a:r>
          </a:p>
        </p:txBody>
      </p:sp>
      <p:sp>
        <p:nvSpPr>
          <p:cNvPr id="168" name="s"/>
          <p:cNvSpPr/>
          <p:nvPr/>
        </p:nvSpPr>
        <p:spPr>
          <a:xfrm>
            <a:off x="6310000" y="3620000"/>
            <a:ext cx="5300000" cy="145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69" name="s"/>
          <p:cNvSpPr/>
          <p:nvPr/>
        </p:nvSpPr>
        <p:spPr>
          <a:xfrm>
            <a:off x="6490000" y="3870000"/>
            <a:ext cx="940000" cy="94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70" name="t"/>
          <p:cNvSpPr txBox="1"/>
          <p:nvPr/>
        </p:nvSpPr>
        <p:spPr>
          <a:xfrm>
            <a:off x="6490000" y="3870000"/>
            <a:ext cx="940000" cy="9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0" i="0" dirty="0">
                <a:solidFill>
                  <a:srgbClr val="f5c542"/>
                </a:solidFill>
                <a:latin typeface="Tahoma"/>
                <a:cs typeface="Tahoma"/>
              </a:rPr>
              <a:t>🏛️</a:t>
            </a:r>
          </a:p>
        </p:txBody>
      </p:sp>
      <p:sp>
        <p:nvSpPr>
          <p:cNvPr id="171" name="t"/>
          <p:cNvSpPr txBox="1"/>
          <p:nvPr/>
        </p:nvSpPr>
        <p:spPr>
          <a:xfrm>
            <a:off x="7610000" y="3850000"/>
            <a:ext cx="3900000" cy="4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400" b="1" i="0" dirty="0">
                <a:solidFill>
                  <a:srgbClr val="a78bfa"/>
                </a:solidFill>
                <a:latin typeface="Tahoma"/>
                <a:cs typeface="Tahoma"/>
              </a:rPr>
              <a:t>มหาวิทยาลัย</a:t>
            </a:r>
          </a:p>
        </p:txBody>
      </p:sp>
      <p:sp>
        <p:nvSpPr>
          <p:cNvPr id="172" name="t"/>
          <p:cNvSpPr txBox="1"/>
          <p:nvPr/>
        </p:nvSpPr>
        <p:spPr>
          <a:xfrm>
            <a:off x="7610000" y="4280000"/>
            <a:ext cx="39000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ยกระดับคุณภาพงานวิจัยและบริการวิชาการของวิทยาเขต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t"/>
          <p:cNvSpPr txBox="1"/>
          <p:nvPr/>
        </p:nvSpPr>
        <p:spPr>
          <a:xfrm>
            <a:off x="760000" y="450000"/>
            <a:ext cx="92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④ การประยุกต์ใช้ AI</a:t>
            </a:r>
          </a:p>
        </p:txBody>
      </p:sp>
      <p:sp>
        <p:nvSpPr>
          <p:cNvPr id="175" name="t"/>
          <p:cNvSpPr txBox="1"/>
          <p:nvPr/>
        </p:nvSpPr>
        <p:spPr>
          <a:xfrm>
            <a:off x="760000" y="790000"/>
            <a:ext cx="96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600" b="1" i="0" dirty="0">
                <a:solidFill>
                  <a:srgbClr val="e5edff"/>
                </a:solidFill>
                <a:latin typeface="Tahoma"/>
                <a:cs typeface="Tahoma"/>
              </a:rPr>
              <a:t>นวัตกรรมการสกัดและสังเคราะห์องค์ความรู้</a:t>
            </a:r>
          </a:p>
        </p:txBody>
      </p:sp>
      <p:sp>
        <p:nvSpPr>
          <p:cNvPr id="176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6/10</a:t>
            </a:r>
          </a:p>
        </p:txBody>
      </p:sp>
      <p:sp>
        <p:nvSpPr>
          <p:cNvPr id="177" name="s"/>
          <p:cNvSpPr/>
          <p:nvPr/>
        </p:nvSpPr>
        <p:spPr>
          <a:xfrm>
            <a:off x="760000" y="1950000"/>
            <a:ext cx="5250000" cy="375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1270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78" name="s"/>
          <p:cNvSpPr/>
          <p:nvPr/>
        </p:nvSpPr>
        <p:spPr>
          <a:xfrm>
            <a:off x="2910000" y="2130000"/>
            <a:ext cx="900000" cy="90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79" name="t"/>
          <p:cNvSpPr txBox="1"/>
          <p:nvPr/>
        </p:nvSpPr>
        <p:spPr>
          <a:xfrm>
            <a:off x="2910000" y="2130000"/>
            <a:ext cx="900000" cy="9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900" b="0" i="0" dirty="0">
                <a:solidFill>
                  <a:srgbClr val="f5c542"/>
                </a:solidFill>
                <a:latin typeface="Tahoma"/>
                <a:cs typeface="Tahoma"/>
              </a:rPr>
              <a:t>🧠</a:t>
            </a:r>
          </a:p>
        </p:txBody>
      </p:sp>
      <p:sp>
        <p:nvSpPr>
          <p:cNvPr id="180" name="t"/>
          <p:cNvSpPr txBox="1"/>
          <p:nvPr/>
        </p:nvSpPr>
        <p:spPr>
          <a:xfrm>
            <a:off x="960000" y="3080000"/>
            <a:ext cx="49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400" b="1" i="0" dirty="0">
                <a:solidFill>
                  <a:srgbClr val="22d3ee"/>
                </a:solidFill>
                <a:latin typeface="Tahoma"/>
                <a:cs typeface="Tahoma"/>
              </a:rPr>
              <a:t>กลไก AI ของระบบ</a:t>
            </a:r>
          </a:p>
        </p:txBody>
      </p:sp>
      <p:sp>
        <p:nvSpPr>
          <p:cNvPr id="181" name="t"/>
          <p:cNvSpPr txBox="1"/>
          <p:nvPr/>
        </p:nvSpPr>
        <p:spPr>
          <a:xfrm>
            <a:off x="1000000" y="3520000"/>
            <a:ext cx="4800000" cy="5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สกัดสาระตามโครงสร้างงานวิจัย (IMRaD)</a:t>
            </a:r>
          </a:p>
        </p:txBody>
      </p:sp>
      <p:sp>
        <p:nvSpPr>
          <p:cNvPr id="182" name="t"/>
          <p:cNvSpPr txBox="1"/>
          <p:nvPr/>
        </p:nvSpPr>
        <p:spPr>
          <a:xfrm>
            <a:off x="1000000" y="4060000"/>
            <a:ext cx="4800000" cy="5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จำแนก 22 สาขา + ระเบียบวิธีด้วยการให้น้ำหนักคำสำคัญ</a:t>
            </a:r>
          </a:p>
        </p:txBody>
      </p:sp>
      <p:sp>
        <p:nvSpPr>
          <p:cNvPr id="183" name="t"/>
          <p:cNvSpPr txBox="1"/>
          <p:nvPr/>
        </p:nvSpPr>
        <p:spPr>
          <a:xfrm>
            <a:off x="1000000" y="4600000"/>
            <a:ext cx="4800000" cy="5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รองรับเอกสารไทย–อังกฤษ และดึงชื่อผู้แต่งเต็ม</a:t>
            </a:r>
          </a:p>
        </p:txBody>
      </p:sp>
      <p:sp>
        <p:nvSpPr>
          <p:cNvPr id="184" name="t"/>
          <p:cNvSpPr txBox="1"/>
          <p:nvPr/>
        </p:nvSpPr>
        <p:spPr>
          <a:xfrm>
            <a:off x="1000000" y="5140000"/>
            <a:ext cx="4800000" cy="5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สรุปเชิงผู้บริหาร (Executive Summary) ต่อเอกสาร</a:t>
            </a:r>
          </a:p>
        </p:txBody>
      </p:sp>
      <p:sp>
        <p:nvSpPr>
          <p:cNvPr id="185" name="s"/>
          <p:cNvSpPr/>
          <p:nvPr/>
        </p:nvSpPr>
        <p:spPr>
          <a:xfrm>
            <a:off x="6260000" y="1950000"/>
            <a:ext cx="5200000" cy="375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1270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86" name="t"/>
          <p:cNvSpPr txBox="1"/>
          <p:nvPr/>
        </p:nvSpPr>
        <p:spPr>
          <a:xfrm>
            <a:off x="6460000" y="2120000"/>
            <a:ext cx="48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400" b="1" i="0" dirty="0">
                <a:solidFill>
                  <a:srgbClr val="f5c542"/>
                </a:solidFill>
                <a:latin typeface="Tahoma"/>
                <a:cs typeface="Tahoma"/>
              </a:rPr>
              <a:t>จุดเด่นเชิงนวัตกรรม</a:t>
            </a:r>
          </a:p>
        </p:txBody>
      </p:sp>
      <p:sp>
        <p:nvSpPr>
          <p:cNvPr id="187" name="t"/>
          <p:cNvSpPr txBox="1"/>
          <p:nvPr/>
        </p:nvSpPr>
        <p:spPr>
          <a:xfrm>
            <a:off x="6500000" y="2560000"/>
            <a:ext cx="4800000" cy="6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รวม 3 มุมมองในระบบเดียว: กราฟ 3 มิติ · ตารางเทียบ · ร่างบทความ</a:t>
            </a:r>
          </a:p>
        </p:txBody>
      </p:sp>
      <p:sp>
        <p:nvSpPr>
          <p:cNvPr id="188" name="t"/>
          <p:cNvSpPr txBox="1"/>
          <p:nvPr/>
        </p:nvSpPr>
        <p:spPr>
          <a:xfrm>
            <a:off x="6500000" y="3200000"/>
            <a:ext cx="4800000" cy="6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ค้นหาเชิงแนวคิด (Semantic Search) ภายในคลังเอกสาร</a:t>
            </a:r>
          </a:p>
        </p:txBody>
      </p:sp>
      <p:sp>
        <p:nvSpPr>
          <p:cNvPr id="189" name="t"/>
          <p:cNvSpPr txBox="1"/>
          <p:nvPr/>
        </p:nvSpPr>
        <p:spPr>
          <a:xfrm>
            <a:off x="6500000" y="3840000"/>
            <a:ext cx="4800000" cy="6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ร่างบททบทวนวรรณกรรมอัตโนมัติพร้อมอ้างอิง APA</a:t>
            </a:r>
          </a:p>
        </p:txBody>
      </p:sp>
      <p:sp>
        <p:nvSpPr>
          <p:cNvPr id="190" name="t"/>
          <p:cNvSpPr txBox="1"/>
          <p:nvPr/>
        </p:nvSpPr>
        <p:spPr>
          <a:xfrm>
            <a:off x="6500000" y="4480000"/>
            <a:ext cx="4800000" cy="6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ทำงานแบบ Privacy-first โดยไม่พึ่งเซิร์ฟเวอร์ภายนอก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t"/>
          <p:cNvSpPr txBox="1"/>
          <p:nvPr/>
        </p:nvSpPr>
        <p:spPr>
          <a:xfrm>
            <a:off x="760000" y="450000"/>
            <a:ext cx="92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⑤ การประยุกต์ใช้ Kiro Platform</a:t>
            </a:r>
          </a:p>
        </p:txBody>
      </p:sp>
      <p:sp>
        <p:nvSpPr>
          <p:cNvPr id="193" name="t"/>
          <p:cNvSpPr txBox="1"/>
          <p:nvPr/>
        </p:nvSpPr>
        <p:spPr>
          <a:xfrm>
            <a:off x="760000" y="790000"/>
            <a:ext cx="96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600" b="1" i="0" dirty="0">
                <a:solidFill>
                  <a:srgbClr val="e5edff"/>
                </a:solidFill>
                <a:latin typeface="Tahoma"/>
                <a:cs typeface="Tahoma"/>
              </a:rPr>
              <a:t>พัฒนาแบบ Spec-driven ด้วย Kiro</a:t>
            </a:r>
          </a:p>
        </p:txBody>
      </p:sp>
      <p:sp>
        <p:nvSpPr>
          <p:cNvPr id="194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7/10</a:t>
            </a:r>
          </a:p>
        </p:txBody>
      </p:sp>
      <p:sp>
        <p:nvSpPr>
          <p:cNvPr id="195" name="s"/>
          <p:cNvSpPr/>
          <p:nvPr/>
        </p:nvSpPr>
        <p:spPr>
          <a:xfrm>
            <a:off x="760000" y="2050000"/>
            <a:ext cx="2550000" cy="255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96" name="s"/>
          <p:cNvSpPr/>
          <p:nvPr/>
        </p:nvSpPr>
        <p:spPr>
          <a:xfrm>
            <a:off x="1605000" y="225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97" name="t"/>
          <p:cNvSpPr txBox="1"/>
          <p:nvPr/>
        </p:nvSpPr>
        <p:spPr>
          <a:xfrm>
            <a:off x="1605000" y="225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📐</a:t>
            </a:r>
          </a:p>
        </p:txBody>
      </p:sp>
      <p:sp>
        <p:nvSpPr>
          <p:cNvPr id="198" name="t"/>
          <p:cNvSpPr txBox="1"/>
          <p:nvPr/>
        </p:nvSpPr>
        <p:spPr>
          <a:xfrm>
            <a:off x="860000" y="3200000"/>
            <a:ext cx="235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Steering Rules</a:t>
            </a:r>
          </a:p>
        </p:txBody>
      </p:sp>
      <p:sp>
        <p:nvSpPr>
          <p:cNvPr id="199" name="t"/>
          <p:cNvSpPr txBox="1"/>
          <p:nvPr/>
        </p:nvSpPr>
        <p:spPr>
          <a:xfrm>
            <a:off x="880000" y="3560000"/>
            <a:ext cx="2310000" cy="3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.kiro/steering/rules.md</a:t>
            </a:r>
          </a:p>
        </p:txBody>
      </p:sp>
      <p:sp>
        <p:nvSpPr>
          <p:cNvPr id="200" name="t"/>
          <p:cNvSpPr txBox="1"/>
          <p:nvPr/>
        </p:nvSpPr>
        <p:spPr>
          <a:xfrm>
            <a:off x="880000" y="3940000"/>
            <a:ext cx="2310000" cy="3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กำหนดมาตรฐานการพัฒนา</a:t>
            </a:r>
          </a:p>
        </p:txBody>
      </p:sp>
      <p:sp>
        <p:nvSpPr>
          <p:cNvPr id="201" name="t"/>
          <p:cNvSpPr txBox="1"/>
          <p:nvPr/>
        </p:nvSpPr>
        <p:spPr>
          <a:xfrm>
            <a:off x="3280000" y="3050000"/>
            <a:ext cx="25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8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202" name="s"/>
          <p:cNvSpPr/>
          <p:nvPr/>
        </p:nvSpPr>
        <p:spPr>
          <a:xfrm>
            <a:off x="3480000" y="2050000"/>
            <a:ext cx="2550000" cy="255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03" name="s"/>
          <p:cNvSpPr/>
          <p:nvPr/>
        </p:nvSpPr>
        <p:spPr>
          <a:xfrm>
            <a:off x="4325000" y="225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04" name="t"/>
          <p:cNvSpPr txBox="1"/>
          <p:nvPr/>
        </p:nvSpPr>
        <p:spPr>
          <a:xfrm>
            <a:off x="4325000" y="225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📋</a:t>
            </a:r>
          </a:p>
        </p:txBody>
      </p:sp>
      <p:sp>
        <p:nvSpPr>
          <p:cNvPr id="205" name="t"/>
          <p:cNvSpPr txBox="1"/>
          <p:nvPr/>
        </p:nvSpPr>
        <p:spPr>
          <a:xfrm>
            <a:off x="3580000" y="3200000"/>
            <a:ext cx="235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Specs</a:t>
            </a:r>
          </a:p>
        </p:txBody>
      </p:sp>
      <p:sp>
        <p:nvSpPr>
          <p:cNvPr id="206" name="t"/>
          <p:cNvSpPr txBox="1"/>
          <p:nvPr/>
        </p:nvSpPr>
        <p:spPr>
          <a:xfrm>
            <a:off x="3600000" y="3560000"/>
            <a:ext cx="2310000" cy="3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.kiro/specs/*.md</a:t>
            </a:r>
          </a:p>
        </p:txBody>
      </p:sp>
      <p:sp>
        <p:nvSpPr>
          <p:cNvPr id="207" name="t"/>
          <p:cNvSpPr txBox="1"/>
          <p:nvPr/>
        </p:nvSpPr>
        <p:spPr>
          <a:xfrm>
            <a:off x="3600000" y="3940000"/>
            <a:ext cx="2310000" cy="3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กำหนดเกณฑ์ยอมรับผลงาน</a:t>
            </a:r>
          </a:p>
        </p:txBody>
      </p:sp>
      <p:sp>
        <p:nvSpPr>
          <p:cNvPr id="208" name="t"/>
          <p:cNvSpPr txBox="1"/>
          <p:nvPr/>
        </p:nvSpPr>
        <p:spPr>
          <a:xfrm>
            <a:off x="6000000" y="3050000"/>
            <a:ext cx="25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8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209" name="s"/>
          <p:cNvSpPr/>
          <p:nvPr/>
        </p:nvSpPr>
        <p:spPr>
          <a:xfrm>
            <a:off x="6200000" y="2050000"/>
            <a:ext cx="2550000" cy="255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10" name="s"/>
          <p:cNvSpPr/>
          <p:nvPr/>
        </p:nvSpPr>
        <p:spPr>
          <a:xfrm>
            <a:off x="7045000" y="225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11" name="t"/>
          <p:cNvSpPr txBox="1"/>
          <p:nvPr/>
        </p:nvSpPr>
        <p:spPr>
          <a:xfrm>
            <a:off x="7045000" y="225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🤝</a:t>
            </a:r>
          </a:p>
        </p:txBody>
      </p:sp>
      <p:sp>
        <p:nvSpPr>
          <p:cNvPr id="212" name="t"/>
          <p:cNvSpPr txBox="1"/>
          <p:nvPr/>
        </p:nvSpPr>
        <p:spPr>
          <a:xfrm>
            <a:off x="6300000" y="3200000"/>
            <a:ext cx="235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34d399"/>
                </a:solidFill>
                <a:latin typeface="Tahoma"/>
                <a:cs typeface="Tahoma"/>
              </a:rPr>
              <a:t>Agent พัฒนา</a:t>
            </a:r>
          </a:p>
        </p:txBody>
      </p:sp>
      <p:sp>
        <p:nvSpPr>
          <p:cNvPr id="213" name="t"/>
          <p:cNvSpPr txBox="1"/>
          <p:nvPr/>
        </p:nvSpPr>
        <p:spPr>
          <a:xfrm>
            <a:off x="6320000" y="3560000"/>
            <a:ext cx="2310000" cy="3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Kiro เขียนโค้ด + ทดสอบ</a:t>
            </a:r>
          </a:p>
        </p:txBody>
      </p:sp>
      <p:sp>
        <p:nvSpPr>
          <p:cNvPr id="214" name="t"/>
          <p:cNvSpPr txBox="1"/>
          <p:nvPr/>
        </p:nvSpPr>
        <p:spPr>
          <a:xfrm>
            <a:off x="6320000" y="3940000"/>
            <a:ext cx="2310000" cy="3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ตามข้อกำหนด</a:t>
            </a:r>
          </a:p>
        </p:txBody>
      </p:sp>
      <p:sp>
        <p:nvSpPr>
          <p:cNvPr id="215" name="t"/>
          <p:cNvSpPr txBox="1"/>
          <p:nvPr/>
        </p:nvSpPr>
        <p:spPr>
          <a:xfrm>
            <a:off x="8720000" y="3050000"/>
            <a:ext cx="25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8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216" name="s"/>
          <p:cNvSpPr/>
          <p:nvPr/>
        </p:nvSpPr>
        <p:spPr>
          <a:xfrm>
            <a:off x="8920000" y="2050000"/>
            <a:ext cx="2550000" cy="255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17" name="s"/>
          <p:cNvSpPr/>
          <p:nvPr/>
        </p:nvSpPr>
        <p:spPr>
          <a:xfrm>
            <a:off x="9765000" y="225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18" name="t"/>
          <p:cNvSpPr txBox="1"/>
          <p:nvPr/>
        </p:nvSpPr>
        <p:spPr>
          <a:xfrm>
            <a:off x="9765000" y="225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🚀</a:t>
            </a:r>
          </a:p>
        </p:txBody>
      </p:sp>
      <p:sp>
        <p:nvSpPr>
          <p:cNvPr id="219" name="t"/>
          <p:cNvSpPr txBox="1"/>
          <p:nvPr/>
        </p:nvSpPr>
        <p:spPr>
          <a:xfrm>
            <a:off x="9020000" y="3200000"/>
            <a:ext cx="235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a78bfa"/>
                </a:solidFill>
                <a:latin typeface="Tahoma"/>
                <a:cs typeface="Tahoma"/>
              </a:rPr>
              <a:t>Deploy</a:t>
            </a:r>
          </a:p>
        </p:txBody>
      </p:sp>
      <p:sp>
        <p:nvSpPr>
          <p:cNvPr id="220" name="t"/>
          <p:cNvSpPr txBox="1"/>
          <p:nvPr/>
        </p:nvSpPr>
        <p:spPr>
          <a:xfrm>
            <a:off x="9040000" y="3560000"/>
            <a:ext cx="2310000" cy="3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เผยแพร่ GitHub Pages</a:t>
            </a:r>
          </a:p>
        </p:txBody>
      </p:sp>
      <p:sp>
        <p:nvSpPr>
          <p:cNvPr id="221" name="t"/>
          <p:cNvSpPr txBox="1"/>
          <p:nvPr/>
        </p:nvSpPr>
        <p:spPr>
          <a:xfrm>
            <a:off x="9040000" y="3940000"/>
            <a:ext cx="2310000" cy="3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ตรวจสอบได้จริง</a:t>
            </a:r>
          </a:p>
        </p:txBody>
      </p:sp>
      <p:sp>
        <p:nvSpPr>
          <p:cNvPr id="222" name="s"/>
          <p:cNvSpPr/>
          <p:nvPr/>
        </p:nvSpPr>
        <p:spPr>
          <a:xfrm>
            <a:off x="760000" y="4850000"/>
            <a:ext cx="10700000" cy="820000"/>
          </a:xfrm>
          <a:prstGeom prst="roundRect">
            <a:avLst>
              <a:gd name="adj" fmla="val 14000"/>
            </a:avLst>
          </a:prstGeom>
          <a:noFill/>
          <a:ln w="9525">
            <a:solidFill>
              <a:srgbClr val="f5c542"/>
            </a:solidFill>
          </a:ln>
        </p:spPr>
        <p:txBody>
          <a:bodyPr/>
          <a:lstStyle/>
          <a:p/>
        </p:txBody>
      </p:sp>
      <p:sp>
        <p:nvSpPr>
          <p:cNvPr id="223" name="t"/>
          <p:cNvSpPr txBox="1"/>
          <p:nvPr/>
        </p:nvSpPr>
        <p:spPr>
          <a:xfrm>
            <a:off x="1000000" y="4950000"/>
            <a:ext cx="103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ความสอดคล้องกับโจทย์: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Kiro เป็นเครื่องมือหลักตลอดวงจรพัฒนา — กำหนดกฎ ออกแบบข้อกำหนด เขียนและทดสอบโค้ด จนถึงการเผยแพร่ ตรวจสอบย้อนกลับได้จาก commit history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t"/>
          <p:cNvSpPr txBox="1"/>
          <p:nvPr/>
        </p:nvSpPr>
        <p:spPr>
          <a:xfrm>
            <a:off x="760000" y="450000"/>
            <a:ext cx="92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⑥ ต้นแบบ (PROTOTYPE)</a:t>
            </a:r>
          </a:p>
        </p:txBody>
      </p:sp>
      <p:sp>
        <p:nvSpPr>
          <p:cNvPr id="226" name="t"/>
          <p:cNvSpPr txBox="1"/>
          <p:nvPr/>
        </p:nvSpPr>
        <p:spPr>
          <a:xfrm>
            <a:off x="760000" y="790000"/>
            <a:ext cx="96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600" b="1" i="0" dirty="0">
                <a:solidFill>
                  <a:srgbClr val="e5edff"/>
                </a:solidFill>
                <a:latin typeface="Tahoma"/>
                <a:cs typeface="Tahoma"/>
              </a:rPr>
              <a:t>ระบบที่พัฒนาเสร็จและใช้งานได้จริง</a:t>
            </a:r>
          </a:p>
        </p:txBody>
      </p:sp>
      <p:sp>
        <p:nvSpPr>
          <p:cNvPr id="227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8/10</a:t>
            </a:r>
          </a:p>
        </p:txBody>
      </p:sp>
      <p:sp>
        <p:nvSpPr>
          <p:cNvPr id="228" name="s"/>
          <p:cNvSpPr/>
          <p:nvPr/>
        </p:nvSpPr>
        <p:spPr>
          <a:xfrm>
            <a:off x="760000" y="2000000"/>
            <a:ext cx="5100000" cy="3350000"/>
          </a:xfrm>
          <a:prstGeom prst="roundRect">
            <a:avLst>
              <a:gd name="adj" fmla="val 6000"/>
            </a:avLst>
          </a:prstGeom>
          <a:solidFill>
            <a:srgbClr val="0b1a3a"/>
          </a:solidFill>
          <a:ln w="9525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29" name="s"/>
          <p:cNvSpPr/>
          <p:nvPr/>
        </p:nvSpPr>
        <p:spPr>
          <a:xfrm>
            <a:off x="760000" y="2000000"/>
            <a:ext cx="5100000" cy="400000"/>
          </a:xfrm>
          <a:prstGeom prst="roundRect">
            <a:avLst>
              <a:gd name="adj" fmla="val 6000"/>
            </a:avLst>
          </a:prstGeom>
          <a:solidFill>
            <a:srgbClr val="00236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" name="s"/>
          <p:cNvSpPr/>
          <p:nvPr/>
        </p:nvSpPr>
        <p:spPr>
          <a:xfrm>
            <a:off x="920000" y="2130000"/>
            <a:ext cx="130000" cy="1300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" name="s"/>
          <p:cNvSpPr/>
          <p:nvPr/>
        </p:nvSpPr>
        <p:spPr>
          <a:xfrm>
            <a:off x="1150000" y="2130000"/>
            <a:ext cx="130000" cy="130000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" name="s"/>
          <p:cNvSpPr/>
          <p:nvPr/>
        </p:nvSpPr>
        <p:spPr>
          <a:xfrm>
            <a:off x="1380000" y="2130000"/>
            <a:ext cx="130000" cy="1300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" name="t"/>
          <p:cNvSpPr txBox="1"/>
          <p:nvPr/>
        </p:nvSpPr>
        <p:spPr>
          <a:xfrm>
            <a:off x="1660000" y="2080000"/>
            <a:ext cx="30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00" b="1" i="0" dirty="0">
                <a:solidFill>
                  <a:srgbClr val="e5edff"/>
                </a:solidFill>
                <a:latin typeface="Tahoma"/>
                <a:cs typeface="Tahoma"/>
              </a:rPr>
              <a:t>LIKA Nexus</a:t>
            </a:r>
          </a:p>
        </p:txBody>
      </p:sp>
      <p:sp>
        <p:nvSpPr>
          <p:cNvPr id="234" name="s"/>
          <p:cNvSpPr/>
          <p:nvPr/>
        </p:nvSpPr>
        <p:spPr>
          <a:xfrm>
            <a:off x="3548000" y="3639000"/>
            <a:ext cx="340000" cy="340000"/>
          </a:xfrm>
          <a:prstGeom prst="ellipse">
            <a:avLst/>
          </a:prstGeom>
          <a:solidFill>
            <a:srgbClr val="f5c542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235" name="l"/>
          <p:cNvCxnSpPr/>
          <p:nvPr/>
        </p:nvCxnSpPr>
        <p:spPr>
          <a:xfrm flipH="0" flipV="0">
            <a:off x="3718000" y="3809000"/>
            <a:ext cx="1000000" cy="0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236" name="s"/>
          <p:cNvSpPr/>
          <p:nvPr/>
        </p:nvSpPr>
        <p:spPr>
          <a:xfrm>
            <a:off x="4578000" y="3669000"/>
            <a:ext cx="280000" cy="28000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237" name="l"/>
          <p:cNvCxnSpPr/>
          <p:nvPr/>
        </p:nvCxnSpPr>
        <p:spPr>
          <a:xfrm flipH="0" flipV="0">
            <a:off x="3718000" y="3809000"/>
            <a:ext cx="309016" cy="951056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238" name="s"/>
          <p:cNvSpPr/>
          <p:nvPr/>
        </p:nvSpPr>
        <p:spPr>
          <a:xfrm>
            <a:off x="3887016" y="4620056"/>
            <a:ext cx="280000" cy="280000"/>
          </a:xfrm>
          <a:prstGeom prst="ellipse">
            <a:avLst/>
          </a:prstGeom>
          <a:solidFill>
            <a:srgbClr val="34d399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239" name="l"/>
          <p:cNvCxnSpPr/>
          <p:nvPr/>
        </p:nvCxnSpPr>
        <p:spPr>
          <a:xfrm flipH="1" flipV="0">
            <a:off x="2908983" y="3809000"/>
            <a:ext cx="809017" cy="587785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240" name="s"/>
          <p:cNvSpPr/>
          <p:nvPr/>
        </p:nvSpPr>
        <p:spPr>
          <a:xfrm>
            <a:off x="2768983" y="4256785"/>
            <a:ext cx="280000" cy="2800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241" name="l"/>
          <p:cNvCxnSpPr/>
          <p:nvPr/>
        </p:nvCxnSpPr>
        <p:spPr>
          <a:xfrm flipH="1" flipV="1">
            <a:off x="2908983" y="3221214"/>
            <a:ext cx="809017" cy="587786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242" name="s"/>
          <p:cNvSpPr/>
          <p:nvPr/>
        </p:nvSpPr>
        <p:spPr>
          <a:xfrm>
            <a:off x="2768983" y="3081214"/>
            <a:ext cx="280000" cy="28000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243" name="l"/>
          <p:cNvCxnSpPr/>
          <p:nvPr/>
        </p:nvCxnSpPr>
        <p:spPr>
          <a:xfrm flipH="0" flipV="1">
            <a:off x="3718000" y="2857943"/>
            <a:ext cx="309016" cy="951057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244" name="s"/>
          <p:cNvSpPr/>
          <p:nvPr/>
        </p:nvSpPr>
        <p:spPr>
          <a:xfrm>
            <a:off x="3887016" y="2717943"/>
            <a:ext cx="280000" cy="280000"/>
          </a:xfrm>
          <a:prstGeom prst="ellipse">
            <a:avLst/>
          </a:prstGeom>
          <a:solidFill>
            <a:srgbClr val="f472b6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45" name="t"/>
          <p:cNvSpPr txBox="1"/>
          <p:nvPr/>
        </p:nvSpPr>
        <p:spPr>
          <a:xfrm>
            <a:off x="760000" y="5010000"/>
            <a:ext cx="51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900" b="0" i="1" dirty="0">
                <a:solidFill>
                  <a:srgbClr val="9fb3d1"/>
                </a:solidFill>
                <a:latin typeface="Tahoma"/>
                <a:cs typeface="Tahoma"/>
              </a:rPr>
              <a:t>หน้าจอจริง: 3D Knowledge Graph</a:t>
            </a:r>
          </a:p>
        </p:txBody>
      </p:sp>
      <p:sp>
        <p:nvSpPr>
          <p:cNvPr id="246" name="t"/>
          <p:cNvSpPr txBox="1"/>
          <p:nvPr/>
        </p:nvSpPr>
        <p:spPr>
          <a:xfrm>
            <a:off x="6150000" y="1980000"/>
            <a:ext cx="53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34d399"/>
                </a:solidFill>
                <a:latin typeface="Tahoma"/>
                <a:cs typeface="Tahoma"/>
              </a:rPr>
              <a:t>ฟังก์ชันที่พัฒนาเสร็จแล้ว</a:t>
            </a:r>
          </a:p>
        </p:txBody>
      </p:sp>
      <p:sp>
        <p:nvSpPr>
          <p:cNvPr id="247" name="t"/>
          <p:cNvSpPr txBox="1"/>
          <p:nvPr/>
        </p:nvSpPr>
        <p:spPr>
          <a:xfrm>
            <a:off x="6150000" y="2420000"/>
            <a:ext cx="5300000" cy="4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นำเข้าไฟล์ PDF/TXT และสกัดข้อมูลอัตโนมัติ</a:t>
            </a:r>
          </a:p>
        </p:txBody>
      </p:sp>
      <p:sp>
        <p:nvSpPr>
          <p:cNvPr id="248" name="t"/>
          <p:cNvSpPr txBox="1"/>
          <p:nvPr/>
        </p:nvSpPr>
        <p:spPr>
          <a:xfrm>
            <a:off x="6150000" y="2890000"/>
            <a:ext cx="5300000" cy="4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ตารางเปรียบเทียบระเบียบวิธีวิจัย 5 ประเด็น</a:t>
            </a:r>
          </a:p>
        </p:txBody>
      </p:sp>
      <p:sp>
        <p:nvSpPr>
          <p:cNvPr id="249" name="t"/>
          <p:cNvSpPr txBox="1"/>
          <p:nvPr/>
        </p:nvSpPr>
        <p:spPr>
          <a:xfrm>
            <a:off x="6150000" y="3360000"/>
            <a:ext cx="5300000" cy="4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กราฟความรู้ 3 มิติ + ค้นหาเชิงแนวคิด</a:t>
            </a:r>
          </a:p>
        </p:txBody>
      </p:sp>
      <p:sp>
        <p:nvSpPr>
          <p:cNvPr id="250" name="t"/>
          <p:cNvSpPr txBox="1"/>
          <p:nvPr/>
        </p:nvSpPr>
        <p:spPr>
          <a:xfrm>
            <a:off x="6150000" y="3830000"/>
            <a:ext cx="5300000" cy="4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ร่าง Lit-Review + ส่งออกอ้างอิง APA</a:t>
            </a:r>
          </a:p>
        </p:txBody>
      </p:sp>
      <p:sp>
        <p:nvSpPr>
          <p:cNvPr id="251" name="t"/>
          <p:cNvSpPr txBox="1"/>
          <p:nvPr/>
        </p:nvSpPr>
        <p:spPr>
          <a:xfrm>
            <a:off x="6150000" y="4300000"/>
            <a:ext cx="5300000" cy="4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ระบบเข้าใช้แยกประเภทผู้ใช้ + แดชบอร์ดสถิติ</a:t>
            </a:r>
          </a:p>
        </p:txBody>
      </p:sp>
      <p:sp>
        <p:nvSpPr>
          <p:cNvPr id="252" name="t"/>
          <p:cNvSpPr txBox="1"/>
          <p:nvPr/>
        </p:nvSpPr>
        <p:spPr>
          <a:xfrm>
            <a:off x="6150000" y="4770000"/>
            <a:ext cx="5300000" cy="4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ส่งออกบทสรุปรายงานเป็น PDF</a:t>
            </a:r>
          </a:p>
        </p:txBody>
      </p:sp>
      <p:sp>
        <p:nvSpPr>
          <p:cNvPr id="253" name="s"/>
          <p:cNvSpPr/>
          <p:nvPr/>
        </p:nvSpPr>
        <p:spPr>
          <a:xfrm>
            <a:off x="6150000" y="5250000"/>
            <a:ext cx="5300000" cy="420000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254" name="t"/>
          <p:cNvSpPr txBox="1"/>
          <p:nvPr/>
        </p:nvSpPr>
        <p:spPr>
          <a:xfrm>
            <a:off x="6330000" y="5300000"/>
            <a:ext cx="5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1" i="0" dirty="0">
                <a:solidFill>
                  <a:srgbClr val="34d399"/>
                </a:solidFill>
                <a:latin typeface="Tahoma"/>
                <a:cs typeface="Tahoma"/>
              </a:rPr>
              <a:t>สถานะ: </a:t>
            </a:r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เผยแพร่ออนไลน์แล้ว · tinyurl.com/lika-nexus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6" name="t"/>
          <p:cNvSpPr txBox="1"/>
          <p:nvPr/>
        </p:nvSpPr>
        <p:spPr>
          <a:xfrm>
            <a:off x="760000" y="450000"/>
            <a:ext cx="92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⑦ คุณค่าและความเป็นไปได้ในการใช้งานจริง</a:t>
            </a:r>
          </a:p>
        </p:txBody>
      </p:sp>
      <p:sp>
        <p:nvSpPr>
          <p:cNvPr id="257" name="t"/>
          <p:cNvSpPr txBox="1"/>
          <p:nvPr/>
        </p:nvSpPr>
        <p:spPr>
          <a:xfrm>
            <a:off x="760000" y="790000"/>
            <a:ext cx="96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600" b="1" i="0" dirty="0">
                <a:solidFill>
                  <a:srgbClr val="e5edff"/>
                </a:solidFill>
                <a:latin typeface="Tahoma"/>
                <a:cs typeface="Tahoma"/>
              </a:rPr>
              <a:t>Feasibility &amp; Value</a:t>
            </a:r>
          </a:p>
        </p:txBody>
      </p:sp>
      <p:sp>
        <p:nvSpPr>
          <p:cNvPr id="258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9/10</a:t>
            </a:r>
          </a:p>
        </p:txBody>
      </p:sp>
      <p:sp>
        <p:nvSpPr>
          <p:cNvPr id="259" name="s"/>
          <p:cNvSpPr/>
          <p:nvPr/>
        </p:nvSpPr>
        <p:spPr>
          <a:xfrm>
            <a:off x="760000" y="2000000"/>
            <a:ext cx="5300000" cy="112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 w="8000">
            <a:solidFill>
              <a:srgbClr val="f5c542"/>
            </a:solidFill>
          </a:ln>
        </p:spPr>
        <p:txBody>
          <a:bodyPr/>
          <a:lstStyle/>
          <a:p/>
        </p:txBody>
      </p:sp>
      <p:sp>
        <p:nvSpPr>
          <p:cNvPr id="260" name="s"/>
          <p:cNvSpPr/>
          <p:nvPr/>
        </p:nvSpPr>
        <p:spPr>
          <a:xfrm>
            <a:off x="920000" y="2230000"/>
            <a:ext cx="660000" cy="6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61" name="t"/>
          <p:cNvSpPr txBox="1"/>
          <p:nvPr/>
        </p:nvSpPr>
        <p:spPr>
          <a:xfrm>
            <a:off x="920000" y="2230000"/>
            <a:ext cx="660000" cy="6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400" b="0" i="0" dirty="0">
                <a:solidFill>
                  <a:srgbClr val="f5c542"/>
                </a:solidFill>
                <a:latin typeface="Tahoma"/>
                <a:cs typeface="Tahoma"/>
              </a:rPr>
              <a:t>💰</a:t>
            </a:r>
          </a:p>
        </p:txBody>
      </p:sp>
      <p:sp>
        <p:nvSpPr>
          <p:cNvPr id="262" name="t"/>
          <p:cNvSpPr txBox="1"/>
          <p:nvPr/>
        </p:nvSpPr>
        <p:spPr>
          <a:xfrm>
            <a:off x="1700000" y="2200000"/>
            <a:ext cx="425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ต้นทุนต่ำ</a:t>
            </a:r>
          </a:p>
        </p:txBody>
      </p:sp>
      <p:sp>
        <p:nvSpPr>
          <p:cNvPr id="263" name="t"/>
          <p:cNvSpPr txBox="1"/>
          <p:nvPr/>
        </p:nvSpPr>
        <p:spPr>
          <a:xfrm>
            <a:off x="1700000" y="2560000"/>
            <a:ext cx="4250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เป็นไฟล์เว็บเดียว ไม่ต้องติดตั้งเซิร์ฟเวอร์ ใช้บริการฟรี</a:t>
            </a:r>
          </a:p>
        </p:txBody>
      </p:sp>
      <p:sp>
        <p:nvSpPr>
          <p:cNvPr id="264" name="s"/>
          <p:cNvSpPr/>
          <p:nvPr/>
        </p:nvSpPr>
        <p:spPr>
          <a:xfrm>
            <a:off x="6310000" y="2000000"/>
            <a:ext cx="5300000" cy="112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 w="8000">
            <a:solidFill>
              <a:srgbClr val="22d3ee"/>
            </a:solidFill>
          </a:ln>
        </p:spPr>
        <p:txBody>
          <a:bodyPr/>
          <a:lstStyle/>
          <a:p/>
        </p:txBody>
      </p:sp>
      <p:sp>
        <p:nvSpPr>
          <p:cNvPr id="265" name="s"/>
          <p:cNvSpPr/>
          <p:nvPr/>
        </p:nvSpPr>
        <p:spPr>
          <a:xfrm>
            <a:off x="6470000" y="2230000"/>
            <a:ext cx="660000" cy="6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66" name="t"/>
          <p:cNvSpPr txBox="1"/>
          <p:nvPr/>
        </p:nvSpPr>
        <p:spPr>
          <a:xfrm>
            <a:off x="6470000" y="2230000"/>
            <a:ext cx="660000" cy="6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400" b="0" i="0" dirty="0">
                <a:solidFill>
                  <a:srgbClr val="f5c542"/>
                </a:solidFill>
                <a:latin typeface="Tahoma"/>
                <a:cs typeface="Tahoma"/>
              </a:rPr>
              <a:t>🏫</a:t>
            </a:r>
          </a:p>
        </p:txBody>
      </p:sp>
      <p:sp>
        <p:nvSpPr>
          <p:cNvPr id="267" name="t"/>
          <p:cNvSpPr txBox="1"/>
          <p:nvPr/>
        </p:nvSpPr>
        <p:spPr>
          <a:xfrm>
            <a:off x="7250000" y="2200000"/>
            <a:ext cx="425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พร้อมใช้ที่ MUKA</a:t>
            </a:r>
          </a:p>
        </p:txBody>
      </p:sp>
      <p:sp>
        <p:nvSpPr>
          <p:cNvPr id="268" name="t"/>
          <p:cNvSpPr txBox="1"/>
          <p:nvPr/>
        </p:nvSpPr>
        <p:spPr>
          <a:xfrm>
            <a:off x="7250000" y="2560000"/>
            <a:ext cx="4250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เหมาะกับเครื่องบริการในห้องสมุด ใช้ได้แม้ออฟไลน์</a:t>
            </a:r>
          </a:p>
        </p:txBody>
      </p:sp>
      <p:sp>
        <p:nvSpPr>
          <p:cNvPr id="269" name="s"/>
          <p:cNvSpPr/>
          <p:nvPr/>
        </p:nvSpPr>
        <p:spPr>
          <a:xfrm>
            <a:off x="760000" y="3250000"/>
            <a:ext cx="5300000" cy="112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 w="8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270" name="s"/>
          <p:cNvSpPr/>
          <p:nvPr/>
        </p:nvSpPr>
        <p:spPr>
          <a:xfrm>
            <a:off x="920000" y="3480000"/>
            <a:ext cx="660000" cy="6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71" name="t"/>
          <p:cNvSpPr txBox="1"/>
          <p:nvPr/>
        </p:nvSpPr>
        <p:spPr>
          <a:xfrm>
            <a:off x="920000" y="3480000"/>
            <a:ext cx="660000" cy="6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400" b="0" i="0" dirty="0">
                <a:solidFill>
                  <a:srgbClr val="f5c542"/>
                </a:solidFill>
                <a:latin typeface="Tahoma"/>
                <a:cs typeface="Tahoma"/>
              </a:rPr>
              <a:t>🔐</a:t>
            </a:r>
          </a:p>
        </p:txBody>
      </p:sp>
      <p:sp>
        <p:nvSpPr>
          <p:cNvPr id="272" name="t"/>
          <p:cNvSpPr txBox="1"/>
          <p:nvPr/>
        </p:nvSpPr>
        <p:spPr>
          <a:xfrm>
            <a:off x="1700000" y="3450000"/>
            <a:ext cx="425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34d399"/>
                </a:solidFill>
                <a:latin typeface="Tahoma"/>
                <a:cs typeface="Tahoma"/>
              </a:rPr>
              <a:t>ปลอดภัย</a:t>
            </a:r>
          </a:p>
        </p:txBody>
      </p:sp>
      <p:sp>
        <p:nvSpPr>
          <p:cNvPr id="273" name="t"/>
          <p:cNvSpPr txBox="1"/>
          <p:nvPr/>
        </p:nvSpPr>
        <p:spPr>
          <a:xfrm>
            <a:off x="1700000" y="3810000"/>
            <a:ext cx="4250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ไม่ส่งข้อมูลออกนอกเครื่อง เหมาะกับงานยังไม่เผยแพร่</a:t>
            </a:r>
          </a:p>
        </p:txBody>
      </p:sp>
      <p:sp>
        <p:nvSpPr>
          <p:cNvPr id="274" name="s"/>
          <p:cNvSpPr/>
          <p:nvPr/>
        </p:nvSpPr>
        <p:spPr>
          <a:xfrm>
            <a:off x="6310000" y="3250000"/>
            <a:ext cx="5300000" cy="112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 w="8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275" name="s"/>
          <p:cNvSpPr/>
          <p:nvPr/>
        </p:nvSpPr>
        <p:spPr>
          <a:xfrm>
            <a:off x="6470000" y="3480000"/>
            <a:ext cx="660000" cy="6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76" name="t"/>
          <p:cNvSpPr txBox="1"/>
          <p:nvPr/>
        </p:nvSpPr>
        <p:spPr>
          <a:xfrm>
            <a:off x="6470000" y="3480000"/>
            <a:ext cx="660000" cy="6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400" b="0" i="0" dirty="0">
                <a:solidFill>
                  <a:srgbClr val="f5c542"/>
                </a:solidFill>
                <a:latin typeface="Tahoma"/>
                <a:cs typeface="Tahoma"/>
              </a:rPr>
              <a:t>📈</a:t>
            </a:r>
          </a:p>
        </p:txBody>
      </p:sp>
      <p:sp>
        <p:nvSpPr>
          <p:cNvPr id="277" name="t"/>
          <p:cNvSpPr txBox="1"/>
          <p:nvPr/>
        </p:nvSpPr>
        <p:spPr>
          <a:xfrm>
            <a:off x="7250000" y="3450000"/>
            <a:ext cx="425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a78bfa"/>
                </a:solidFill>
                <a:latin typeface="Tahoma"/>
                <a:cs typeface="Tahoma"/>
              </a:rPr>
              <a:t>ขยายผลได้</a:t>
            </a:r>
          </a:p>
        </p:txBody>
      </p:sp>
      <p:sp>
        <p:nvSpPr>
          <p:cNvPr id="278" name="t"/>
          <p:cNvSpPr txBox="1"/>
          <p:nvPr/>
        </p:nvSpPr>
        <p:spPr>
          <a:xfrm>
            <a:off x="7250000" y="3810000"/>
            <a:ext cx="4250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ต่อยอดสู่การสืบค้นออนไลน์และเชื่อมระบบห้องสมุด</a:t>
            </a:r>
          </a:p>
        </p:txBody>
      </p:sp>
      <p:sp>
        <p:nvSpPr>
          <p:cNvPr id="279" name="s"/>
          <p:cNvSpPr/>
          <p:nvPr/>
        </p:nvSpPr>
        <p:spPr>
          <a:xfrm>
            <a:off x="760000" y="4650000"/>
            <a:ext cx="10700000" cy="1000000"/>
          </a:xfrm>
          <a:prstGeom prst="roundRect">
            <a:avLst>
              <a:gd name="adj" fmla="val 14000"/>
            </a:avLst>
          </a:prstGeom>
          <a:noFill/>
          <a:ln w="9525">
            <a:solidFill>
              <a:srgbClr val="f5c542"/>
            </a:solidFill>
          </a:ln>
        </p:spPr>
        <p:txBody>
          <a:bodyPr/>
          <a:lstStyle/>
          <a:p/>
        </p:txBody>
      </p:sp>
      <p:sp>
        <p:nvSpPr>
          <p:cNvPr id="280" name="t"/>
          <p:cNvSpPr txBox="1"/>
          <p:nvPr/>
        </p:nvSpPr>
        <p:spPr>
          <a:xfrm>
            <a:off x="1000000" y="4740000"/>
            <a:ext cx="103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โอกาสในการนำไปใช้จริง</a:t>
            </a:r>
          </a:p>
        </p:txBody>
      </p:sp>
      <p:sp>
        <p:nvSpPr>
          <p:cNvPr id="281" name="t"/>
          <p:cNvSpPr txBox="1"/>
          <p:nvPr/>
        </p:nvSpPr>
        <p:spPr>
          <a:xfrm>
            <a:off x="1000000" y="5080000"/>
            <a:ext cx="10300000" cy="5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นำไปใช้สนับสนุนการทำวิทยานิพนธ์ บริการตอบคำถามวิจัย และจัดการคลังความรู้ของวิทยาเขต โดยสามารถขยายสู่ระบบเก็บสถิติรวมศูนย์และการสืบค้นฐานข้อมูลสากลในอนาคต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"/>
          <p:cNvSpPr/>
          <p:nvPr/>
        </p:nvSpPr>
        <p:spPr>
          <a:xfrm>
            <a:off x="7589669" y="4695711"/>
            <a:ext cx="37598" cy="3759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" name="s"/>
          <p:cNvSpPr/>
          <p:nvPr/>
        </p:nvSpPr>
        <p:spPr>
          <a:xfrm>
            <a:off x="7812311" y="3790244"/>
            <a:ext cx="28640" cy="2864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4" name="s"/>
          <p:cNvSpPr/>
          <p:nvPr/>
        </p:nvSpPr>
        <p:spPr>
          <a:xfrm>
            <a:off x="9854682" y="1593013"/>
            <a:ext cx="18050" cy="1805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" name="s"/>
          <p:cNvSpPr/>
          <p:nvPr/>
        </p:nvSpPr>
        <p:spPr>
          <a:xfrm>
            <a:off x="8588401" y="3990991"/>
            <a:ext cx="32639" cy="3263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6" name="s"/>
          <p:cNvSpPr/>
          <p:nvPr/>
        </p:nvSpPr>
        <p:spPr>
          <a:xfrm>
            <a:off x="10300519" y="6651972"/>
            <a:ext cx="18100" cy="1810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7" name="s"/>
          <p:cNvSpPr/>
          <p:nvPr/>
        </p:nvSpPr>
        <p:spPr>
          <a:xfrm>
            <a:off x="1579129" y="3746294"/>
            <a:ext cx="21941" cy="21941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8" name="s"/>
          <p:cNvSpPr/>
          <p:nvPr/>
        </p:nvSpPr>
        <p:spPr>
          <a:xfrm>
            <a:off x="2378927" y="760599"/>
            <a:ext cx="29651" cy="29651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9" name="s"/>
          <p:cNvSpPr/>
          <p:nvPr/>
        </p:nvSpPr>
        <p:spPr>
          <a:xfrm>
            <a:off x="11633967" y="5322175"/>
            <a:ext cx="13372" cy="1337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0" name="s"/>
          <p:cNvSpPr/>
          <p:nvPr/>
        </p:nvSpPr>
        <p:spPr>
          <a:xfrm>
            <a:off x="9989766" y="3323230"/>
            <a:ext cx="26843" cy="2684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1" name="s"/>
          <p:cNvSpPr/>
          <p:nvPr/>
        </p:nvSpPr>
        <p:spPr>
          <a:xfrm>
            <a:off x="10970999" y="6198475"/>
            <a:ext cx="32170" cy="3217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2" name="s"/>
          <p:cNvSpPr/>
          <p:nvPr/>
        </p:nvSpPr>
        <p:spPr>
          <a:xfrm>
            <a:off x="10906381" y="1321156"/>
            <a:ext cx="32418" cy="3241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3" name="s"/>
          <p:cNvSpPr/>
          <p:nvPr/>
        </p:nvSpPr>
        <p:spPr>
          <a:xfrm>
            <a:off x="251670" y="4432383"/>
            <a:ext cx="14069" cy="1406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4" name="s"/>
          <p:cNvSpPr/>
          <p:nvPr/>
        </p:nvSpPr>
        <p:spPr>
          <a:xfrm>
            <a:off x="999101" y="299077"/>
            <a:ext cx="18232" cy="1823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" name="s"/>
          <p:cNvSpPr/>
          <p:nvPr/>
        </p:nvSpPr>
        <p:spPr>
          <a:xfrm>
            <a:off x="4059130" y="5029961"/>
            <a:ext cx="12985" cy="1298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6" name="s"/>
          <p:cNvSpPr/>
          <p:nvPr/>
        </p:nvSpPr>
        <p:spPr>
          <a:xfrm>
            <a:off x="7783528" y="2737147"/>
            <a:ext cx="26435" cy="2643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" name="s"/>
          <p:cNvSpPr/>
          <p:nvPr/>
        </p:nvSpPr>
        <p:spPr>
          <a:xfrm>
            <a:off x="9914654" y="1638474"/>
            <a:ext cx="29010" cy="2901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8" name="s"/>
          <p:cNvSpPr/>
          <p:nvPr/>
        </p:nvSpPr>
        <p:spPr>
          <a:xfrm>
            <a:off x="3919923" y="5371156"/>
            <a:ext cx="21638" cy="2163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" name="s"/>
          <p:cNvSpPr/>
          <p:nvPr/>
        </p:nvSpPr>
        <p:spPr>
          <a:xfrm>
            <a:off x="8384802" y="38535"/>
            <a:ext cx="33707" cy="3370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" name="s"/>
          <p:cNvSpPr/>
          <p:nvPr/>
        </p:nvSpPr>
        <p:spPr>
          <a:xfrm>
            <a:off x="1425874" y="3836361"/>
            <a:ext cx="33456" cy="3345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" name="s"/>
          <p:cNvSpPr/>
          <p:nvPr/>
        </p:nvSpPr>
        <p:spPr>
          <a:xfrm>
            <a:off x="4666799" y="3412307"/>
            <a:ext cx="30063" cy="3006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" name="s"/>
          <p:cNvSpPr/>
          <p:nvPr/>
        </p:nvSpPr>
        <p:spPr>
          <a:xfrm>
            <a:off x="1395922" y="5937537"/>
            <a:ext cx="20322" cy="2032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" name="s"/>
          <p:cNvSpPr/>
          <p:nvPr/>
        </p:nvSpPr>
        <p:spPr>
          <a:xfrm>
            <a:off x="5289473" y="6358481"/>
            <a:ext cx="19525" cy="1952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" name="s"/>
          <p:cNvSpPr/>
          <p:nvPr/>
        </p:nvSpPr>
        <p:spPr>
          <a:xfrm>
            <a:off x="8604776" y="2424642"/>
            <a:ext cx="12974" cy="1297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" name="s"/>
          <p:cNvSpPr/>
          <p:nvPr/>
        </p:nvSpPr>
        <p:spPr>
          <a:xfrm>
            <a:off x="1178154" y="4723979"/>
            <a:ext cx="37109" cy="3710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" name="s"/>
          <p:cNvSpPr/>
          <p:nvPr/>
        </p:nvSpPr>
        <p:spPr>
          <a:xfrm>
            <a:off x="1810713" y="3358797"/>
            <a:ext cx="15532" cy="1553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" name="s"/>
          <p:cNvSpPr/>
          <p:nvPr/>
        </p:nvSpPr>
        <p:spPr>
          <a:xfrm>
            <a:off x="4880540" y="3242310"/>
            <a:ext cx="14189" cy="1418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8" name="s"/>
          <p:cNvSpPr/>
          <p:nvPr/>
        </p:nvSpPr>
        <p:spPr>
          <a:xfrm>
            <a:off x="283375" y="5745336"/>
            <a:ext cx="12017" cy="1201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9" name="s"/>
          <p:cNvSpPr/>
          <p:nvPr/>
        </p:nvSpPr>
        <p:spPr>
          <a:xfrm>
            <a:off x="3581963" y="1759237"/>
            <a:ext cx="13714" cy="1371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" name="s"/>
          <p:cNvSpPr/>
          <p:nvPr/>
        </p:nvSpPr>
        <p:spPr>
          <a:xfrm>
            <a:off x="7885078" y="3149613"/>
            <a:ext cx="35229" cy="3522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1" name="s"/>
          <p:cNvSpPr/>
          <p:nvPr/>
        </p:nvSpPr>
        <p:spPr>
          <a:xfrm>
            <a:off x="6667674" y="3521465"/>
            <a:ext cx="14393" cy="1439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" name="s"/>
          <p:cNvSpPr/>
          <p:nvPr/>
        </p:nvSpPr>
        <p:spPr>
          <a:xfrm>
            <a:off x="9499960" y="5280250"/>
            <a:ext cx="18504" cy="1850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3" name="s"/>
          <p:cNvSpPr/>
          <p:nvPr/>
        </p:nvSpPr>
        <p:spPr>
          <a:xfrm>
            <a:off x="11323096" y="2263041"/>
            <a:ext cx="23039" cy="2303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4" name="s"/>
          <p:cNvSpPr/>
          <p:nvPr/>
        </p:nvSpPr>
        <p:spPr>
          <a:xfrm>
            <a:off x="1462037" y="2610615"/>
            <a:ext cx="22898" cy="2289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" name="s"/>
          <p:cNvSpPr/>
          <p:nvPr/>
        </p:nvSpPr>
        <p:spPr>
          <a:xfrm>
            <a:off x="254166" y="3439756"/>
            <a:ext cx="36839" cy="3683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6" name="s"/>
          <p:cNvSpPr/>
          <p:nvPr/>
        </p:nvSpPr>
        <p:spPr>
          <a:xfrm>
            <a:off x="1979571" y="1129077"/>
            <a:ext cx="20073" cy="2007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7" name="s"/>
          <p:cNvSpPr/>
          <p:nvPr/>
        </p:nvSpPr>
        <p:spPr>
          <a:xfrm>
            <a:off x="11861760" y="847637"/>
            <a:ext cx="12358" cy="1235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8" name="s"/>
          <p:cNvSpPr/>
          <p:nvPr/>
        </p:nvSpPr>
        <p:spPr>
          <a:xfrm>
            <a:off x="0" y="470000"/>
            <a:ext cx="12192000" cy="10500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002366"/>
              </a:gs>
              <a:gs pos="100000">
                <a:srgbClr val="0b1a3a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319" name="t"/>
          <p:cNvSpPr txBox="1"/>
          <p:nvPr/>
        </p:nvSpPr>
        <p:spPr>
          <a:xfrm>
            <a:off x="760000" y="560000"/>
            <a:ext cx="11000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600" b="1" i="0" dirty="0">
                <a:solidFill>
                  <a:srgbClr val="e5edff"/>
                </a:solidFill>
                <a:latin typeface="Tahoma"/>
                <a:cs typeface="Tahoma"/>
              </a:rPr>
              <a:t>สรุปจุดเด่นของผลงาน</a:t>
            </a:r>
          </a:p>
        </p:txBody>
      </p:sp>
      <p:sp>
        <p:nvSpPr>
          <p:cNvPr id="320" name="s"/>
          <p:cNvSpPr/>
          <p:nvPr/>
        </p:nvSpPr>
        <p:spPr>
          <a:xfrm>
            <a:off x="760000" y="1780000"/>
            <a:ext cx="10700000" cy="78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 w="8000">
            <a:solidFill>
              <a:srgbClr val="f5c542"/>
            </a:solidFill>
          </a:ln>
        </p:spPr>
        <p:txBody>
          <a:bodyPr/>
          <a:lstStyle/>
          <a:p/>
        </p:txBody>
      </p:sp>
      <p:sp>
        <p:nvSpPr>
          <p:cNvPr id="321" name="t"/>
          <p:cNvSpPr txBox="1"/>
          <p:nvPr/>
        </p:nvSpPr>
        <p:spPr>
          <a:xfrm>
            <a:off x="950000" y="1870000"/>
            <a:ext cx="650000" cy="6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1" i="0" dirty="0">
                <a:solidFill>
                  <a:srgbClr val="f5c542"/>
                </a:solidFill>
                <a:latin typeface="Tahoma"/>
                <a:cs typeface="Tahoma"/>
              </a:rPr>
              <a:t>✓</a:t>
            </a:r>
          </a:p>
        </p:txBody>
      </p:sp>
      <p:sp>
        <p:nvSpPr>
          <p:cNvPr id="322" name="t"/>
          <p:cNvSpPr txBox="1"/>
          <p:nvPr/>
        </p:nvSpPr>
        <p:spPr>
          <a:xfrm>
            <a:off x="1700000" y="1910000"/>
            <a:ext cx="86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e5edff"/>
                </a:solidFill>
                <a:latin typeface="Tahoma"/>
                <a:cs typeface="Tahoma"/>
              </a:rPr>
              <a:t>สอดคล้องกับโจทย์ &amp; พัฒนาด้วย Kiro</a:t>
            </a:r>
          </a:p>
        </p:txBody>
      </p:sp>
      <p:sp>
        <p:nvSpPr>
          <p:cNvPr id="323" name="t"/>
          <p:cNvSpPr txBox="1"/>
          <p:nvPr/>
        </p:nvSpPr>
        <p:spPr>
          <a:xfrm>
            <a:off x="1700000" y="2250000"/>
            <a:ext cx="860000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9fb3d1"/>
                </a:solidFill>
                <a:latin typeface="Tahoma"/>
                <a:cs typeface="Tahoma"/>
              </a:rPr>
              <a:t>ใช้ Kiro ตลอดวงจร (Steering + Specs)</a:t>
            </a:r>
          </a:p>
        </p:txBody>
      </p:sp>
      <p:sp>
        <p:nvSpPr>
          <p:cNvPr id="324" name="s"/>
          <p:cNvSpPr/>
          <p:nvPr/>
        </p:nvSpPr>
        <p:spPr>
          <a:xfrm>
            <a:off x="10350000" y="1990000"/>
            <a:ext cx="950000" cy="370000"/>
          </a:xfrm>
          <a:prstGeom prst="roundRect">
            <a:avLst>
              <a:gd name="adj" fmla="val 16000"/>
            </a:avLst>
          </a:prstGeom>
          <a:noFill/>
          <a:ln w="9525">
            <a:solidFill>
              <a:srgbClr val="f5c542"/>
            </a:solidFill>
          </a:ln>
        </p:spPr>
        <p:txBody>
          <a:bodyPr/>
          <a:lstStyle/>
          <a:p/>
        </p:txBody>
      </p:sp>
      <p:sp>
        <p:nvSpPr>
          <p:cNvPr id="325" name="t"/>
          <p:cNvSpPr txBox="1"/>
          <p:nvPr/>
        </p:nvSpPr>
        <p:spPr>
          <a:xfrm>
            <a:off x="10350000" y="2020000"/>
            <a:ext cx="950000" cy="3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600" b="1" i="0" dirty="0">
                <a:solidFill>
                  <a:srgbClr val="f5c542"/>
                </a:solidFill>
                <a:latin typeface="Tahoma"/>
                <a:cs typeface="Tahoma"/>
              </a:rPr>
              <a:t>✓</a:t>
            </a:r>
          </a:p>
        </p:txBody>
      </p:sp>
      <p:sp>
        <p:nvSpPr>
          <p:cNvPr id="326" name="s"/>
          <p:cNvSpPr/>
          <p:nvPr/>
        </p:nvSpPr>
        <p:spPr>
          <a:xfrm>
            <a:off x="760000" y="2650000"/>
            <a:ext cx="10700000" cy="78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 w="8000">
            <a:solidFill>
              <a:srgbClr val="22d3ee"/>
            </a:solidFill>
          </a:ln>
        </p:spPr>
        <p:txBody>
          <a:bodyPr/>
          <a:lstStyle/>
          <a:p/>
        </p:txBody>
      </p:sp>
      <p:sp>
        <p:nvSpPr>
          <p:cNvPr id="327" name="t"/>
          <p:cNvSpPr txBox="1"/>
          <p:nvPr/>
        </p:nvSpPr>
        <p:spPr>
          <a:xfrm>
            <a:off x="950000" y="2740000"/>
            <a:ext cx="650000" cy="6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1" i="0" dirty="0">
                <a:solidFill>
                  <a:srgbClr val="22d3ee"/>
                </a:solidFill>
                <a:latin typeface="Tahoma"/>
                <a:cs typeface="Tahoma"/>
              </a:rPr>
              <a:t>✓</a:t>
            </a:r>
          </a:p>
        </p:txBody>
      </p:sp>
      <p:sp>
        <p:nvSpPr>
          <p:cNvPr id="328" name="t"/>
          <p:cNvSpPr txBox="1"/>
          <p:nvPr/>
        </p:nvSpPr>
        <p:spPr>
          <a:xfrm>
            <a:off x="1700000" y="2780000"/>
            <a:ext cx="86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e5edff"/>
                </a:solidFill>
                <a:latin typeface="Tahoma"/>
                <a:cs typeface="Tahoma"/>
              </a:rPr>
              <a:t>ความคิดสร้างสรรค์และนวัตกรรม</a:t>
            </a:r>
          </a:p>
        </p:txBody>
      </p:sp>
      <p:sp>
        <p:nvSpPr>
          <p:cNvPr id="329" name="t"/>
          <p:cNvSpPr txBox="1"/>
          <p:nvPr/>
        </p:nvSpPr>
        <p:spPr>
          <a:xfrm>
            <a:off x="1700000" y="3120000"/>
            <a:ext cx="860000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9fb3d1"/>
                </a:solidFill>
                <a:latin typeface="Tahoma"/>
                <a:cs typeface="Tahoma"/>
              </a:rPr>
              <a:t>รวมกราฟ 3 มิติ + สกัด AI + ร่างอัตโนมัติ</a:t>
            </a:r>
          </a:p>
        </p:txBody>
      </p:sp>
      <p:sp>
        <p:nvSpPr>
          <p:cNvPr id="330" name="s"/>
          <p:cNvSpPr/>
          <p:nvPr/>
        </p:nvSpPr>
        <p:spPr>
          <a:xfrm>
            <a:off x="10350000" y="2860000"/>
            <a:ext cx="950000" cy="370000"/>
          </a:xfrm>
          <a:prstGeom prst="roundRect">
            <a:avLst>
              <a:gd name="adj" fmla="val 16000"/>
            </a:avLst>
          </a:prstGeom>
          <a:noFill/>
          <a:ln w="9525">
            <a:solidFill>
              <a:srgbClr val="22d3ee"/>
            </a:solidFill>
          </a:ln>
        </p:spPr>
        <p:txBody>
          <a:bodyPr/>
          <a:lstStyle/>
          <a:p/>
        </p:txBody>
      </p:sp>
      <p:sp>
        <p:nvSpPr>
          <p:cNvPr id="331" name="t"/>
          <p:cNvSpPr txBox="1"/>
          <p:nvPr/>
        </p:nvSpPr>
        <p:spPr>
          <a:xfrm>
            <a:off x="10350000" y="2890000"/>
            <a:ext cx="950000" cy="3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600" b="1" i="0" dirty="0">
                <a:solidFill>
                  <a:srgbClr val="22d3ee"/>
                </a:solidFill>
                <a:latin typeface="Tahoma"/>
                <a:cs typeface="Tahoma"/>
              </a:rPr>
              <a:t>✓</a:t>
            </a:r>
          </a:p>
        </p:txBody>
      </p:sp>
      <p:sp>
        <p:nvSpPr>
          <p:cNvPr id="332" name="s"/>
          <p:cNvSpPr/>
          <p:nvPr/>
        </p:nvSpPr>
        <p:spPr>
          <a:xfrm>
            <a:off x="760000" y="3520000"/>
            <a:ext cx="10700000" cy="78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 w="8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333" name="t"/>
          <p:cNvSpPr txBox="1"/>
          <p:nvPr/>
        </p:nvSpPr>
        <p:spPr>
          <a:xfrm>
            <a:off x="950000" y="3610000"/>
            <a:ext cx="650000" cy="6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1" i="0" dirty="0">
                <a:solidFill>
                  <a:srgbClr val="a78bfa"/>
                </a:solidFill>
                <a:latin typeface="Tahoma"/>
                <a:cs typeface="Tahoma"/>
              </a:rPr>
              <a:t>✓</a:t>
            </a:r>
          </a:p>
        </p:txBody>
      </p:sp>
      <p:sp>
        <p:nvSpPr>
          <p:cNvPr id="334" name="t"/>
          <p:cNvSpPr txBox="1"/>
          <p:nvPr/>
        </p:nvSpPr>
        <p:spPr>
          <a:xfrm>
            <a:off x="1700000" y="3650000"/>
            <a:ext cx="86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e5edff"/>
                </a:solidFill>
                <a:latin typeface="Tahoma"/>
                <a:cs typeface="Tahoma"/>
              </a:rPr>
              <a:t>ความเป็นไปได้ในการใช้งานจริง</a:t>
            </a:r>
          </a:p>
        </p:txBody>
      </p:sp>
      <p:sp>
        <p:nvSpPr>
          <p:cNvPr id="335" name="t"/>
          <p:cNvSpPr txBox="1"/>
          <p:nvPr/>
        </p:nvSpPr>
        <p:spPr>
          <a:xfrm>
            <a:off x="1700000" y="3990000"/>
            <a:ext cx="860000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9fb3d1"/>
                </a:solidFill>
                <a:latin typeface="Tahoma"/>
                <a:cs typeface="Tahoma"/>
              </a:rPr>
              <a:t>ต้นทุนต่ำ ปลอดภัย พร้อมใช้ที่ MUKA</a:t>
            </a:r>
          </a:p>
        </p:txBody>
      </p:sp>
      <p:sp>
        <p:nvSpPr>
          <p:cNvPr id="336" name="s"/>
          <p:cNvSpPr/>
          <p:nvPr/>
        </p:nvSpPr>
        <p:spPr>
          <a:xfrm>
            <a:off x="10350000" y="3730000"/>
            <a:ext cx="950000" cy="370000"/>
          </a:xfrm>
          <a:prstGeom prst="roundRect">
            <a:avLst>
              <a:gd name="adj" fmla="val 16000"/>
            </a:avLst>
          </a:prstGeom>
          <a:noFill/>
          <a:ln w="9525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337" name="t"/>
          <p:cNvSpPr txBox="1"/>
          <p:nvPr/>
        </p:nvSpPr>
        <p:spPr>
          <a:xfrm>
            <a:off x="10350000" y="3760000"/>
            <a:ext cx="950000" cy="3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600" b="1" i="0" dirty="0">
                <a:solidFill>
                  <a:srgbClr val="a78bfa"/>
                </a:solidFill>
                <a:latin typeface="Tahoma"/>
                <a:cs typeface="Tahoma"/>
              </a:rPr>
              <a:t>✓</a:t>
            </a:r>
          </a:p>
        </p:txBody>
      </p:sp>
      <p:sp>
        <p:nvSpPr>
          <p:cNvPr id="338" name="s"/>
          <p:cNvSpPr/>
          <p:nvPr/>
        </p:nvSpPr>
        <p:spPr>
          <a:xfrm>
            <a:off x="760000" y="4390000"/>
            <a:ext cx="10700000" cy="78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 w="8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339" name="t"/>
          <p:cNvSpPr txBox="1"/>
          <p:nvPr/>
        </p:nvSpPr>
        <p:spPr>
          <a:xfrm>
            <a:off x="950000" y="4480000"/>
            <a:ext cx="650000" cy="6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1" i="0" dirty="0">
                <a:solidFill>
                  <a:srgbClr val="34d399"/>
                </a:solidFill>
                <a:latin typeface="Tahoma"/>
                <a:cs typeface="Tahoma"/>
              </a:rPr>
              <a:t>✓</a:t>
            </a:r>
          </a:p>
        </p:txBody>
      </p:sp>
      <p:sp>
        <p:nvSpPr>
          <p:cNvPr id="340" name="t"/>
          <p:cNvSpPr txBox="1"/>
          <p:nvPr/>
        </p:nvSpPr>
        <p:spPr>
          <a:xfrm>
            <a:off x="1700000" y="4520000"/>
            <a:ext cx="86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e5edff"/>
                </a:solidFill>
                <a:latin typeface="Tahoma"/>
                <a:cs typeface="Tahoma"/>
              </a:rPr>
              <a:t>คุณภาพของต้นแบบ (Prototype)</a:t>
            </a:r>
          </a:p>
        </p:txBody>
      </p:sp>
      <p:sp>
        <p:nvSpPr>
          <p:cNvPr id="341" name="t"/>
          <p:cNvSpPr txBox="1"/>
          <p:nvPr/>
        </p:nvSpPr>
        <p:spPr>
          <a:xfrm>
            <a:off x="1700000" y="4860000"/>
            <a:ext cx="860000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9fb3d1"/>
                </a:solidFill>
                <a:latin typeface="Tahoma"/>
                <a:cs typeface="Tahoma"/>
              </a:rPr>
              <a:t>พัฒนาเสร็จ เผยแพร่ออนไลน์ ใช้งานได้จริง</a:t>
            </a:r>
          </a:p>
        </p:txBody>
      </p:sp>
      <p:sp>
        <p:nvSpPr>
          <p:cNvPr id="342" name="s"/>
          <p:cNvSpPr/>
          <p:nvPr/>
        </p:nvSpPr>
        <p:spPr>
          <a:xfrm>
            <a:off x="10350000" y="4600000"/>
            <a:ext cx="950000" cy="370000"/>
          </a:xfrm>
          <a:prstGeom prst="roundRect">
            <a:avLst>
              <a:gd name="adj" fmla="val 16000"/>
            </a:avLst>
          </a:prstGeom>
          <a:noFill/>
          <a:ln w="9525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343" name="t"/>
          <p:cNvSpPr txBox="1"/>
          <p:nvPr/>
        </p:nvSpPr>
        <p:spPr>
          <a:xfrm>
            <a:off x="10350000" y="4630000"/>
            <a:ext cx="950000" cy="3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600" b="1" i="0" dirty="0">
                <a:solidFill>
                  <a:srgbClr val="34d399"/>
                </a:solidFill>
                <a:latin typeface="Tahoma"/>
                <a:cs typeface="Tahoma"/>
              </a:rPr>
              <a:t>✓</a:t>
            </a:r>
          </a:p>
        </p:txBody>
      </p:sp>
      <p:sp>
        <p:nvSpPr>
          <p:cNvPr id="344" name="s"/>
          <p:cNvSpPr/>
          <p:nvPr/>
        </p:nvSpPr>
        <p:spPr>
          <a:xfrm>
            <a:off x="760000" y="5260000"/>
            <a:ext cx="10700000" cy="780000"/>
          </a:xfrm>
          <a:prstGeom prst="roundRect">
            <a:avLst>
              <a:gd name="adj" fmla="val 12000"/>
            </a:avLst>
          </a:prstGeom>
          <a:solidFill>
            <a:srgbClr val="0b1a3a"/>
          </a:solidFill>
          <a:ln w="8000">
            <a:solidFill>
              <a:srgbClr val="fb923c"/>
            </a:solidFill>
          </a:ln>
        </p:spPr>
        <p:txBody>
          <a:bodyPr/>
          <a:lstStyle/>
          <a:p/>
        </p:txBody>
      </p:sp>
      <p:sp>
        <p:nvSpPr>
          <p:cNvPr id="345" name="t"/>
          <p:cNvSpPr txBox="1"/>
          <p:nvPr/>
        </p:nvSpPr>
        <p:spPr>
          <a:xfrm>
            <a:off x="950000" y="5350000"/>
            <a:ext cx="650000" cy="6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1" i="0" dirty="0">
                <a:solidFill>
                  <a:srgbClr val="fb923c"/>
                </a:solidFill>
                <a:latin typeface="Tahoma"/>
                <a:cs typeface="Tahoma"/>
              </a:rPr>
              <a:t>✓</a:t>
            </a:r>
          </a:p>
        </p:txBody>
      </p:sp>
      <p:sp>
        <p:nvSpPr>
          <p:cNvPr id="346" name="t"/>
          <p:cNvSpPr txBox="1"/>
          <p:nvPr/>
        </p:nvSpPr>
        <p:spPr>
          <a:xfrm>
            <a:off x="1700000" y="5390000"/>
            <a:ext cx="86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e5edff"/>
                </a:solidFill>
                <a:latin typeface="Tahoma"/>
                <a:cs typeface="Tahoma"/>
              </a:rPr>
              <a:t>ความครบถ้วนของเอกสาร &amp; การนำเสนอ</a:t>
            </a:r>
          </a:p>
        </p:txBody>
      </p:sp>
      <p:sp>
        <p:nvSpPr>
          <p:cNvPr id="347" name="t"/>
          <p:cNvSpPr txBox="1"/>
          <p:nvPr/>
        </p:nvSpPr>
        <p:spPr>
          <a:xfrm>
            <a:off x="1700000" y="5730000"/>
            <a:ext cx="860000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9fb3d1"/>
                </a:solidFill>
                <a:latin typeface="Tahoma"/>
                <a:cs typeface="Tahoma"/>
              </a:rPr>
              <a:t>เอกสารครบทุกหัวข้อ อธิบายชัดเจน</a:t>
            </a:r>
          </a:p>
        </p:txBody>
      </p:sp>
      <p:sp>
        <p:nvSpPr>
          <p:cNvPr id="348" name="s"/>
          <p:cNvSpPr/>
          <p:nvPr/>
        </p:nvSpPr>
        <p:spPr>
          <a:xfrm>
            <a:off x="10350000" y="5470000"/>
            <a:ext cx="950000" cy="370000"/>
          </a:xfrm>
          <a:prstGeom prst="roundRect">
            <a:avLst>
              <a:gd name="adj" fmla="val 16000"/>
            </a:avLst>
          </a:prstGeom>
          <a:noFill/>
          <a:ln w="9525">
            <a:solidFill>
              <a:srgbClr val="fb923c"/>
            </a:solidFill>
          </a:ln>
        </p:spPr>
        <p:txBody>
          <a:bodyPr/>
          <a:lstStyle/>
          <a:p/>
        </p:txBody>
      </p:sp>
      <p:sp>
        <p:nvSpPr>
          <p:cNvPr id="349" name="t"/>
          <p:cNvSpPr txBox="1"/>
          <p:nvPr/>
        </p:nvSpPr>
        <p:spPr>
          <a:xfrm>
            <a:off x="10350000" y="5500000"/>
            <a:ext cx="950000" cy="3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600" b="1" i="0" dirty="0">
                <a:solidFill>
                  <a:srgbClr val="fb923c"/>
                </a:solidFill>
                <a:latin typeface="Tahoma"/>
                <a:cs typeface="Tahoma"/>
              </a:rPr>
              <a:t>✓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LIKA">
  <a:themeElements>
    <a:clrScheme name="LIKA">
      <a:dk1>
        <a:srgbClr val="060a16"/>
      </a:dk1>
      <a:lt1>
        <a:srgbClr val="FFFFFF"/>
      </a:lt1>
      <a:dk2>
        <a:srgbClr val="002366"/>
      </a:dk2>
      <a:lt2>
        <a:srgbClr val="E5EDFF"/>
      </a:lt2>
      <a:accent1>
        <a:srgbClr val="002366"/>
      </a:accent1>
      <a:accent2>
        <a:srgbClr val="F5C542"/>
      </a:accent2>
      <a:accent3>
        <a:srgbClr val="22D3EE"/>
      </a:accent3>
      <a:accent4>
        <a:srgbClr val="34D399"/>
      </a:accent4>
      <a:accent5>
        <a:srgbClr val="A78BFA"/>
      </a:accent5>
      <a:accent6>
        <a:srgbClr val="FB923C"/>
      </a:accent6>
      <a:hlink>
        <a:srgbClr val="22D3EE"/>
      </a:hlink>
      <a:folHlink>
        <a:srgbClr val="7DD3FC"/>
      </a:folHlink>
    </a:clrScheme>
    <a:fontScheme name="LIK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IK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