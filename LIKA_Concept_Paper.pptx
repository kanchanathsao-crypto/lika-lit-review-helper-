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28627" cy="2862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3602037" y="314536"/>
            <a:ext cx="14816" cy="1481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7275367" y="3507882"/>
            <a:ext cx="14289" cy="142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4037655" y="760955"/>
            <a:ext cx="30056" cy="300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7122250" y="495854"/>
            <a:ext cx="39094" cy="3909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16363" cy="163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4858837" y="3515993"/>
            <a:ext cx="16726" cy="1672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9071203" y="988112"/>
            <a:ext cx="30707" cy="30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5175466" y="4699778"/>
            <a:ext cx="38742" cy="3874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23255" cy="2325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7530188" y="2415397"/>
            <a:ext cx="31954" cy="3195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1228106" y="990407"/>
            <a:ext cx="28775" cy="287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7014936" y="1383802"/>
            <a:ext cx="36809" cy="36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5738744" y="1274938"/>
            <a:ext cx="28022" cy="280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7074924" y="328894"/>
            <a:ext cx="33896" cy="3389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1302255" y="6413685"/>
            <a:ext cx="30287" cy="302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613779" y="6619401"/>
            <a:ext cx="38815" cy="388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7476611" y="2387360"/>
            <a:ext cx="35482" cy="354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6472506" y="5609065"/>
            <a:ext cx="23370" cy="233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s"/>
          <p:cNvSpPr/>
          <p:nvPr/>
        </p:nvSpPr>
        <p:spPr>
          <a:xfrm>
            <a:off x="0" y="2350000"/>
            <a:ext cx="12192000" cy="20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8" name="s"/>
          <p:cNvSpPr/>
          <p:nvPr/>
        </p:nvSpPr>
        <p:spPr>
          <a:xfrm>
            <a:off x="820000" y="2620000"/>
            <a:ext cx="1420000" cy="1420000"/>
          </a:xfrm>
          <a:prstGeom prst="roundRect">
            <a:avLst>
              <a:gd name="adj" fmla="val 24000"/>
            </a:avLst>
          </a:prstGeom>
          <a:gradFill>
            <a:gsLst>
              <a:gs pos="0">
                <a:srgbClr val="0b1a3a"/>
              </a:gs>
              <a:gs pos="100000">
                <a:srgbClr val="002366"/>
              </a:gs>
            </a:gsLst>
            <a:lin ang="5400000" scaled="1"/>
          </a:gradFill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cxnSp>
        <p:nvCxnSpPr>
          <p:cNvPr id="59" name="l"/>
          <p:cNvCxnSpPr/>
          <p:nvPr/>
        </p:nvCxnSpPr>
        <p:spPr>
          <a:xfrm flipH="0" flipV="0">
            <a:off x="15300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0" name="l"/>
          <p:cNvCxnSpPr/>
          <p:nvPr/>
        </p:nvCxnSpPr>
        <p:spPr>
          <a:xfrm flipH="0" flipV="0">
            <a:off x="1530000" y="3330000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1" name="l"/>
          <p:cNvCxnSpPr/>
          <p:nvPr/>
        </p:nvCxnSpPr>
        <p:spPr>
          <a:xfrm flipH="1" flipV="0">
            <a:off x="1288601" y="3330000"/>
            <a:ext cx="241399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2" name="l"/>
          <p:cNvCxnSpPr/>
          <p:nvPr/>
        </p:nvCxnSpPr>
        <p:spPr>
          <a:xfrm flipH="1" flipV="0">
            <a:off x="10472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3" name="l"/>
          <p:cNvCxnSpPr/>
          <p:nvPr/>
        </p:nvCxnSpPr>
        <p:spPr>
          <a:xfrm flipH="1" flipV="1">
            <a:off x="12886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4" name="l"/>
          <p:cNvCxnSpPr/>
          <p:nvPr/>
        </p:nvCxnSpPr>
        <p:spPr>
          <a:xfrm flipH="0" flipV="1">
            <a:off x="15300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sp>
        <p:nvSpPr>
          <p:cNvPr id="65" name="s"/>
          <p:cNvSpPr/>
          <p:nvPr/>
        </p:nvSpPr>
        <p:spPr>
          <a:xfrm>
            <a:off x="19748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s"/>
          <p:cNvSpPr/>
          <p:nvPr/>
        </p:nvSpPr>
        <p:spPr>
          <a:xfrm>
            <a:off x="1733400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s"/>
          <p:cNvSpPr/>
          <p:nvPr/>
        </p:nvSpPr>
        <p:spPr>
          <a:xfrm>
            <a:off x="1250601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s"/>
          <p:cNvSpPr/>
          <p:nvPr/>
        </p:nvSpPr>
        <p:spPr>
          <a:xfrm>
            <a:off x="10092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s"/>
          <p:cNvSpPr/>
          <p:nvPr/>
        </p:nvSpPr>
        <p:spPr>
          <a:xfrm>
            <a:off x="12506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0" name="s"/>
          <p:cNvSpPr/>
          <p:nvPr/>
        </p:nvSpPr>
        <p:spPr>
          <a:xfrm>
            <a:off x="17334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"/>
          <p:cNvSpPr/>
          <p:nvPr/>
        </p:nvSpPr>
        <p:spPr>
          <a:xfrm>
            <a:off x="1460000" y="3260000"/>
            <a:ext cx="140000" cy="1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72" name="t"/>
          <p:cNvSpPr txBox="1"/>
          <p:nvPr/>
        </p:nvSpPr>
        <p:spPr>
          <a:xfrm>
            <a:off x="2550000" y="2560000"/>
            <a:ext cx="90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Concept Paper</a:t>
            </a:r>
          </a:p>
        </p:txBody>
      </p:sp>
      <p:sp>
        <p:nvSpPr>
          <p:cNvPr id="73" name="t"/>
          <p:cNvSpPr txBox="1"/>
          <p:nvPr/>
        </p:nvSpPr>
        <p:spPr>
          <a:xfrm>
            <a:off x="2550000" y="2960000"/>
            <a:ext cx="9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4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74" name="t"/>
          <p:cNvSpPr txBox="1"/>
          <p:nvPr/>
        </p:nvSpPr>
        <p:spPr>
          <a:xfrm>
            <a:off x="2550000" y="3760000"/>
            <a:ext cx="90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ระบบผู้ช่วยทบทวนวรรณกรรมและจัดการความรู้งานวิจัย · ห้องสมุดวิทยาเขตกาญจนบุรี</a:t>
            </a:r>
          </a:p>
        </p:txBody>
      </p:sp>
      <p:sp>
        <p:nvSpPr>
          <p:cNvPr id="75" name="s"/>
          <p:cNvSpPr/>
          <p:nvPr/>
        </p:nvSpPr>
        <p:spPr>
          <a:xfrm>
            <a:off x="820000" y="4600000"/>
            <a:ext cx="196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76" name="t"/>
          <p:cNvSpPr txBox="1"/>
          <p:nvPr/>
        </p:nvSpPr>
        <p:spPr>
          <a:xfrm>
            <a:off x="820000" y="4594000"/>
            <a:ext cx="196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Research &amp; Innovation</a:t>
            </a:r>
          </a:p>
        </p:txBody>
      </p:sp>
      <p:sp>
        <p:nvSpPr>
          <p:cNvPr id="77" name="s"/>
          <p:cNvSpPr/>
          <p:nvPr/>
        </p:nvSpPr>
        <p:spPr>
          <a:xfrm>
            <a:off x="2930000" y="4600000"/>
            <a:ext cx="148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2930000" y="4594000"/>
            <a:ext cx="148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Powered by Kiro</a:t>
            </a:r>
          </a:p>
        </p:txBody>
      </p:sp>
      <p:sp>
        <p:nvSpPr>
          <p:cNvPr id="79" name="s"/>
          <p:cNvSpPr/>
          <p:nvPr/>
        </p:nvSpPr>
        <p:spPr>
          <a:xfrm>
            <a:off x="4560000" y="4600000"/>
            <a:ext cx="132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80" name="t"/>
          <p:cNvSpPr txBox="1"/>
          <p:nvPr/>
        </p:nvSpPr>
        <p:spPr>
          <a:xfrm>
            <a:off x="4560000" y="4594000"/>
            <a:ext cx="132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81" name="s"/>
          <p:cNvSpPr/>
          <p:nvPr/>
        </p:nvSpPr>
        <p:spPr>
          <a:xfrm>
            <a:off x="6030000" y="4600000"/>
            <a:ext cx="116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82" name="t"/>
          <p:cNvSpPr txBox="1"/>
          <p:nvPr/>
        </p:nvSpPr>
        <p:spPr>
          <a:xfrm>
            <a:off x="6030000" y="4594000"/>
            <a:ext cx="116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22 สาขาวิชา</a:t>
            </a:r>
          </a:p>
        </p:txBody>
      </p:sp>
      <p:sp>
        <p:nvSpPr>
          <p:cNvPr id="83" name="t"/>
          <p:cNvSpPr txBox="1"/>
          <p:nvPr/>
        </p:nvSpPr>
        <p:spPr>
          <a:xfrm>
            <a:off x="820000" y="575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9fb3d1"/>
                </a:solidFill>
                <a:latin typeface="Tahoma"/>
                <a:cs typeface="Tahoma"/>
              </a:rPr>
              <a:t>เสนอต่อ: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Mahidol AI Community 2026 — การพิจารณาผลงานรอบที่ 1 (Technical Review)</a:t>
            </a:r>
          </a:p>
        </p:txBody>
      </p:sp>
      <p:sp>
        <p:nvSpPr>
          <p:cNvPr id="84" name="t"/>
          <p:cNvSpPr txBox="1"/>
          <p:nvPr/>
        </p:nvSpPr>
        <p:spPr>
          <a:xfrm>
            <a:off x="820000" y="612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https://tinyurl.com/lika-nexus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EXECUTIVE SUMMARY</a:t>
            </a:r>
          </a:p>
        </p:txBody>
      </p:sp>
      <p:sp>
        <p:nvSpPr>
          <p:cNvPr id="87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บทสรุปผู้บริหาร</a:t>
            </a:r>
          </a:p>
        </p:txBody>
      </p:sp>
      <p:sp>
        <p:nvSpPr>
          <p:cNvPr id="8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2/10</a:t>
            </a:r>
          </a:p>
        </p:txBody>
      </p:sp>
      <p:sp>
        <p:nvSpPr>
          <p:cNvPr id="89" name="s"/>
          <p:cNvSpPr/>
          <p:nvPr/>
        </p:nvSpPr>
        <p:spPr>
          <a:xfrm>
            <a:off x="760000" y="1950000"/>
            <a:ext cx="640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90" name="t"/>
          <p:cNvSpPr txBox="1"/>
          <p:nvPr/>
        </p:nvSpPr>
        <p:spPr>
          <a:xfrm>
            <a:off x="1000000" y="2120000"/>
            <a:ext cx="6000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LIKA Nexus เป็นเว็บแอปพลิเคชันผู้ช่วยทบทวนวรรณกรรม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ที่นำไฟล์งานวิจัยหลายฉบับเข้ามาสกัดประเด็นสำคัญโดยอัตโนมัติ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จัดทำตารางเปรียบเทียบระเบียบวิธีวิจัย กราฟความรู้ 3 มิติ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และร่างบททบทวนวรรณกรรมพร้อมการอ้างอิง เพื่อลดระยะเวลา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การทำ Literature Review จากหลายวันเหลือเพียงไม่กี่นาที</a:t>
            </a:r>
          </a:p>
        </p:txBody>
      </p:sp>
      <p:sp>
        <p:nvSpPr>
          <p:cNvPr id="91" name="t"/>
          <p:cNvSpPr txBox="1"/>
          <p:nvPr/>
        </p:nvSpPr>
        <p:spPr>
          <a:xfrm>
            <a:off x="1000000" y="415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ประมวลผลภายในเบราว์เซอร์ทั้งหมด (Privacy-first)</a:t>
            </a:r>
          </a:p>
        </p:txBody>
      </p:sp>
      <p:sp>
        <p:nvSpPr>
          <p:cNvPr id="92" name="t"/>
          <p:cNvSpPr txBox="1"/>
          <p:nvPr/>
        </p:nvSpPr>
        <p:spPr>
          <a:xfrm>
            <a:off x="1000000" y="45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พัฒนาด้วย Kiro แบบ Spec-driven · ใช้งานได้จริงแล้ว</a:t>
            </a:r>
          </a:p>
        </p:txBody>
      </p:sp>
      <p:sp>
        <p:nvSpPr>
          <p:cNvPr id="93" name="t"/>
          <p:cNvSpPr txBox="1"/>
          <p:nvPr/>
        </p:nvSpPr>
        <p:spPr>
          <a:xfrm>
            <a:off x="7450000" y="1980000"/>
            <a:ext cx="4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หัวข้อในเอกสาร</a:t>
            </a:r>
          </a:p>
        </p:txBody>
      </p:sp>
      <p:sp>
        <p:nvSpPr>
          <p:cNvPr id="94" name="s"/>
          <p:cNvSpPr/>
          <p:nvPr/>
        </p:nvSpPr>
        <p:spPr>
          <a:xfrm>
            <a:off x="7450000" y="242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5" name="t"/>
          <p:cNvSpPr txBox="1"/>
          <p:nvPr/>
        </p:nvSpPr>
        <p:spPr>
          <a:xfrm>
            <a:off x="7620000" y="244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1  ปัญหา (Problem)</a:t>
            </a:r>
          </a:p>
        </p:txBody>
      </p:sp>
      <p:sp>
        <p:nvSpPr>
          <p:cNvPr id="96" name="s"/>
          <p:cNvSpPr/>
          <p:nvPr/>
        </p:nvSpPr>
        <p:spPr>
          <a:xfrm>
            <a:off x="7450000" y="286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t"/>
          <p:cNvSpPr txBox="1"/>
          <p:nvPr/>
        </p:nvSpPr>
        <p:spPr>
          <a:xfrm>
            <a:off x="7620000" y="288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2  แนวคิดและวัตถุประสงค์</a:t>
            </a:r>
          </a:p>
        </p:txBody>
      </p:sp>
      <p:sp>
        <p:nvSpPr>
          <p:cNvPr id="98" name="s"/>
          <p:cNvSpPr/>
          <p:nvPr/>
        </p:nvSpPr>
        <p:spPr>
          <a:xfrm>
            <a:off x="7450000" y="330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9" name="t"/>
          <p:cNvSpPr txBox="1"/>
          <p:nvPr/>
        </p:nvSpPr>
        <p:spPr>
          <a:xfrm>
            <a:off x="7620000" y="332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3  กลุ่มผู้ใช้ / ผู้ได้รับประโยชน์</a:t>
            </a:r>
          </a:p>
        </p:txBody>
      </p:sp>
      <p:sp>
        <p:nvSpPr>
          <p:cNvPr id="100" name="s"/>
          <p:cNvSpPr/>
          <p:nvPr/>
        </p:nvSpPr>
        <p:spPr>
          <a:xfrm>
            <a:off x="7450000" y="374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"/>
          <p:cNvSpPr txBox="1"/>
          <p:nvPr/>
        </p:nvSpPr>
        <p:spPr>
          <a:xfrm>
            <a:off x="7620000" y="376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4  การประยุกต์ใช้ AI</a:t>
            </a:r>
          </a:p>
        </p:txBody>
      </p:sp>
      <p:sp>
        <p:nvSpPr>
          <p:cNvPr id="102" name="s"/>
          <p:cNvSpPr/>
          <p:nvPr/>
        </p:nvSpPr>
        <p:spPr>
          <a:xfrm>
            <a:off x="7450000" y="418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t"/>
          <p:cNvSpPr txBox="1"/>
          <p:nvPr/>
        </p:nvSpPr>
        <p:spPr>
          <a:xfrm>
            <a:off x="7620000" y="420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5  การประยุกต์ใช้ Kiro</a:t>
            </a:r>
          </a:p>
        </p:txBody>
      </p:sp>
      <p:sp>
        <p:nvSpPr>
          <p:cNvPr id="104" name="s"/>
          <p:cNvSpPr/>
          <p:nvPr/>
        </p:nvSpPr>
        <p:spPr>
          <a:xfrm>
            <a:off x="7450000" y="462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t"/>
          <p:cNvSpPr txBox="1"/>
          <p:nvPr/>
        </p:nvSpPr>
        <p:spPr>
          <a:xfrm>
            <a:off x="7620000" y="464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6  ต้นแบบ (Prototype)</a:t>
            </a:r>
          </a:p>
        </p:txBody>
      </p:sp>
      <p:sp>
        <p:nvSpPr>
          <p:cNvPr id="106" name="s"/>
          <p:cNvSpPr/>
          <p:nvPr/>
        </p:nvSpPr>
        <p:spPr>
          <a:xfrm>
            <a:off x="7450000" y="506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t"/>
          <p:cNvSpPr txBox="1"/>
          <p:nvPr/>
        </p:nvSpPr>
        <p:spPr>
          <a:xfrm>
            <a:off x="7620000" y="508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7  คุณค่า &amp; โอกาสใช้งานจริง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ปัญหา (PROBLEM)</a:t>
            </a:r>
          </a:p>
        </p:txBody>
      </p:sp>
      <p:sp>
        <p:nvSpPr>
          <p:cNvPr id="110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การทบทวนวรรณกรรมใช้เวลาและทรัพยากรสูง</a:t>
            </a:r>
          </a:p>
        </p:txBody>
      </p:sp>
      <p:sp>
        <p:nvSpPr>
          <p:cNvPr id="111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3/10</a:t>
            </a:r>
          </a:p>
        </p:txBody>
      </p:sp>
      <p:sp>
        <p:nvSpPr>
          <p:cNvPr id="112" name="s"/>
          <p:cNvSpPr/>
          <p:nvPr/>
        </p:nvSpPr>
        <p:spPr>
          <a:xfrm>
            <a:off x="10050000" y="2000000"/>
            <a:ext cx="1300000" cy="13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87171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3" name="t"/>
          <p:cNvSpPr txBox="1"/>
          <p:nvPr/>
        </p:nvSpPr>
        <p:spPr>
          <a:xfrm>
            <a:off x="10050000" y="200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114" name="t"/>
          <p:cNvSpPr txBox="1"/>
          <p:nvPr/>
        </p:nvSpPr>
        <p:spPr>
          <a:xfrm>
            <a:off x="760000" y="205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การทบทวนวรรณกรรมต้องอ่านเอกสารจำนวนมากทีละฉบับ ใช้เวลาหลายวันถึงหลายสัปดาห์</a:t>
            </a:r>
          </a:p>
        </p:txBody>
      </p:sp>
      <p:sp>
        <p:nvSpPr>
          <p:cNvPr id="115" name="t"/>
          <p:cNvSpPr txBox="1"/>
          <p:nvPr/>
        </p:nvSpPr>
        <p:spPr>
          <a:xfrm>
            <a:off x="760000" y="267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สาขาวิทยาศาสตร์และการแพทย์มีปริมาณงานวิจัยเพิ่มขึ้นอย่างรวดเร็วและต่อเนื่อง</a:t>
            </a:r>
          </a:p>
        </p:txBody>
      </p:sp>
      <p:sp>
        <p:nvSpPr>
          <p:cNvPr id="116" name="t"/>
          <p:cNvSpPr txBox="1"/>
          <p:nvPr/>
        </p:nvSpPr>
        <p:spPr>
          <a:xfrm>
            <a:off x="760000" y="329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ผู้วิจัยต้องสกัดประเด็น เปรียบเทียบระเบียบวิธี และเรียบเรียงบทความด้วยตนเองทั้งหมด</a:t>
            </a:r>
          </a:p>
        </p:txBody>
      </p:sp>
      <p:sp>
        <p:nvSpPr>
          <p:cNvPr id="117" name="t"/>
          <p:cNvSpPr txBox="1"/>
          <p:nvPr/>
        </p:nvSpPr>
        <p:spPr>
          <a:xfrm>
            <a:off x="760000" y="391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บุคลากรห้องสมุดได้รับคำขอสนับสนุนการสืบค้นจำนวนมากภายใต้ข้อจำกัดด้านเวลา</a:t>
            </a:r>
          </a:p>
        </p:txBody>
      </p:sp>
      <p:sp>
        <p:nvSpPr>
          <p:cNvPr id="118" name="t"/>
          <p:cNvSpPr txBox="1"/>
          <p:nvPr/>
        </p:nvSpPr>
        <p:spPr>
          <a:xfrm>
            <a:off x="760000" y="453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เครื่องมือที่มีอยู่มักมีค่าใช้จ่ายสูง ใช้งานซับซ้อน หรือต้องอัปโหลดเอกสารขึ้นระบบภายนอก</a:t>
            </a:r>
          </a:p>
        </p:txBody>
      </p:sp>
      <p:sp>
        <p:nvSpPr>
          <p:cNvPr id="119" name="s"/>
          <p:cNvSpPr/>
          <p:nvPr/>
        </p:nvSpPr>
        <p:spPr>
          <a:xfrm>
            <a:off x="760000" y="5500000"/>
            <a:ext cx="10700000" cy="76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120" name="t"/>
          <p:cNvSpPr txBox="1"/>
          <p:nvPr/>
        </p:nvSpPr>
        <p:spPr>
          <a:xfrm>
            <a:off x="1000000" y="5600000"/>
            <a:ext cx="10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b923c"/>
                </a:solidFill>
                <a:latin typeface="Tahoma"/>
                <a:cs typeface="Tahoma"/>
              </a:rPr>
              <a:t>ผลกระทบ: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ประสิทธิภาพงานวิจัยและงานบริการวิชาการลดลง และมีความเสี่ยงด้านความลับของงานวิจัยที่ยังไม่เผยแพร่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แนวคิดและวัตถุประสงค์ของ SOLUTION</a:t>
            </a:r>
          </a:p>
        </p:txBody>
      </p:sp>
      <p:sp>
        <p:nvSpPr>
          <p:cNvPr id="123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แปลงงานทบทวนวรรณกรรมให้เป็นระบบอัตโนมัติ</a:t>
            </a:r>
          </a:p>
        </p:txBody>
      </p:sp>
      <p:sp>
        <p:nvSpPr>
          <p:cNvPr id="12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4/10</a:t>
            </a:r>
          </a:p>
        </p:txBody>
      </p:sp>
      <p:sp>
        <p:nvSpPr>
          <p:cNvPr id="125" name="t"/>
          <p:cNvSpPr txBox="1"/>
          <p:nvPr/>
        </p:nvSpPr>
        <p:spPr>
          <a:xfrm>
            <a:off x="760000" y="1950000"/>
            <a:ext cx="11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แนวคิดหลัก (Concept)</a:t>
            </a:r>
          </a:p>
        </p:txBody>
      </p:sp>
      <p:sp>
        <p:nvSpPr>
          <p:cNvPr id="126" name="s"/>
          <p:cNvSpPr/>
          <p:nvPr/>
        </p:nvSpPr>
        <p:spPr>
          <a:xfrm>
            <a:off x="760000" y="2320000"/>
            <a:ext cx="10700000" cy="76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27" name="t"/>
          <p:cNvSpPr txBox="1"/>
          <p:nvPr/>
        </p:nvSpPr>
        <p:spPr>
          <a:xfrm>
            <a:off x="1000000" y="2420000"/>
            <a:ext cx="1030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รวบรวม–วิเคราะห์–สังเคราะห์ งานวิจัยหลายฉบับไว้ในระบบเดียว โดยใช้ AI สกัดสาระสำคัญ แล้วนำเสนอผ่านกราฟความรู้ ตารางเปรียบเทียบ และร่างบททบทวนวรรณกรรมที่ปรับแก้ได้</a:t>
            </a:r>
          </a:p>
        </p:txBody>
      </p:sp>
      <p:sp>
        <p:nvSpPr>
          <p:cNvPr id="128" name="t"/>
          <p:cNvSpPr txBox="1"/>
          <p:nvPr/>
        </p:nvSpPr>
        <p:spPr>
          <a:xfrm>
            <a:off x="760000" y="3300000"/>
            <a:ext cx="11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วัตถุประสงค์ (Objectives)</a:t>
            </a:r>
          </a:p>
        </p:txBody>
      </p:sp>
      <p:sp>
        <p:nvSpPr>
          <p:cNvPr id="129" name="s"/>
          <p:cNvSpPr/>
          <p:nvPr/>
        </p:nvSpPr>
        <p:spPr>
          <a:xfrm>
            <a:off x="760000" y="370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30" name="s"/>
          <p:cNvSpPr/>
          <p:nvPr/>
        </p:nvSpPr>
        <p:spPr>
          <a:xfrm>
            <a:off x="910000" y="385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1" name="t"/>
          <p:cNvSpPr txBox="1"/>
          <p:nvPr/>
        </p:nvSpPr>
        <p:spPr>
          <a:xfrm>
            <a:off x="910000" y="385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⏱️</a:t>
            </a:r>
          </a:p>
        </p:txBody>
      </p:sp>
      <p:sp>
        <p:nvSpPr>
          <p:cNvPr id="132" name="t"/>
          <p:cNvSpPr txBox="1"/>
          <p:nvPr/>
        </p:nvSpPr>
        <p:spPr>
          <a:xfrm>
            <a:off x="1660000" y="384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ลดระยะเวลา</a:t>
            </a:r>
          </a:p>
        </p:txBody>
      </p:sp>
      <p:sp>
        <p:nvSpPr>
          <p:cNvPr id="133" name="t"/>
          <p:cNvSpPr txBox="1"/>
          <p:nvPr/>
        </p:nvSpPr>
        <p:spPr>
          <a:xfrm>
            <a:off x="1660000" y="420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ย่นเวลาทบทวนวรรณกรรมจากหลายวันเหลือไม่กี่นาที</a:t>
            </a:r>
          </a:p>
        </p:txBody>
      </p:sp>
      <p:sp>
        <p:nvSpPr>
          <p:cNvPr id="134" name="s"/>
          <p:cNvSpPr/>
          <p:nvPr/>
        </p:nvSpPr>
        <p:spPr>
          <a:xfrm>
            <a:off x="6310000" y="370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35" name="s"/>
          <p:cNvSpPr/>
          <p:nvPr/>
        </p:nvSpPr>
        <p:spPr>
          <a:xfrm>
            <a:off x="6460000" y="385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6" name="t"/>
          <p:cNvSpPr txBox="1"/>
          <p:nvPr/>
        </p:nvSpPr>
        <p:spPr>
          <a:xfrm>
            <a:off x="6460000" y="385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🧩</a:t>
            </a:r>
          </a:p>
        </p:txBody>
      </p:sp>
      <p:sp>
        <p:nvSpPr>
          <p:cNvPr id="137" name="t"/>
          <p:cNvSpPr txBox="1"/>
          <p:nvPr/>
        </p:nvSpPr>
        <p:spPr>
          <a:xfrm>
            <a:off x="7210000" y="384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เพิ่มคุณภาพ</a:t>
            </a:r>
          </a:p>
        </p:txBody>
      </p:sp>
      <p:sp>
        <p:nvSpPr>
          <p:cNvPr id="138" name="t"/>
          <p:cNvSpPr txBox="1"/>
          <p:nvPr/>
        </p:nvSpPr>
        <p:spPr>
          <a:xfrm>
            <a:off x="7210000" y="420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เปรียบเทียบระเบียบวิธีอย่างเป็นระบบ 5 ประเด็น</a:t>
            </a:r>
          </a:p>
        </p:txBody>
      </p:sp>
      <p:sp>
        <p:nvSpPr>
          <p:cNvPr id="139" name="s"/>
          <p:cNvSpPr/>
          <p:nvPr/>
        </p:nvSpPr>
        <p:spPr>
          <a:xfrm>
            <a:off x="760000" y="473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40" name="s"/>
          <p:cNvSpPr/>
          <p:nvPr/>
        </p:nvSpPr>
        <p:spPr>
          <a:xfrm>
            <a:off x="910000" y="488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1" name="t"/>
          <p:cNvSpPr txBox="1"/>
          <p:nvPr/>
        </p:nvSpPr>
        <p:spPr>
          <a:xfrm>
            <a:off x="910000" y="488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🔐</a:t>
            </a:r>
          </a:p>
        </p:txBody>
      </p:sp>
      <p:sp>
        <p:nvSpPr>
          <p:cNvPr id="142" name="t"/>
          <p:cNvSpPr txBox="1"/>
          <p:nvPr/>
        </p:nvSpPr>
        <p:spPr>
          <a:xfrm>
            <a:off x="1660000" y="487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รักษาความลับ</a:t>
            </a:r>
          </a:p>
        </p:txBody>
      </p:sp>
      <p:sp>
        <p:nvSpPr>
          <p:cNvPr id="143" name="t"/>
          <p:cNvSpPr txBox="1"/>
          <p:nvPr/>
        </p:nvSpPr>
        <p:spPr>
          <a:xfrm>
            <a:off x="1660000" y="523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ประมวลผลในเบราว์เซอร์ ไม่ส่งไฟล์ออกภายนอก</a:t>
            </a:r>
          </a:p>
        </p:txBody>
      </p:sp>
      <p:sp>
        <p:nvSpPr>
          <p:cNvPr id="144" name="s"/>
          <p:cNvSpPr/>
          <p:nvPr/>
        </p:nvSpPr>
        <p:spPr>
          <a:xfrm>
            <a:off x="6310000" y="473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45" name="s"/>
          <p:cNvSpPr/>
          <p:nvPr/>
        </p:nvSpPr>
        <p:spPr>
          <a:xfrm>
            <a:off x="6460000" y="488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6" name="t"/>
          <p:cNvSpPr txBox="1"/>
          <p:nvPr/>
        </p:nvSpPr>
        <p:spPr>
          <a:xfrm>
            <a:off x="6460000" y="488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📚</a:t>
            </a:r>
          </a:p>
        </p:txBody>
      </p:sp>
      <p:sp>
        <p:nvSpPr>
          <p:cNvPr id="147" name="t"/>
          <p:cNvSpPr txBox="1"/>
          <p:nvPr/>
        </p:nvSpPr>
        <p:spPr>
          <a:xfrm>
            <a:off x="7210000" y="487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ครอบคลุม</a:t>
            </a:r>
          </a:p>
        </p:txBody>
      </p:sp>
      <p:sp>
        <p:nvSpPr>
          <p:cNvPr id="148" name="t"/>
          <p:cNvSpPr txBox="1"/>
          <p:nvPr/>
        </p:nvSpPr>
        <p:spPr>
          <a:xfrm>
            <a:off x="7210000" y="523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รองรับงานวิจัย 22 สาขา ทั้งวิทย์-สังคม-มนุษยศาสตร์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กลุ่มผู้ใช้ / ผู้ได้รับประโยชน์</a:t>
            </a:r>
          </a:p>
        </p:txBody>
      </p:sp>
      <p:sp>
        <p:nvSpPr>
          <p:cNvPr id="151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ออกแบบเพื่อประชาคมวิจัย MUKA</a:t>
            </a:r>
          </a:p>
        </p:txBody>
      </p:sp>
      <p:sp>
        <p:nvSpPr>
          <p:cNvPr id="15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5/10</a:t>
            </a:r>
          </a:p>
        </p:txBody>
      </p:sp>
      <p:sp>
        <p:nvSpPr>
          <p:cNvPr id="153" name="s"/>
          <p:cNvSpPr/>
          <p:nvPr/>
        </p:nvSpPr>
        <p:spPr>
          <a:xfrm>
            <a:off x="760000" y="200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4" name="s"/>
          <p:cNvSpPr/>
          <p:nvPr/>
        </p:nvSpPr>
        <p:spPr>
          <a:xfrm>
            <a:off x="940000" y="225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5" name="t"/>
          <p:cNvSpPr txBox="1"/>
          <p:nvPr/>
        </p:nvSpPr>
        <p:spPr>
          <a:xfrm>
            <a:off x="940000" y="225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👩‍🏫</a:t>
            </a:r>
          </a:p>
        </p:txBody>
      </p:sp>
      <p:sp>
        <p:nvSpPr>
          <p:cNvPr id="156" name="t"/>
          <p:cNvSpPr txBox="1"/>
          <p:nvPr/>
        </p:nvSpPr>
        <p:spPr>
          <a:xfrm>
            <a:off x="2060000" y="223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57" name="t"/>
          <p:cNvSpPr txBox="1"/>
          <p:nvPr/>
        </p:nvSpPr>
        <p:spPr>
          <a:xfrm>
            <a:off x="2060000" y="266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จัดทำร่างบททบทวนวรรณกรรมตั้งต้นและเปรียบเทียบระเบียบวิธีได้รวดเร็ว</a:t>
            </a:r>
          </a:p>
        </p:txBody>
      </p:sp>
      <p:sp>
        <p:nvSpPr>
          <p:cNvPr id="158" name="s"/>
          <p:cNvSpPr/>
          <p:nvPr/>
        </p:nvSpPr>
        <p:spPr>
          <a:xfrm>
            <a:off x="6310000" y="200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9" name="s"/>
          <p:cNvSpPr/>
          <p:nvPr/>
        </p:nvSpPr>
        <p:spPr>
          <a:xfrm>
            <a:off x="6490000" y="225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0" name="t"/>
          <p:cNvSpPr txBox="1"/>
          <p:nvPr/>
        </p:nvSpPr>
        <p:spPr>
          <a:xfrm>
            <a:off x="6490000" y="225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🧑‍💼</a:t>
            </a:r>
          </a:p>
        </p:txBody>
      </p:sp>
      <p:sp>
        <p:nvSpPr>
          <p:cNvPr id="161" name="t"/>
          <p:cNvSpPr txBox="1"/>
          <p:nvPr/>
        </p:nvSpPr>
        <p:spPr>
          <a:xfrm>
            <a:off x="7610000" y="223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บุคลากร / บรรณารักษ์</a:t>
            </a:r>
          </a:p>
        </p:txBody>
      </p:sp>
      <p:sp>
        <p:nvSpPr>
          <p:cNvPr id="162" name="t"/>
          <p:cNvSpPr txBox="1"/>
          <p:nvPr/>
        </p:nvSpPr>
        <p:spPr>
          <a:xfrm>
            <a:off x="7610000" y="266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ให้บริการสนับสนุนงานวิจัยได้มีประสิทธิภาพ พร้อมจัดเก็บสถิติการใช้บริการ</a:t>
            </a:r>
          </a:p>
        </p:txBody>
      </p:sp>
      <p:sp>
        <p:nvSpPr>
          <p:cNvPr id="163" name="s"/>
          <p:cNvSpPr/>
          <p:nvPr/>
        </p:nvSpPr>
        <p:spPr>
          <a:xfrm>
            <a:off x="760000" y="362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4" name="s"/>
          <p:cNvSpPr/>
          <p:nvPr/>
        </p:nvSpPr>
        <p:spPr>
          <a:xfrm>
            <a:off x="940000" y="38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5" name="t"/>
          <p:cNvSpPr txBox="1"/>
          <p:nvPr/>
        </p:nvSpPr>
        <p:spPr>
          <a:xfrm>
            <a:off x="940000" y="38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🧑‍🎓</a:t>
            </a:r>
          </a:p>
        </p:txBody>
      </p:sp>
      <p:sp>
        <p:nvSpPr>
          <p:cNvPr id="166" name="t"/>
          <p:cNvSpPr txBox="1"/>
          <p:nvPr/>
        </p:nvSpPr>
        <p:spPr>
          <a:xfrm>
            <a:off x="2060000" y="385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34d399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167" name="t"/>
          <p:cNvSpPr txBox="1"/>
          <p:nvPr/>
        </p:nvSpPr>
        <p:spPr>
          <a:xfrm>
            <a:off x="2060000" y="428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เรียนรู้โครงสร้างงานวิจัยและเริ่มเขียนบททบทวนวรรณกรรมได้โดยง่าย</a:t>
            </a:r>
          </a:p>
        </p:txBody>
      </p:sp>
      <p:sp>
        <p:nvSpPr>
          <p:cNvPr id="168" name="s"/>
          <p:cNvSpPr/>
          <p:nvPr/>
        </p:nvSpPr>
        <p:spPr>
          <a:xfrm>
            <a:off x="6310000" y="362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9" name="s"/>
          <p:cNvSpPr/>
          <p:nvPr/>
        </p:nvSpPr>
        <p:spPr>
          <a:xfrm>
            <a:off x="6490000" y="38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6490000" y="38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🏛️</a:t>
            </a:r>
          </a:p>
        </p:txBody>
      </p:sp>
      <p:sp>
        <p:nvSpPr>
          <p:cNvPr id="171" name="t"/>
          <p:cNvSpPr txBox="1"/>
          <p:nvPr/>
        </p:nvSpPr>
        <p:spPr>
          <a:xfrm>
            <a:off x="7610000" y="385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a78bfa"/>
                </a:solidFill>
                <a:latin typeface="Tahoma"/>
                <a:cs typeface="Tahoma"/>
              </a:rPr>
              <a:t>มหาวิทยาลัย</a:t>
            </a:r>
          </a:p>
        </p:txBody>
      </p:sp>
      <p:sp>
        <p:nvSpPr>
          <p:cNvPr id="172" name="t"/>
          <p:cNvSpPr txBox="1"/>
          <p:nvPr/>
        </p:nvSpPr>
        <p:spPr>
          <a:xfrm>
            <a:off x="7610000" y="428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ยกระดับคุณภาพงานวิจัยและบริการวิชาการของวิทยาเขต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④ การประยุกต์ใช้ AI</a:t>
            </a:r>
          </a:p>
        </p:txBody>
      </p:sp>
      <p:sp>
        <p:nvSpPr>
          <p:cNvPr id="175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นวัตกรรมการสกัดและสังเคราะห์องค์ความรู้</a:t>
            </a:r>
          </a:p>
        </p:txBody>
      </p:sp>
      <p:sp>
        <p:nvSpPr>
          <p:cNvPr id="176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6/10</a:t>
            </a:r>
          </a:p>
        </p:txBody>
      </p:sp>
      <p:sp>
        <p:nvSpPr>
          <p:cNvPr id="177" name="s"/>
          <p:cNvSpPr/>
          <p:nvPr/>
        </p:nvSpPr>
        <p:spPr>
          <a:xfrm>
            <a:off x="760000" y="1950000"/>
            <a:ext cx="525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8" name="s"/>
          <p:cNvSpPr/>
          <p:nvPr/>
        </p:nvSpPr>
        <p:spPr>
          <a:xfrm>
            <a:off x="2910000" y="213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9" name="t"/>
          <p:cNvSpPr txBox="1"/>
          <p:nvPr/>
        </p:nvSpPr>
        <p:spPr>
          <a:xfrm>
            <a:off x="2910000" y="213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🧠</a:t>
            </a:r>
          </a:p>
        </p:txBody>
      </p:sp>
      <p:sp>
        <p:nvSpPr>
          <p:cNvPr id="180" name="t"/>
          <p:cNvSpPr txBox="1"/>
          <p:nvPr/>
        </p:nvSpPr>
        <p:spPr>
          <a:xfrm>
            <a:off x="960000" y="3080000"/>
            <a:ext cx="49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กลไก AI ของระบบ</a:t>
            </a:r>
          </a:p>
        </p:txBody>
      </p:sp>
      <p:sp>
        <p:nvSpPr>
          <p:cNvPr id="181" name="t"/>
          <p:cNvSpPr txBox="1"/>
          <p:nvPr/>
        </p:nvSpPr>
        <p:spPr>
          <a:xfrm>
            <a:off x="1000000" y="352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สกัดสาระตามโครงสร้างงานวิจัย (IMRaD)</a:t>
            </a:r>
          </a:p>
        </p:txBody>
      </p:sp>
      <p:sp>
        <p:nvSpPr>
          <p:cNvPr id="182" name="t"/>
          <p:cNvSpPr txBox="1"/>
          <p:nvPr/>
        </p:nvSpPr>
        <p:spPr>
          <a:xfrm>
            <a:off x="1000000" y="406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ระเบียบวิธีด้วยการให้น้ำหนักคำสำคัญ</a:t>
            </a:r>
          </a:p>
        </p:txBody>
      </p:sp>
      <p:sp>
        <p:nvSpPr>
          <p:cNvPr id="183" name="t"/>
          <p:cNvSpPr txBox="1"/>
          <p:nvPr/>
        </p:nvSpPr>
        <p:spPr>
          <a:xfrm>
            <a:off x="1000000" y="460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รองรับเอกสารไทย–อังกฤษ และดึงชื่อผู้แต่งเต็ม</a:t>
            </a:r>
          </a:p>
        </p:txBody>
      </p:sp>
      <p:sp>
        <p:nvSpPr>
          <p:cNvPr id="184" name="t"/>
          <p:cNvSpPr txBox="1"/>
          <p:nvPr/>
        </p:nvSpPr>
        <p:spPr>
          <a:xfrm>
            <a:off x="1000000" y="514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สรุปเชิงผู้บริหาร (Executive Summary) ต่อเอกสาร</a:t>
            </a:r>
          </a:p>
        </p:txBody>
      </p:sp>
      <p:sp>
        <p:nvSpPr>
          <p:cNvPr id="185" name="s"/>
          <p:cNvSpPr/>
          <p:nvPr/>
        </p:nvSpPr>
        <p:spPr>
          <a:xfrm>
            <a:off x="6260000" y="1950000"/>
            <a:ext cx="520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6" name="t"/>
          <p:cNvSpPr txBox="1"/>
          <p:nvPr/>
        </p:nvSpPr>
        <p:spPr>
          <a:xfrm>
            <a:off x="6460000" y="2120000"/>
            <a:ext cx="48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จุดเด่นเชิงนวัตกรรม</a:t>
            </a:r>
          </a:p>
        </p:txBody>
      </p:sp>
      <p:sp>
        <p:nvSpPr>
          <p:cNvPr id="187" name="t"/>
          <p:cNvSpPr txBox="1"/>
          <p:nvPr/>
        </p:nvSpPr>
        <p:spPr>
          <a:xfrm>
            <a:off x="6500000" y="256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รวม 3 มุมมองในระบบเดียว: กราฟ 3 มิติ · ตารางเทียบ · ร่างบทความ</a:t>
            </a:r>
          </a:p>
        </p:txBody>
      </p:sp>
      <p:sp>
        <p:nvSpPr>
          <p:cNvPr id="188" name="t"/>
          <p:cNvSpPr txBox="1"/>
          <p:nvPr/>
        </p:nvSpPr>
        <p:spPr>
          <a:xfrm>
            <a:off x="6500000" y="320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ค้นหาเชิงแนวคิด (Semantic Search) ภายในคลังเอกสาร</a:t>
            </a:r>
          </a:p>
        </p:txBody>
      </p:sp>
      <p:sp>
        <p:nvSpPr>
          <p:cNvPr id="189" name="t"/>
          <p:cNvSpPr txBox="1"/>
          <p:nvPr/>
        </p:nvSpPr>
        <p:spPr>
          <a:xfrm>
            <a:off x="6500000" y="384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ร่างบททบทวนวรรณกรรมอัตโนมัติพร้อมอ้างอิง APA</a:t>
            </a:r>
          </a:p>
        </p:txBody>
      </p:sp>
      <p:sp>
        <p:nvSpPr>
          <p:cNvPr id="190" name="t"/>
          <p:cNvSpPr txBox="1"/>
          <p:nvPr/>
        </p:nvSpPr>
        <p:spPr>
          <a:xfrm>
            <a:off x="6500000" y="448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ทำงานแบบ Privacy-first โดยไม่พึ่งเซิร์ฟเวอร์ภายนอก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2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⑤ การประยุกต์ใช้ Kiro Platform</a:t>
            </a:r>
          </a:p>
        </p:txBody>
      </p:sp>
      <p:sp>
        <p:nvSpPr>
          <p:cNvPr id="193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9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7/10</a:t>
            </a:r>
          </a:p>
        </p:txBody>
      </p:sp>
      <p:sp>
        <p:nvSpPr>
          <p:cNvPr id="195" name="s"/>
          <p:cNvSpPr/>
          <p:nvPr/>
        </p:nvSpPr>
        <p:spPr>
          <a:xfrm>
            <a:off x="76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96" name="s"/>
          <p:cNvSpPr/>
          <p:nvPr/>
        </p:nvSpPr>
        <p:spPr>
          <a:xfrm>
            <a:off x="160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97" name="t"/>
          <p:cNvSpPr txBox="1"/>
          <p:nvPr/>
        </p:nvSpPr>
        <p:spPr>
          <a:xfrm>
            <a:off x="160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📐</a:t>
            </a:r>
          </a:p>
        </p:txBody>
      </p:sp>
      <p:sp>
        <p:nvSpPr>
          <p:cNvPr id="198" name="t"/>
          <p:cNvSpPr txBox="1"/>
          <p:nvPr/>
        </p:nvSpPr>
        <p:spPr>
          <a:xfrm>
            <a:off x="86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Steering Rules</a:t>
            </a:r>
          </a:p>
        </p:txBody>
      </p:sp>
      <p:sp>
        <p:nvSpPr>
          <p:cNvPr id="199" name="t"/>
          <p:cNvSpPr txBox="1"/>
          <p:nvPr/>
        </p:nvSpPr>
        <p:spPr>
          <a:xfrm>
            <a:off x="88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.kiro/steering/rules.md</a:t>
            </a:r>
          </a:p>
        </p:txBody>
      </p:sp>
      <p:sp>
        <p:nvSpPr>
          <p:cNvPr id="200" name="t"/>
          <p:cNvSpPr txBox="1"/>
          <p:nvPr/>
        </p:nvSpPr>
        <p:spPr>
          <a:xfrm>
            <a:off x="88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กำหนดมาตรฐานการพัฒนา</a:t>
            </a:r>
          </a:p>
        </p:txBody>
      </p:sp>
      <p:sp>
        <p:nvSpPr>
          <p:cNvPr id="201" name="t"/>
          <p:cNvSpPr txBox="1"/>
          <p:nvPr/>
        </p:nvSpPr>
        <p:spPr>
          <a:xfrm>
            <a:off x="328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02" name="s"/>
          <p:cNvSpPr/>
          <p:nvPr/>
        </p:nvSpPr>
        <p:spPr>
          <a:xfrm>
            <a:off x="348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3" name="s"/>
          <p:cNvSpPr/>
          <p:nvPr/>
        </p:nvSpPr>
        <p:spPr>
          <a:xfrm>
            <a:off x="432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4" name="t"/>
          <p:cNvSpPr txBox="1"/>
          <p:nvPr/>
        </p:nvSpPr>
        <p:spPr>
          <a:xfrm>
            <a:off x="432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📋</a:t>
            </a:r>
          </a:p>
        </p:txBody>
      </p:sp>
      <p:sp>
        <p:nvSpPr>
          <p:cNvPr id="205" name="t"/>
          <p:cNvSpPr txBox="1"/>
          <p:nvPr/>
        </p:nvSpPr>
        <p:spPr>
          <a:xfrm>
            <a:off x="358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Specs</a:t>
            </a:r>
          </a:p>
        </p:txBody>
      </p:sp>
      <p:sp>
        <p:nvSpPr>
          <p:cNvPr id="206" name="t"/>
          <p:cNvSpPr txBox="1"/>
          <p:nvPr/>
        </p:nvSpPr>
        <p:spPr>
          <a:xfrm>
            <a:off x="360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.kiro/specs/*.md</a:t>
            </a:r>
          </a:p>
        </p:txBody>
      </p:sp>
      <p:sp>
        <p:nvSpPr>
          <p:cNvPr id="207" name="t"/>
          <p:cNvSpPr txBox="1"/>
          <p:nvPr/>
        </p:nvSpPr>
        <p:spPr>
          <a:xfrm>
            <a:off x="360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กำหนดเกณฑ์ยอมรับผลงาน</a:t>
            </a:r>
          </a:p>
        </p:txBody>
      </p:sp>
      <p:sp>
        <p:nvSpPr>
          <p:cNvPr id="208" name="t"/>
          <p:cNvSpPr txBox="1"/>
          <p:nvPr/>
        </p:nvSpPr>
        <p:spPr>
          <a:xfrm>
            <a:off x="600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09" name="s"/>
          <p:cNvSpPr/>
          <p:nvPr/>
        </p:nvSpPr>
        <p:spPr>
          <a:xfrm>
            <a:off x="620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0" name="s"/>
          <p:cNvSpPr/>
          <p:nvPr/>
        </p:nvSpPr>
        <p:spPr>
          <a:xfrm>
            <a:off x="704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1" name="t"/>
          <p:cNvSpPr txBox="1"/>
          <p:nvPr/>
        </p:nvSpPr>
        <p:spPr>
          <a:xfrm>
            <a:off x="704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🤝</a:t>
            </a:r>
          </a:p>
        </p:txBody>
      </p:sp>
      <p:sp>
        <p:nvSpPr>
          <p:cNvPr id="212" name="t"/>
          <p:cNvSpPr txBox="1"/>
          <p:nvPr/>
        </p:nvSpPr>
        <p:spPr>
          <a:xfrm>
            <a:off x="630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Agent พัฒนา</a:t>
            </a:r>
          </a:p>
        </p:txBody>
      </p:sp>
      <p:sp>
        <p:nvSpPr>
          <p:cNvPr id="213" name="t"/>
          <p:cNvSpPr txBox="1"/>
          <p:nvPr/>
        </p:nvSpPr>
        <p:spPr>
          <a:xfrm>
            <a:off x="632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Kiro เขียนโค้ด + ทดสอบ</a:t>
            </a:r>
          </a:p>
        </p:txBody>
      </p:sp>
      <p:sp>
        <p:nvSpPr>
          <p:cNvPr id="214" name="t"/>
          <p:cNvSpPr txBox="1"/>
          <p:nvPr/>
        </p:nvSpPr>
        <p:spPr>
          <a:xfrm>
            <a:off x="632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ตามข้อกำหนด</a:t>
            </a:r>
          </a:p>
        </p:txBody>
      </p:sp>
      <p:sp>
        <p:nvSpPr>
          <p:cNvPr id="215" name="t"/>
          <p:cNvSpPr txBox="1"/>
          <p:nvPr/>
        </p:nvSpPr>
        <p:spPr>
          <a:xfrm>
            <a:off x="872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16" name="s"/>
          <p:cNvSpPr/>
          <p:nvPr/>
        </p:nvSpPr>
        <p:spPr>
          <a:xfrm>
            <a:off x="892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7" name="s"/>
          <p:cNvSpPr/>
          <p:nvPr/>
        </p:nvSpPr>
        <p:spPr>
          <a:xfrm>
            <a:off x="976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8" name="t"/>
          <p:cNvSpPr txBox="1"/>
          <p:nvPr/>
        </p:nvSpPr>
        <p:spPr>
          <a:xfrm>
            <a:off x="976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219" name="t"/>
          <p:cNvSpPr txBox="1"/>
          <p:nvPr/>
        </p:nvSpPr>
        <p:spPr>
          <a:xfrm>
            <a:off x="902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Deploy</a:t>
            </a:r>
          </a:p>
        </p:txBody>
      </p:sp>
      <p:sp>
        <p:nvSpPr>
          <p:cNvPr id="220" name="t"/>
          <p:cNvSpPr txBox="1"/>
          <p:nvPr/>
        </p:nvSpPr>
        <p:spPr>
          <a:xfrm>
            <a:off x="904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 GitHub Pages</a:t>
            </a:r>
          </a:p>
        </p:txBody>
      </p:sp>
      <p:sp>
        <p:nvSpPr>
          <p:cNvPr id="221" name="t"/>
          <p:cNvSpPr txBox="1"/>
          <p:nvPr/>
        </p:nvSpPr>
        <p:spPr>
          <a:xfrm>
            <a:off x="904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ตรวจสอบได้จริง</a:t>
            </a:r>
          </a:p>
        </p:txBody>
      </p:sp>
      <p:sp>
        <p:nvSpPr>
          <p:cNvPr id="222" name="s"/>
          <p:cNvSpPr/>
          <p:nvPr/>
        </p:nvSpPr>
        <p:spPr>
          <a:xfrm>
            <a:off x="760000" y="4850000"/>
            <a:ext cx="10700000" cy="82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23" name="t"/>
          <p:cNvSpPr txBox="1"/>
          <p:nvPr/>
        </p:nvSpPr>
        <p:spPr>
          <a:xfrm>
            <a:off x="1000000" y="4950000"/>
            <a:ext cx="103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ความสอดคล้องกับโจทย์: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Kiro เป็นเครื่องมือหลักตลอดวงจรพัฒนา — กำหนดกฎ ออกแบบข้อกำหนด เขียนและทดสอบโค้ด จนถึงการเผยแพร่ ตรวจสอบย้อนกลับได้จาก commit history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25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⑥ ต้นแบบ (PROTOTYPE)</a:t>
            </a:r>
          </a:p>
        </p:txBody>
      </p:sp>
      <p:sp>
        <p:nvSpPr>
          <p:cNvPr id="226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ระบบที่พัฒนาเสร็จและใช้งานได้จริง</a:t>
            </a:r>
          </a:p>
        </p:txBody>
      </p:sp>
      <p:sp>
        <p:nvSpPr>
          <p:cNvPr id="22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8/10</a:t>
            </a:r>
          </a:p>
        </p:txBody>
      </p:sp>
      <p:sp>
        <p:nvSpPr>
          <p:cNvPr id="228" name="s"/>
          <p:cNvSpPr/>
          <p:nvPr/>
        </p:nvSpPr>
        <p:spPr>
          <a:xfrm>
            <a:off x="760000" y="2000000"/>
            <a:ext cx="5100000" cy="335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29" name="s"/>
          <p:cNvSpPr/>
          <p:nvPr/>
        </p:nvSpPr>
        <p:spPr>
          <a:xfrm>
            <a:off x="760000" y="2000000"/>
            <a:ext cx="5100000" cy="40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s"/>
          <p:cNvSpPr/>
          <p:nvPr/>
        </p:nvSpPr>
        <p:spPr>
          <a:xfrm>
            <a:off x="920000" y="2130000"/>
            <a:ext cx="130000" cy="13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s"/>
          <p:cNvSpPr/>
          <p:nvPr/>
        </p:nvSpPr>
        <p:spPr>
          <a:xfrm>
            <a:off x="1150000" y="2130000"/>
            <a:ext cx="130000" cy="13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s"/>
          <p:cNvSpPr/>
          <p:nvPr/>
        </p:nvSpPr>
        <p:spPr>
          <a:xfrm>
            <a:off x="1380000" y="2130000"/>
            <a:ext cx="130000" cy="13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t"/>
          <p:cNvSpPr txBox="1"/>
          <p:nvPr/>
        </p:nvSpPr>
        <p:spPr>
          <a:xfrm>
            <a:off x="1660000" y="208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234" name="s"/>
          <p:cNvSpPr/>
          <p:nvPr/>
        </p:nvSpPr>
        <p:spPr>
          <a:xfrm>
            <a:off x="3548000" y="3639000"/>
            <a:ext cx="340000" cy="3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35" name="l"/>
          <p:cNvCxnSpPr/>
          <p:nvPr/>
        </p:nvCxnSpPr>
        <p:spPr>
          <a:xfrm flipH="0" flipV="0">
            <a:off x="3718000" y="3809000"/>
            <a:ext cx="1000000" cy="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36" name="s"/>
          <p:cNvSpPr/>
          <p:nvPr/>
        </p:nvSpPr>
        <p:spPr>
          <a:xfrm>
            <a:off x="4578000" y="3669000"/>
            <a:ext cx="280000" cy="28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37" name="l"/>
          <p:cNvCxnSpPr/>
          <p:nvPr/>
        </p:nvCxnSpPr>
        <p:spPr>
          <a:xfrm flipH="0" flipV="0">
            <a:off x="3718000" y="3809000"/>
            <a:ext cx="309016" cy="95105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38" name="s"/>
          <p:cNvSpPr/>
          <p:nvPr/>
        </p:nvSpPr>
        <p:spPr>
          <a:xfrm>
            <a:off x="3887016" y="4620056"/>
            <a:ext cx="280000" cy="28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39" name="l"/>
          <p:cNvCxnSpPr/>
          <p:nvPr/>
        </p:nvCxnSpPr>
        <p:spPr>
          <a:xfrm flipH="1" flipV="0">
            <a:off x="2908983" y="3809000"/>
            <a:ext cx="809017" cy="587785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0" name="s"/>
          <p:cNvSpPr/>
          <p:nvPr/>
        </p:nvSpPr>
        <p:spPr>
          <a:xfrm>
            <a:off x="2768983" y="4256785"/>
            <a:ext cx="280000" cy="28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1" name="l"/>
          <p:cNvCxnSpPr/>
          <p:nvPr/>
        </p:nvCxnSpPr>
        <p:spPr>
          <a:xfrm flipH="1" flipV="1">
            <a:off x="2908983" y="3221214"/>
            <a:ext cx="809017" cy="58778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2" name="s"/>
          <p:cNvSpPr/>
          <p:nvPr/>
        </p:nvSpPr>
        <p:spPr>
          <a:xfrm>
            <a:off x="2768983" y="3081214"/>
            <a:ext cx="280000" cy="28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3" name="l"/>
          <p:cNvCxnSpPr/>
          <p:nvPr/>
        </p:nvCxnSpPr>
        <p:spPr>
          <a:xfrm flipH="0" flipV="1">
            <a:off x="3718000" y="2857943"/>
            <a:ext cx="309016" cy="951057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4" name="s"/>
          <p:cNvSpPr/>
          <p:nvPr/>
        </p:nvSpPr>
        <p:spPr>
          <a:xfrm>
            <a:off x="3887016" y="2717943"/>
            <a:ext cx="280000" cy="28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45" name="t"/>
          <p:cNvSpPr txBox="1"/>
          <p:nvPr/>
        </p:nvSpPr>
        <p:spPr>
          <a:xfrm>
            <a:off x="760000" y="5010000"/>
            <a:ext cx="51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00" b="0" i="1" dirty="0">
                <a:solidFill>
                  <a:srgbClr val="9fb3d1"/>
                </a:solidFill>
                <a:latin typeface="Tahoma"/>
                <a:cs typeface="Tahoma"/>
              </a:rPr>
              <a:t>หน้าจอจริง: 3D Knowledge Graph</a:t>
            </a:r>
          </a:p>
        </p:txBody>
      </p:sp>
      <p:sp>
        <p:nvSpPr>
          <p:cNvPr id="246" name="t"/>
          <p:cNvSpPr txBox="1"/>
          <p:nvPr/>
        </p:nvSpPr>
        <p:spPr>
          <a:xfrm>
            <a:off x="6150000" y="1980000"/>
            <a:ext cx="5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ฟังก์ชันที่พัฒนาเสร็จแล้ว</a:t>
            </a:r>
          </a:p>
        </p:txBody>
      </p:sp>
      <p:sp>
        <p:nvSpPr>
          <p:cNvPr id="247" name="t"/>
          <p:cNvSpPr txBox="1"/>
          <p:nvPr/>
        </p:nvSpPr>
        <p:spPr>
          <a:xfrm>
            <a:off x="6150000" y="242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นำเข้าไฟล์ PDF/TXT และสกัดข้อมูลอัตโนมัติ</a:t>
            </a:r>
          </a:p>
        </p:txBody>
      </p:sp>
      <p:sp>
        <p:nvSpPr>
          <p:cNvPr id="248" name="t"/>
          <p:cNvSpPr txBox="1"/>
          <p:nvPr/>
        </p:nvSpPr>
        <p:spPr>
          <a:xfrm>
            <a:off x="6150000" y="289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ตารางเปรียบเทียบระเบียบวิธีวิจัย 5 ประเด็น</a:t>
            </a:r>
          </a:p>
        </p:txBody>
      </p:sp>
      <p:sp>
        <p:nvSpPr>
          <p:cNvPr id="249" name="t"/>
          <p:cNvSpPr txBox="1"/>
          <p:nvPr/>
        </p:nvSpPr>
        <p:spPr>
          <a:xfrm>
            <a:off x="6150000" y="336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 + ค้นหาเชิงแนวคิด</a:t>
            </a:r>
          </a:p>
        </p:txBody>
      </p:sp>
      <p:sp>
        <p:nvSpPr>
          <p:cNvPr id="250" name="t"/>
          <p:cNvSpPr txBox="1"/>
          <p:nvPr/>
        </p:nvSpPr>
        <p:spPr>
          <a:xfrm>
            <a:off x="6150000" y="383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+ ส่งออกอ้างอิง APA</a:t>
            </a:r>
          </a:p>
        </p:txBody>
      </p:sp>
      <p:sp>
        <p:nvSpPr>
          <p:cNvPr id="251" name="t"/>
          <p:cNvSpPr txBox="1"/>
          <p:nvPr/>
        </p:nvSpPr>
        <p:spPr>
          <a:xfrm>
            <a:off x="6150000" y="430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ระบบเข้าใช้แยกประเภทผู้ใช้ + แดชบอร์ดสถิติ</a:t>
            </a:r>
          </a:p>
        </p:txBody>
      </p:sp>
      <p:sp>
        <p:nvSpPr>
          <p:cNvPr id="252" name="t"/>
          <p:cNvSpPr txBox="1"/>
          <p:nvPr/>
        </p:nvSpPr>
        <p:spPr>
          <a:xfrm>
            <a:off x="6150000" y="477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ส่งออกบทสรุปรายงานเป็น PDF</a:t>
            </a:r>
          </a:p>
        </p:txBody>
      </p:sp>
      <p:sp>
        <p:nvSpPr>
          <p:cNvPr id="253" name="s"/>
          <p:cNvSpPr/>
          <p:nvPr/>
        </p:nvSpPr>
        <p:spPr>
          <a:xfrm>
            <a:off x="6150000" y="5250000"/>
            <a:ext cx="5300000" cy="420000"/>
          </a:xfrm>
          <a:prstGeom prst="roundRect">
            <a:avLst>
              <a:gd name="adj" fmla="val 12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6330000" y="5300000"/>
            <a:ext cx="5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34d399"/>
                </a:solidFill>
                <a:latin typeface="Tahoma"/>
                <a:cs typeface="Tahoma"/>
              </a:rPr>
              <a:t>สถานะ: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เผยแพร่ออนไลน์แล้ว · tinyurl.com/lika-nexus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⑦ คุณค่าและความเป็นไปได้ในการใช้งานจริง</a:t>
            </a:r>
          </a:p>
        </p:txBody>
      </p:sp>
      <p:sp>
        <p:nvSpPr>
          <p:cNvPr id="257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Feasibility &amp; Value</a:t>
            </a:r>
          </a:p>
        </p:txBody>
      </p:sp>
      <p:sp>
        <p:nvSpPr>
          <p:cNvPr id="25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9/10</a:t>
            </a:r>
          </a:p>
        </p:txBody>
      </p:sp>
      <p:sp>
        <p:nvSpPr>
          <p:cNvPr id="259" name="s"/>
          <p:cNvSpPr/>
          <p:nvPr/>
        </p:nvSpPr>
        <p:spPr>
          <a:xfrm>
            <a:off x="760000" y="200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60" name="s"/>
          <p:cNvSpPr/>
          <p:nvPr/>
        </p:nvSpPr>
        <p:spPr>
          <a:xfrm>
            <a:off x="920000" y="223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61" name="t"/>
          <p:cNvSpPr txBox="1"/>
          <p:nvPr/>
        </p:nvSpPr>
        <p:spPr>
          <a:xfrm>
            <a:off x="920000" y="223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💰</a:t>
            </a:r>
          </a:p>
        </p:txBody>
      </p:sp>
      <p:sp>
        <p:nvSpPr>
          <p:cNvPr id="262" name="t"/>
          <p:cNvSpPr txBox="1"/>
          <p:nvPr/>
        </p:nvSpPr>
        <p:spPr>
          <a:xfrm>
            <a:off x="1700000" y="220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ต้นทุนต่ำ</a:t>
            </a:r>
          </a:p>
        </p:txBody>
      </p:sp>
      <p:sp>
        <p:nvSpPr>
          <p:cNvPr id="263" name="t"/>
          <p:cNvSpPr txBox="1"/>
          <p:nvPr/>
        </p:nvSpPr>
        <p:spPr>
          <a:xfrm>
            <a:off x="1700000" y="256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เป็นไฟล์เว็บเดียว ไม่ต้องติดตั้งเซิร์ฟเวอร์ ใช้บริการฟรี</a:t>
            </a:r>
          </a:p>
        </p:txBody>
      </p:sp>
      <p:sp>
        <p:nvSpPr>
          <p:cNvPr id="264" name="s"/>
          <p:cNvSpPr/>
          <p:nvPr/>
        </p:nvSpPr>
        <p:spPr>
          <a:xfrm>
            <a:off x="6310000" y="200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265" name="s"/>
          <p:cNvSpPr/>
          <p:nvPr/>
        </p:nvSpPr>
        <p:spPr>
          <a:xfrm>
            <a:off x="6470000" y="223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66" name="t"/>
          <p:cNvSpPr txBox="1"/>
          <p:nvPr/>
        </p:nvSpPr>
        <p:spPr>
          <a:xfrm>
            <a:off x="6470000" y="223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🏫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250000" y="220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พร้อมใช้ที่ MUKA</a:t>
            </a:r>
          </a:p>
        </p:txBody>
      </p:sp>
      <p:sp>
        <p:nvSpPr>
          <p:cNvPr id="268" name="t"/>
          <p:cNvSpPr txBox="1"/>
          <p:nvPr/>
        </p:nvSpPr>
        <p:spPr>
          <a:xfrm>
            <a:off x="7250000" y="256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เหมาะกับเครื่องบริการในห้องสมุด ใช้ได้แม้ออฟไลน์</a:t>
            </a:r>
          </a:p>
        </p:txBody>
      </p:sp>
      <p:sp>
        <p:nvSpPr>
          <p:cNvPr id="269" name="s"/>
          <p:cNvSpPr/>
          <p:nvPr/>
        </p:nvSpPr>
        <p:spPr>
          <a:xfrm>
            <a:off x="760000" y="325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70" name="s"/>
          <p:cNvSpPr/>
          <p:nvPr/>
        </p:nvSpPr>
        <p:spPr>
          <a:xfrm>
            <a:off x="920000" y="348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71" name="t"/>
          <p:cNvSpPr txBox="1"/>
          <p:nvPr/>
        </p:nvSpPr>
        <p:spPr>
          <a:xfrm>
            <a:off x="920000" y="348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🔐</a:t>
            </a:r>
          </a:p>
        </p:txBody>
      </p:sp>
      <p:sp>
        <p:nvSpPr>
          <p:cNvPr id="272" name="t"/>
          <p:cNvSpPr txBox="1"/>
          <p:nvPr/>
        </p:nvSpPr>
        <p:spPr>
          <a:xfrm>
            <a:off x="1700000" y="345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ปลอดภัย</a:t>
            </a:r>
          </a:p>
        </p:txBody>
      </p:sp>
      <p:sp>
        <p:nvSpPr>
          <p:cNvPr id="273" name="t"/>
          <p:cNvSpPr txBox="1"/>
          <p:nvPr/>
        </p:nvSpPr>
        <p:spPr>
          <a:xfrm>
            <a:off x="1700000" y="381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ไม่ส่งข้อมูลออกนอกเครื่อง เหมาะกับงานยังไม่เผยแพร่</a:t>
            </a:r>
          </a:p>
        </p:txBody>
      </p:sp>
      <p:sp>
        <p:nvSpPr>
          <p:cNvPr id="274" name="s"/>
          <p:cNvSpPr/>
          <p:nvPr/>
        </p:nvSpPr>
        <p:spPr>
          <a:xfrm>
            <a:off x="6310000" y="325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275" name="s"/>
          <p:cNvSpPr/>
          <p:nvPr/>
        </p:nvSpPr>
        <p:spPr>
          <a:xfrm>
            <a:off x="6470000" y="348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76" name="t"/>
          <p:cNvSpPr txBox="1"/>
          <p:nvPr/>
        </p:nvSpPr>
        <p:spPr>
          <a:xfrm>
            <a:off x="6470000" y="348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📈</a:t>
            </a:r>
          </a:p>
        </p:txBody>
      </p:sp>
      <p:sp>
        <p:nvSpPr>
          <p:cNvPr id="277" name="t"/>
          <p:cNvSpPr txBox="1"/>
          <p:nvPr/>
        </p:nvSpPr>
        <p:spPr>
          <a:xfrm>
            <a:off x="7250000" y="345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ขยายผลได้</a:t>
            </a:r>
          </a:p>
        </p:txBody>
      </p:sp>
      <p:sp>
        <p:nvSpPr>
          <p:cNvPr id="278" name="t"/>
          <p:cNvSpPr txBox="1"/>
          <p:nvPr/>
        </p:nvSpPr>
        <p:spPr>
          <a:xfrm>
            <a:off x="7250000" y="381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ต่อยอดสู่การสืบค้นออนไลน์และเชื่อมระบบห้องสมุด</a:t>
            </a:r>
          </a:p>
        </p:txBody>
      </p:sp>
      <p:sp>
        <p:nvSpPr>
          <p:cNvPr id="279" name="s"/>
          <p:cNvSpPr/>
          <p:nvPr/>
        </p:nvSpPr>
        <p:spPr>
          <a:xfrm>
            <a:off x="760000" y="4650000"/>
            <a:ext cx="10700000" cy="100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80" name="t"/>
          <p:cNvSpPr txBox="1"/>
          <p:nvPr/>
        </p:nvSpPr>
        <p:spPr>
          <a:xfrm>
            <a:off x="1000000" y="4740000"/>
            <a:ext cx="103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โอกาสในการนำไปใช้จริง</a:t>
            </a:r>
          </a:p>
        </p:txBody>
      </p:sp>
      <p:sp>
        <p:nvSpPr>
          <p:cNvPr id="281" name="t"/>
          <p:cNvSpPr txBox="1"/>
          <p:nvPr/>
        </p:nvSpPr>
        <p:spPr>
          <a:xfrm>
            <a:off x="1000000" y="5080000"/>
            <a:ext cx="10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นำไปใช้สนับสนุนการทำวิทยานิพนธ์ บริการตอบคำถามวิจัย และจัดการคลังความรู้ของวิทยาเขต โดยสามารถขยายสู่ระบบเก็บสถิติรวมศูนย์และการสืบค้นฐานข้อมูลสากลในอนาคต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"/>
          <p:cNvSpPr/>
          <p:nvPr/>
        </p:nvSpPr>
        <p:spPr>
          <a:xfrm>
            <a:off x="7589669" y="4695711"/>
            <a:ext cx="37598" cy="375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s"/>
          <p:cNvSpPr/>
          <p:nvPr/>
        </p:nvSpPr>
        <p:spPr>
          <a:xfrm>
            <a:off x="7812311" y="3790244"/>
            <a:ext cx="28640" cy="2864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s"/>
          <p:cNvSpPr/>
          <p:nvPr/>
        </p:nvSpPr>
        <p:spPr>
          <a:xfrm>
            <a:off x="9854682" y="1593013"/>
            <a:ext cx="18050" cy="1805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s"/>
          <p:cNvSpPr/>
          <p:nvPr/>
        </p:nvSpPr>
        <p:spPr>
          <a:xfrm>
            <a:off x="8588401" y="3990991"/>
            <a:ext cx="32639" cy="326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s"/>
          <p:cNvSpPr/>
          <p:nvPr/>
        </p:nvSpPr>
        <p:spPr>
          <a:xfrm>
            <a:off x="10300519" y="6651972"/>
            <a:ext cx="18100" cy="1810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s"/>
          <p:cNvSpPr/>
          <p:nvPr/>
        </p:nvSpPr>
        <p:spPr>
          <a:xfrm>
            <a:off x="1579129" y="3746294"/>
            <a:ext cx="21941" cy="2194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8" name="s"/>
          <p:cNvSpPr/>
          <p:nvPr/>
        </p:nvSpPr>
        <p:spPr>
          <a:xfrm>
            <a:off x="2378927" y="760599"/>
            <a:ext cx="29651" cy="2965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9" name="s"/>
          <p:cNvSpPr/>
          <p:nvPr/>
        </p:nvSpPr>
        <p:spPr>
          <a:xfrm>
            <a:off x="11633967" y="5322175"/>
            <a:ext cx="13372" cy="133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s"/>
          <p:cNvSpPr/>
          <p:nvPr/>
        </p:nvSpPr>
        <p:spPr>
          <a:xfrm>
            <a:off x="9989766" y="3323230"/>
            <a:ext cx="26843" cy="268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s"/>
          <p:cNvSpPr/>
          <p:nvPr/>
        </p:nvSpPr>
        <p:spPr>
          <a:xfrm>
            <a:off x="10970999" y="6198475"/>
            <a:ext cx="32170" cy="321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s"/>
          <p:cNvSpPr/>
          <p:nvPr/>
        </p:nvSpPr>
        <p:spPr>
          <a:xfrm>
            <a:off x="10906381" y="1321156"/>
            <a:ext cx="32418" cy="324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s"/>
          <p:cNvSpPr/>
          <p:nvPr/>
        </p:nvSpPr>
        <p:spPr>
          <a:xfrm>
            <a:off x="251670" y="4432383"/>
            <a:ext cx="14069" cy="1406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s"/>
          <p:cNvSpPr/>
          <p:nvPr/>
        </p:nvSpPr>
        <p:spPr>
          <a:xfrm>
            <a:off x="999101" y="299077"/>
            <a:ext cx="18232" cy="182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s"/>
          <p:cNvSpPr/>
          <p:nvPr/>
        </p:nvSpPr>
        <p:spPr>
          <a:xfrm>
            <a:off x="4059130" y="5029961"/>
            <a:ext cx="12985" cy="1298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"/>
          <p:cNvSpPr/>
          <p:nvPr/>
        </p:nvSpPr>
        <p:spPr>
          <a:xfrm>
            <a:off x="7783528" y="2737147"/>
            <a:ext cx="26435" cy="264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"/>
          <p:cNvSpPr/>
          <p:nvPr/>
        </p:nvSpPr>
        <p:spPr>
          <a:xfrm>
            <a:off x="9914654" y="1638474"/>
            <a:ext cx="29010" cy="2901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s"/>
          <p:cNvSpPr/>
          <p:nvPr/>
        </p:nvSpPr>
        <p:spPr>
          <a:xfrm>
            <a:off x="3919923" y="5371156"/>
            <a:ext cx="21638" cy="216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s"/>
          <p:cNvSpPr/>
          <p:nvPr/>
        </p:nvSpPr>
        <p:spPr>
          <a:xfrm>
            <a:off x="8384802" y="38535"/>
            <a:ext cx="33707" cy="33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s"/>
          <p:cNvSpPr/>
          <p:nvPr/>
        </p:nvSpPr>
        <p:spPr>
          <a:xfrm>
            <a:off x="1425874" y="3836361"/>
            <a:ext cx="33456" cy="334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"/>
          <p:cNvSpPr/>
          <p:nvPr/>
        </p:nvSpPr>
        <p:spPr>
          <a:xfrm>
            <a:off x="4666799" y="3412307"/>
            <a:ext cx="30063" cy="300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"/>
          <p:cNvSpPr/>
          <p:nvPr/>
        </p:nvSpPr>
        <p:spPr>
          <a:xfrm>
            <a:off x="1395922" y="5937537"/>
            <a:ext cx="20322" cy="203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s"/>
          <p:cNvSpPr/>
          <p:nvPr/>
        </p:nvSpPr>
        <p:spPr>
          <a:xfrm>
            <a:off x="5289473" y="6358481"/>
            <a:ext cx="19525" cy="1952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s"/>
          <p:cNvSpPr/>
          <p:nvPr/>
        </p:nvSpPr>
        <p:spPr>
          <a:xfrm>
            <a:off x="8604776" y="2424642"/>
            <a:ext cx="12974" cy="1297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s"/>
          <p:cNvSpPr/>
          <p:nvPr/>
        </p:nvSpPr>
        <p:spPr>
          <a:xfrm>
            <a:off x="1178154" y="4723979"/>
            <a:ext cx="37109" cy="371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"/>
          <p:cNvSpPr/>
          <p:nvPr/>
        </p:nvSpPr>
        <p:spPr>
          <a:xfrm>
            <a:off x="1810713" y="3358797"/>
            <a:ext cx="15532" cy="155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"/>
          <p:cNvSpPr/>
          <p:nvPr/>
        </p:nvSpPr>
        <p:spPr>
          <a:xfrm>
            <a:off x="4880540" y="3242310"/>
            <a:ext cx="14189" cy="141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s"/>
          <p:cNvSpPr/>
          <p:nvPr/>
        </p:nvSpPr>
        <p:spPr>
          <a:xfrm>
            <a:off x="283375" y="5745336"/>
            <a:ext cx="12017" cy="1201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9" name="s"/>
          <p:cNvSpPr/>
          <p:nvPr/>
        </p:nvSpPr>
        <p:spPr>
          <a:xfrm>
            <a:off x="3581963" y="1759237"/>
            <a:ext cx="13714" cy="1371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s"/>
          <p:cNvSpPr/>
          <p:nvPr/>
        </p:nvSpPr>
        <p:spPr>
          <a:xfrm>
            <a:off x="7885078" y="3149613"/>
            <a:ext cx="35229" cy="3522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s"/>
          <p:cNvSpPr/>
          <p:nvPr/>
        </p:nvSpPr>
        <p:spPr>
          <a:xfrm>
            <a:off x="6667674" y="3521465"/>
            <a:ext cx="14393" cy="1439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s"/>
          <p:cNvSpPr/>
          <p:nvPr/>
        </p:nvSpPr>
        <p:spPr>
          <a:xfrm>
            <a:off x="9499960" y="5280250"/>
            <a:ext cx="18504" cy="1850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3" name="s"/>
          <p:cNvSpPr/>
          <p:nvPr/>
        </p:nvSpPr>
        <p:spPr>
          <a:xfrm>
            <a:off x="11323096" y="2263041"/>
            <a:ext cx="23039" cy="230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4" name="s"/>
          <p:cNvSpPr/>
          <p:nvPr/>
        </p:nvSpPr>
        <p:spPr>
          <a:xfrm>
            <a:off x="1462037" y="2610615"/>
            <a:ext cx="22898" cy="228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5" name="s"/>
          <p:cNvSpPr/>
          <p:nvPr/>
        </p:nvSpPr>
        <p:spPr>
          <a:xfrm>
            <a:off x="254166" y="3439756"/>
            <a:ext cx="36839" cy="368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s"/>
          <p:cNvSpPr/>
          <p:nvPr/>
        </p:nvSpPr>
        <p:spPr>
          <a:xfrm>
            <a:off x="1979571" y="1129077"/>
            <a:ext cx="20073" cy="200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7" name="s"/>
          <p:cNvSpPr/>
          <p:nvPr/>
        </p:nvSpPr>
        <p:spPr>
          <a:xfrm>
            <a:off x="11861760" y="847637"/>
            <a:ext cx="12358" cy="12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8" name="s"/>
          <p:cNvSpPr/>
          <p:nvPr/>
        </p:nvSpPr>
        <p:spPr>
          <a:xfrm>
            <a:off x="0" y="470000"/>
            <a:ext cx="12192000" cy="10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19" name="t"/>
          <p:cNvSpPr txBox="1"/>
          <p:nvPr/>
        </p:nvSpPr>
        <p:spPr>
          <a:xfrm>
            <a:off x="760000" y="560000"/>
            <a:ext cx="11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สรุปจุดเด่นของผลงาน</a:t>
            </a:r>
          </a:p>
        </p:txBody>
      </p:sp>
      <p:sp>
        <p:nvSpPr>
          <p:cNvPr id="320" name="s"/>
          <p:cNvSpPr/>
          <p:nvPr/>
        </p:nvSpPr>
        <p:spPr>
          <a:xfrm>
            <a:off x="760000" y="178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321" name="t"/>
          <p:cNvSpPr txBox="1"/>
          <p:nvPr/>
        </p:nvSpPr>
        <p:spPr>
          <a:xfrm>
            <a:off x="950000" y="187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f5c542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22" name="t"/>
          <p:cNvSpPr txBox="1"/>
          <p:nvPr/>
        </p:nvSpPr>
        <p:spPr>
          <a:xfrm>
            <a:off x="1700000" y="1910000"/>
            <a:ext cx="8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สอดคล้องกับโจทย์ &amp; พัฒนาด้วย Kiro</a:t>
            </a:r>
          </a:p>
        </p:txBody>
      </p:sp>
      <p:sp>
        <p:nvSpPr>
          <p:cNvPr id="323" name="t"/>
          <p:cNvSpPr txBox="1"/>
          <p:nvPr/>
        </p:nvSpPr>
        <p:spPr>
          <a:xfrm>
            <a:off x="1700000" y="2250000"/>
            <a:ext cx="8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ใช้ Kiro ตลอดวงจร (Steering + Specs)</a:t>
            </a:r>
          </a:p>
        </p:txBody>
      </p:sp>
      <p:sp>
        <p:nvSpPr>
          <p:cNvPr id="324" name="s"/>
          <p:cNvSpPr/>
          <p:nvPr/>
        </p:nvSpPr>
        <p:spPr>
          <a:xfrm>
            <a:off x="10350000" y="1990000"/>
            <a:ext cx="950000" cy="37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325" name="t"/>
          <p:cNvSpPr txBox="1"/>
          <p:nvPr/>
        </p:nvSpPr>
        <p:spPr>
          <a:xfrm>
            <a:off x="10350000" y="2020000"/>
            <a:ext cx="95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26" name="s"/>
          <p:cNvSpPr/>
          <p:nvPr/>
        </p:nvSpPr>
        <p:spPr>
          <a:xfrm>
            <a:off x="760000" y="265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327" name="t"/>
          <p:cNvSpPr txBox="1"/>
          <p:nvPr/>
        </p:nvSpPr>
        <p:spPr>
          <a:xfrm>
            <a:off x="950000" y="274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22d3ee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28" name="t"/>
          <p:cNvSpPr txBox="1"/>
          <p:nvPr/>
        </p:nvSpPr>
        <p:spPr>
          <a:xfrm>
            <a:off x="1700000" y="2780000"/>
            <a:ext cx="8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ความคิดสร้างสรรค์และนวัตกรรม</a:t>
            </a:r>
          </a:p>
        </p:txBody>
      </p:sp>
      <p:sp>
        <p:nvSpPr>
          <p:cNvPr id="329" name="t"/>
          <p:cNvSpPr txBox="1"/>
          <p:nvPr/>
        </p:nvSpPr>
        <p:spPr>
          <a:xfrm>
            <a:off x="1700000" y="3120000"/>
            <a:ext cx="8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รวมกราฟ 3 มิติ + สกัด AI + ร่างอัตโนมัติ</a:t>
            </a:r>
          </a:p>
        </p:txBody>
      </p:sp>
      <p:sp>
        <p:nvSpPr>
          <p:cNvPr id="330" name="s"/>
          <p:cNvSpPr/>
          <p:nvPr/>
        </p:nvSpPr>
        <p:spPr>
          <a:xfrm>
            <a:off x="10350000" y="2860000"/>
            <a:ext cx="950000" cy="37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331" name="t"/>
          <p:cNvSpPr txBox="1"/>
          <p:nvPr/>
        </p:nvSpPr>
        <p:spPr>
          <a:xfrm>
            <a:off x="10350000" y="2890000"/>
            <a:ext cx="95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22d3ee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32" name="s"/>
          <p:cNvSpPr/>
          <p:nvPr/>
        </p:nvSpPr>
        <p:spPr>
          <a:xfrm>
            <a:off x="760000" y="352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333" name="t"/>
          <p:cNvSpPr txBox="1"/>
          <p:nvPr/>
        </p:nvSpPr>
        <p:spPr>
          <a:xfrm>
            <a:off x="950000" y="361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a78bfa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34" name="t"/>
          <p:cNvSpPr txBox="1"/>
          <p:nvPr/>
        </p:nvSpPr>
        <p:spPr>
          <a:xfrm>
            <a:off x="1700000" y="3650000"/>
            <a:ext cx="8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ความเป็นไปได้ในการใช้งานจริง</a:t>
            </a:r>
          </a:p>
        </p:txBody>
      </p:sp>
      <p:sp>
        <p:nvSpPr>
          <p:cNvPr id="335" name="t"/>
          <p:cNvSpPr txBox="1"/>
          <p:nvPr/>
        </p:nvSpPr>
        <p:spPr>
          <a:xfrm>
            <a:off x="1700000" y="3990000"/>
            <a:ext cx="8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ต้นทุนต่ำ ปลอดภัย พร้อมใช้ที่ MUKA</a:t>
            </a:r>
          </a:p>
        </p:txBody>
      </p:sp>
      <p:sp>
        <p:nvSpPr>
          <p:cNvPr id="336" name="s"/>
          <p:cNvSpPr/>
          <p:nvPr/>
        </p:nvSpPr>
        <p:spPr>
          <a:xfrm>
            <a:off x="10350000" y="3730000"/>
            <a:ext cx="950000" cy="37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337" name="t"/>
          <p:cNvSpPr txBox="1"/>
          <p:nvPr/>
        </p:nvSpPr>
        <p:spPr>
          <a:xfrm>
            <a:off x="10350000" y="3760000"/>
            <a:ext cx="95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a78bfa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38" name="s"/>
          <p:cNvSpPr/>
          <p:nvPr/>
        </p:nvSpPr>
        <p:spPr>
          <a:xfrm>
            <a:off x="760000" y="439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339" name="t"/>
          <p:cNvSpPr txBox="1"/>
          <p:nvPr/>
        </p:nvSpPr>
        <p:spPr>
          <a:xfrm>
            <a:off x="950000" y="448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34d399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0" name="t"/>
          <p:cNvSpPr txBox="1"/>
          <p:nvPr/>
        </p:nvSpPr>
        <p:spPr>
          <a:xfrm>
            <a:off x="1700000" y="4520000"/>
            <a:ext cx="8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คุณภาพของต้นแบบ (Prototype)</a:t>
            </a:r>
          </a:p>
        </p:txBody>
      </p:sp>
      <p:sp>
        <p:nvSpPr>
          <p:cNvPr id="341" name="t"/>
          <p:cNvSpPr txBox="1"/>
          <p:nvPr/>
        </p:nvSpPr>
        <p:spPr>
          <a:xfrm>
            <a:off x="1700000" y="4860000"/>
            <a:ext cx="8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พัฒนาเสร็จ เผยแพร่ออนไลน์ ใช้งานได้จริง</a:t>
            </a:r>
          </a:p>
        </p:txBody>
      </p:sp>
      <p:sp>
        <p:nvSpPr>
          <p:cNvPr id="342" name="s"/>
          <p:cNvSpPr/>
          <p:nvPr/>
        </p:nvSpPr>
        <p:spPr>
          <a:xfrm>
            <a:off x="10350000" y="4600000"/>
            <a:ext cx="950000" cy="37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343" name="t"/>
          <p:cNvSpPr txBox="1"/>
          <p:nvPr/>
        </p:nvSpPr>
        <p:spPr>
          <a:xfrm>
            <a:off x="10350000" y="4630000"/>
            <a:ext cx="95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34d399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4" name="s"/>
          <p:cNvSpPr/>
          <p:nvPr/>
        </p:nvSpPr>
        <p:spPr>
          <a:xfrm>
            <a:off x="760000" y="526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345" name="t"/>
          <p:cNvSpPr txBox="1"/>
          <p:nvPr/>
        </p:nvSpPr>
        <p:spPr>
          <a:xfrm>
            <a:off x="950000" y="535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fb923c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6" name="t"/>
          <p:cNvSpPr txBox="1"/>
          <p:nvPr/>
        </p:nvSpPr>
        <p:spPr>
          <a:xfrm>
            <a:off x="1700000" y="5390000"/>
            <a:ext cx="8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ความครบถ้วนของเอกสาร &amp; การนำเสนอ</a:t>
            </a:r>
          </a:p>
        </p:txBody>
      </p:sp>
      <p:sp>
        <p:nvSpPr>
          <p:cNvPr id="347" name="t"/>
          <p:cNvSpPr txBox="1"/>
          <p:nvPr/>
        </p:nvSpPr>
        <p:spPr>
          <a:xfrm>
            <a:off x="1700000" y="5730000"/>
            <a:ext cx="8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เอกสารครบทุกหัวข้อ อธิบายชัดเจน</a:t>
            </a:r>
          </a:p>
        </p:txBody>
      </p:sp>
      <p:sp>
        <p:nvSpPr>
          <p:cNvPr id="348" name="s"/>
          <p:cNvSpPr/>
          <p:nvPr/>
        </p:nvSpPr>
        <p:spPr>
          <a:xfrm>
            <a:off x="10350000" y="5470000"/>
            <a:ext cx="950000" cy="37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349" name="t"/>
          <p:cNvSpPr txBox="1"/>
          <p:nvPr/>
        </p:nvSpPr>
        <p:spPr>
          <a:xfrm>
            <a:off x="10350000" y="5500000"/>
            <a:ext cx="95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b923c"/>
                </a:solidFill>
                <a:latin typeface="Tahoma"/>
                <a:cs typeface="Tahoma"/>
              </a:rPr>
              <a:t>✓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