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Theme" Type="http://schemas.openxmlformats.org/officeDocument/2006/relationships/theme" Target="theme/theme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T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"/>
          <p:cNvSpPr/>
          <p:nvPr/>
        </p:nvSpPr>
        <p:spPr>
          <a:xfrm>
            <a:off x="5433012" y="1265414"/>
            <a:ext cx="24937" cy="2493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"/>
          <p:cNvSpPr/>
          <p:nvPr/>
        </p:nvSpPr>
        <p:spPr>
          <a:xfrm>
            <a:off x="10920868" y="405055"/>
            <a:ext cx="14373" cy="1437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"/>
          <p:cNvSpPr/>
          <p:nvPr/>
        </p:nvSpPr>
        <p:spPr>
          <a:xfrm>
            <a:off x="8990608" y="789620"/>
            <a:ext cx="23982" cy="2398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"/>
          <p:cNvSpPr/>
          <p:nvPr/>
        </p:nvSpPr>
        <p:spPr>
          <a:xfrm>
            <a:off x="9777560" y="486530"/>
            <a:ext cx="28627" cy="2862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s"/>
          <p:cNvSpPr/>
          <p:nvPr/>
        </p:nvSpPr>
        <p:spPr>
          <a:xfrm>
            <a:off x="3602037" y="314536"/>
            <a:ext cx="14816" cy="1481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"/>
          <p:cNvSpPr/>
          <p:nvPr/>
        </p:nvSpPr>
        <p:spPr>
          <a:xfrm>
            <a:off x="7275367" y="3507882"/>
            <a:ext cx="14289" cy="1428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"/>
          <p:cNvSpPr/>
          <p:nvPr/>
        </p:nvSpPr>
        <p:spPr>
          <a:xfrm>
            <a:off x="4037655" y="760955"/>
            <a:ext cx="30056" cy="3005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"/>
          <p:cNvSpPr/>
          <p:nvPr/>
        </p:nvSpPr>
        <p:spPr>
          <a:xfrm>
            <a:off x="7122250" y="495854"/>
            <a:ext cx="39094" cy="3909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"/>
          <p:cNvSpPr/>
          <p:nvPr/>
        </p:nvSpPr>
        <p:spPr>
          <a:xfrm>
            <a:off x="9486738" y="1038526"/>
            <a:ext cx="19315" cy="1931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s"/>
          <p:cNvSpPr/>
          <p:nvPr/>
        </p:nvSpPr>
        <p:spPr>
          <a:xfrm>
            <a:off x="10580147" y="5263291"/>
            <a:ext cx="31103" cy="3110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"/>
          <p:cNvSpPr/>
          <p:nvPr/>
        </p:nvSpPr>
        <p:spPr>
          <a:xfrm>
            <a:off x="1037872" y="4841090"/>
            <a:ext cx="31187" cy="3118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"/>
          <p:cNvSpPr/>
          <p:nvPr/>
        </p:nvSpPr>
        <p:spPr>
          <a:xfrm>
            <a:off x="6655194" y="415985"/>
            <a:ext cx="19244" cy="1924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s"/>
          <p:cNvSpPr/>
          <p:nvPr/>
        </p:nvSpPr>
        <p:spPr>
          <a:xfrm>
            <a:off x="781527" y="4669643"/>
            <a:ext cx="16363" cy="1636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s"/>
          <p:cNvSpPr/>
          <p:nvPr/>
        </p:nvSpPr>
        <p:spPr>
          <a:xfrm>
            <a:off x="4858837" y="3515993"/>
            <a:ext cx="16726" cy="1672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"/>
          <p:cNvSpPr/>
          <p:nvPr/>
        </p:nvSpPr>
        <p:spPr>
          <a:xfrm>
            <a:off x="9071203" y="988112"/>
            <a:ext cx="30707" cy="3070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s"/>
          <p:cNvSpPr/>
          <p:nvPr/>
        </p:nvSpPr>
        <p:spPr>
          <a:xfrm>
            <a:off x="5175466" y="4699778"/>
            <a:ext cx="38742" cy="3874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s"/>
          <p:cNvSpPr/>
          <p:nvPr/>
        </p:nvSpPr>
        <p:spPr>
          <a:xfrm>
            <a:off x="11442106" y="1516042"/>
            <a:ext cx="15376" cy="1537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s"/>
          <p:cNvSpPr/>
          <p:nvPr/>
        </p:nvSpPr>
        <p:spPr>
          <a:xfrm>
            <a:off x="9757631" y="4791609"/>
            <a:ext cx="32935" cy="3293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s"/>
          <p:cNvSpPr/>
          <p:nvPr/>
        </p:nvSpPr>
        <p:spPr>
          <a:xfrm>
            <a:off x="3151952" y="3123897"/>
            <a:ext cx="15192" cy="1519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s"/>
          <p:cNvSpPr/>
          <p:nvPr/>
        </p:nvSpPr>
        <p:spPr>
          <a:xfrm>
            <a:off x="9189627" y="5973618"/>
            <a:ext cx="14057" cy="1405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"/>
          <p:cNvSpPr/>
          <p:nvPr/>
        </p:nvSpPr>
        <p:spPr>
          <a:xfrm>
            <a:off x="9468528" y="499970"/>
            <a:ext cx="32283" cy="3228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s"/>
          <p:cNvSpPr/>
          <p:nvPr/>
        </p:nvSpPr>
        <p:spPr>
          <a:xfrm>
            <a:off x="3455413" y="4164226"/>
            <a:ext cx="34295" cy="3429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s"/>
          <p:cNvSpPr/>
          <p:nvPr/>
        </p:nvSpPr>
        <p:spPr>
          <a:xfrm>
            <a:off x="8920785" y="3586904"/>
            <a:ext cx="37468" cy="3746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s"/>
          <p:cNvSpPr/>
          <p:nvPr/>
        </p:nvSpPr>
        <p:spPr>
          <a:xfrm>
            <a:off x="5270514" y="3905751"/>
            <a:ext cx="31187" cy="3118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s"/>
          <p:cNvSpPr/>
          <p:nvPr/>
        </p:nvSpPr>
        <p:spPr>
          <a:xfrm>
            <a:off x="7603172" y="3033172"/>
            <a:ext cx="21822" cy="2182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s"/>
          <p:cNvSpPr/>
          <p:nvPr/>
        </p:nvSpPr>
        <p:spPr>
          <a:xfrm>
            <a:off x="4167906" y="6663738"/>
            <a:ext cx="17890" cy="1789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"/>
          <p:cNvSpPr/>
          <p:nvPr/>
        </p:nvSpPr>
        <p:spPr>
          <a:xfrm>
            <a:off x="11727180" y="6541685"/>
            <a:ext cx="19998" cy="1999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s"/>
          <p:cNvSpPr/>
          <p:nvPr/>
        </p:nvSpPr>
        <p:spPr>
          <a:xfrm>
            <a:off x="1373299" y="4818615"/>
            <a:ext cx="21838" cy="2183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s"/>
          <p:cNvSpPr/>
          <p:nvPr/>
        </p:nvSpPr>
        <p:spPr>
          <a:xfrm>
            <a:off x="8811335" y="4153337"/>
            <a:ext cx="23255" cy="2325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s"/>
          <p:cNvSpPr/>
          <p:nvPr/>
        </p:nvSpPr>
        <p:spPr>
          <a:xfrm>
            <a:off x="7530188" y="2415397"/>
            <a:ext cx="31954" cy="3195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s"/>
          <p:cNvSpPr/>
          <p:nvPr/>
        </p:nvSpPr>
        <p:spPr>
          <a:xfrm>
            <a:off x="1228106" y="990407"/>
            <a:ext cx="28775" cy="2877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s"/>
          <p:cNvSpPr/>
          <p:nvPr/>
        </p:nvSpPr>
        <p:spPr>
          <a:xfrm>
            <a:off x="7014936" y="1383802"/>
            <a:ext cx="36809" cy="3680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"/>
          <p:cNvSpPr/>
          <p:nvPr/>
        </p:nvSpPr>
        <p:spPr>
          <a:xfrm>
            <a:off x="5738744" y="1274938"/>
            <a:ext cx="28022" cy="2802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s"/>
          <p:cNvSpPr/>
          <p:nvPr/>
        </p:nvSpPr>
        <p:spPr>
          <a:xfrm>
            <a:off x="7074924" y="328894"/>
            <a:ext cx="33896" cy="3389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s"/>
          <p:cNvSpPr/>
          <p:nvPr/>
        </p:nvSpPr>
        <p:spPr>
          <a:xfrm>
            <a:off x="1302255" y="6413685"/>
            <a:ext cx="30287" cy="3028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s"/>
          <p:cNvSpPr/>
          <p:nvPr/>
        </p:nvSpPr>
        <p:spPr>
          <a:xfrm>
            <a:off x="9613779" y="6619401"/>
            <a:ext cx="38815" cy="3881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s"/>
          <p:cNvSpPr/>
          <p:nvPr/>
        </p:nvSpPr>
        <p:spPr>
          <a:xfrm>
            <a:off x="5263809" y="2853153"/>
            <a:ext cx="34783" cy="3478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s"/>
          <p:cNvSpPr/>
          <p:nvPr/>
        </p:nvSpPr>
        <p:spPr>
          <a:xfrm>
            <a:off x="5875018" y="4985935"/>
            <a:ext cx="28275" cy="2827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"/>
          <p:cNvSpPr/>
          <p:nvPr/>
        </p:nvSpPr>
        <p:spPr>
          <a:xfrm>
            <a:off x="9729027" y="6684814"/>
            <a:ext cx="26948" cy="2694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s"/>
          <p:cNvSpPr/>
          <p:nvPr/>
        </p:nvSpPr>
        <p:spPr>
          <a:xfrm>
            <a:off x="1153650" y="785140"/>
            <a:ext cx="20845" cy="2084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s"/>
          <p:cNvSpPr/>
          <p:nvPr/>
        </p:nvSpPr>
        <p:spPr>
          <a:xfrm>
            <a:off x="7954050" y="5847212"/>
            <a:ext cx="33762" cy="3376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s"/>
          <p:cNvSpPr/>
          <p:nvPr/>
        </p:nvSpPr>
        <p:spPr>
          <a:xfrm>
            <a:off x="1090518" y="508932"/>
            <a:ext cx="35958" cy="3595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s"/>
          <p:cNvSpPr/>
          <p:nvPr/>
        </p:nvSpPr>
        <p:spPr>
          <a:xfrm>
            <a:off x="11769083" y="2597174"/>
            <a:ext cx="33205" cy="3320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s"/>
          <p:cNvSpPr/>
          <p:nvPr/>
        </p:nvSpPr>
        <p:spPr>
          <a:xfrm>
            <a:off x="9696328" y="5714631"/>
            <a:ext cx="38932" cy="3893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s"/>
          <p:cNvSpPr/>
          <p:nvPr/>
        </p:nvSpPr>
        <p:spPr>
          <a:xfrm>
            <a:off x="0" y="2350000"/>
            <a:ext cx="12192000" cy="20000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002366"/>
              </a:gs>
              <a:gs pos="100000">
                <a:srgbClr val="0b1a3a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56" name="s"/>
          <p:cNvSpPr/>
          <p:nvPr/>
        </p:nvSpPr>
        <p:spPr>
          <a:xfrm>
            <a:off x="820000" y="2620000"/>
            <a:ext cx="1420000" cy="1420000"/>
          </a:xfrm>
          <a:prstGeom prst="roundRect">
            <a:avLst>
              <a:gd name="adj" fmla="val 24000"/>
            </a:avLst>
          </a:prstGeom>
          <a:gradFill>
            <a:gsLst>
              <a:gs pos="0">
                <a:srgbClr val="0b1a3a"/>
              </a:gs>
              <a:gs pos="100000">
                <a:srgbClr val="002366"/>
              </a:gs>
            </a:gsLst>
            <a:lin ang="5400000" scaled="1"/>
          </a:gradFill>
          <a:ln w="12700">
            <a:solidFill>
              <a:srgbClr val="22d3ee"/>
            </a:solidFill>
          </a:ln>
        </p:spPr>
        <p:txBody>
          <a:bodyPr/>
          <a:lstStyle/>
          <a:p/>
        </p:txBody>
      </p:sp>
      <p:cxnSp>
        <p:nvCxnSpPr>
          <p:cNvPr id="57" name="l"/>
          <p:cNvCxnSpPr/>
          <p:nvPr/>
        </p:nvCxnSpPr>
        <p:spPr>
          <a:xfrm flipH="0" flipV="0">
            <a:off x="1530000" y="3330000"/>
            <a:ext cx="482800" cy="1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58" name="l"/>
          <p:cNvCxnSpPr/>
          <p:nvPr/>
        </p:nvCxnSpPr>
        <p:spPr>
          <a:xfrm flipH="0" flipV="0">
            <a:off x="1530000" y="3330000"/>
            <a:ext cx="241400" cy="418117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59" name="l"/>
          <p:cNvCxnSpPr/>
          <p:nvPr/>
        </p:nvCxnSpPr>
        <p:spPr>
          <a:xfrm flipH="1" flipV="0">
            <a:off x="1288601" y="3330000"/>
            <a:ext cx="241399" cy="418117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60" name="l"/>
          <p:cNvCxnSpPr/>
          <p:nvPr/>
        </p:nvCxnSpPr>
        <p:spPr>
          <a:xfrm flipH="1" flipV="0">
            <a:off x="1047200" y="3330000"/>
            <a:ext cx="482800" cy="1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61" name="l"/>
          <p:cNvCxnSpPr/>
          <p:nvPr/>
        </p:nvCxnSpPr>
        <p:spPr>
          <a:xfrm flipH="1" flipV="1">
            <a:off x="1288600" y="2911883"/>
            <a:ext cx="241400" cy="418117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62" name="l"/>
          <p:cNvCxnSpPr/>
          <p:nvPr/>
        </p:nvCxnSpPr>
        <p:spPr>
          <a:xfrm flipH="0" flipV="1">
            <a:off x="1530000" y="2911883"/>
            <a:ext cx="241400" cy="418117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sp>
        <p:nvSpPr>
          <p:cNvPr id="63" name="s"/>
          <p:cNvSpPr/>
          <p:nvPr/>
        </p:nvSpPr>
        <p:spPr>
          <a:xfrm>
            <a:off x="1974800" y="329200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s"/>
          <p:cNvSpPr/>
          <p:nvPr/>
        </p:nvSpPr>
        <p:spPr>
          <a:xfrm>
            <a:off x="1733400" y="3710117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s"/>
          <p:cNvSpPr/>
          <p:nvPr/>
        </p:nvSpPr>
        <p:spPr>
          <a:xfrm>
            <a:off x="1250601" y="3710117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s"/>
          <p:cNvSpPr/>
          <p:nvPr/>
        </p:nvSpPr>
        <p:spPr>
          <a:xfrm>
            <a:off x="1009200" y="329200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s"/>
          <p:cNvSpPr/>
          <p:nvPr/>
        </p:nvSpPr>
        <p:spPr>
          <a:xfrm>
            <a:off x="1250600" y="2873883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s"/>
          <p:cNvSpPr/>
          <p:nvPr/>
        </p:nvSpPr>
        <p:spPr>
          <a:xfrm>
            <a:off x="1733400" y="2873883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s"/>
          <p:cNvSpPr/>
          <p:nvPr/>
        </p:nvSpPr>
        <p:spPr>
          <a:xfrm>
            <a:off x="1460000" y="3260000"/>
            <a:ext cx="140000" cy="140000"/>
          </a:xfrm>
          <a:prstGeom prst="ellipse">
            <a:avLst/>
          </a:prstGeom>
          <a:solidFill>
            <a:srgbClr val="f5c542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2550000" y="2560000"/>
            <a:ext cx="90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500" b="1" i="0" dirty="0">
                <a:solidFill>
                  <a:srgbClr val="f5c542"/>
                </a:solidFill>
                <a:latin typeface="Tahoma"/>
                <a:cs typeface="Tahoma"/>
              </a:rPr>
              <a:t>Source Code / Kiro Project</a:t>
            </a:r>
          </a:p>
        </p:txBody>
      </p:sp>
      <p:sp>
        <p:nvSpPr>
          <p:cNvPr id="71" name="t"/>
          <p:cNvSpPr txBox="1"/>
          <p:nvPr/>
        </p:nvSpPr>
        <p:spPr>
          <a:xfrm>
            <a:off x="2550000" y="2980000"/>
            <a:ext cx="90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4000" b="1" i="0" dirty="0">
                <a:solidFill>
                  <a:srgbClr val="e5edff"/>
                </a:solidFill>
                <a:latin typeface="Tahoma"/>
                <a:cs typeface="Tahoma"/>
              </a:rPr>
              <a:t>LIKA Nexus</a:t>
            </a:r>
          </a:p>
        </p:txBody>
      </p:sp>
      <p:sp>
        <p:nvSpPr>
          <p:cNvPr id="72" name="t"/>
          <p:cNvSpPr txBox="1"/>
          <p:nvPr/>
        </p:nvSpPr>
        <p:spPr>
          <a:xfrm>
            <a:off x="2550000" y="3780000"/>
            <a:ext cx="90000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0" i="0" dirty="0">
                <a:solidFill>
                  <a:srgbClr val="22d3ee"/>
                </a:solidFill>
                <a:latin typeface="Tahoma"/>
                <a:cs typeface="Tahoma"/>
              </a:rPr>
              <a:t>แนวทางการพัฒนา · โครงสร้างผลงาน · การประยุกต์ใช้ Kiro</a:t>
            </a:r>
          </a:p>
        </p:txBody>
      </p:sp>
      <p:sp>
        <p:nvSpPr>
          <p:cNvPr id="73" name="s"/>
          <p:cNvSpPr/>
          <p:nvPr/>
        </p:nvSpPr>
        <p:spPr>
          <a:xfrm>
            <a:off x="820000" y="4650000"/>
            <a:ext cx="1838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5c542"/>
            </a:solidFill>
          </a:ln>
        </p:spPr>
        <p:txBody>
          <a:bodyPr/>
          <a:lstStyle/>
          <a:p/>
        </p:txBody>
      </p:sp>
      <p:sp>
        <p:nvSpPr>
          <p:cNvPr id="74" name="t"/>
          <p:cNvSpPr txBox="1"/>
          <p:nvPr/>
        </p:nvSpPr>
        <p:spPr>
          <a:xfrm>
            <a:off x="820000" y="4644000"/>
            <a:ext cx="1838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f5c542"/>
                </a:solidFill>
                <a:latin typeface="Tahoma"/>
                <a:cs typeface="Tahoma"/>
              </a:rPr>
              <a:t>Single-file Web App</a:t>
            </a:r>
          </a:p>
        </p:txBody>
      </p:sp>
      <p:sp>
        <p:nvSpPr>
          <p:cNvPr id="75" name="s"/>
          <p:cNvSpPr/>
          <p:nvPr/>
        </p:nvSpPr>
        <p:spPr>
          <a:xfrm>
            <a:off x="2808000" y="4650000"/>
            <a:ext cx="1182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2808000" y="4644000"/>
            <a:ext cx="1182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22d3ee"/>
                </a:solidFill>
                <a:latin typeface="Tahoma"/>
                <a:cs typeface="Tahoma"/>
              </a:rPr>
              <a:t>Spec-driven</a:t>
            </a:r>
          </a:p>
        </p:txBody>
      </p:sp>
      <p:sp>
        <p:nvSpPr>
          <p:cNvPr id="77" name="s"/>
          <p:cNvSpPr/>
          <p:nvPr/>
        </p:nvSpPr>
        <p:spPr>
          <a:xfrm>
            <a:off x="4140000" y="4650000"/>
            <a:ext cx="1182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78" name="t"/>
          <p:cNvSpPr txBox="1"/>
          <p:nvPr/>
        </p:nvSpPr>
        <p:spPr>
          <a:xfrm>
            <a:off x="4140000" y="4644000"/>
            <a:ext cx="1182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34d399"/>
                </a:solidFill>
                <a:latin typeface="Tahoma"/>
                <a:cs typeface="Tahoma"/>
              </a:rPr>
              <a:t>Open Source</a:t>
            </a:r>
          </a:p>
        </p:txBody>
      </p:sp>
      <p:sp>
        <p:nvSpPr>
          <p:cNvPr id="79" name="s"/>
          <p:cNvSpPr/>
          <p:nvPr/>
        </p:nvSpPr>
        <p:spPr>
          <a:xfrm>
            <a:off x="5472000" y="4650000"/>
            <a:ext cx="1100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80" name="t"/>
          <p:cNvSpPr txBox="1"/>
          <p:nvPr/>
        </p:nvSpPr>
        <p:spPr>
          <a:xfrm>
            <a:off x="5472000" y="4644000"/>
            <a:ext cx="1100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a78bfa"/>
                </a:solidFill>
                <a:latin typeface="Tahoma"/>
                <a:cs typeface="Tahoma"/>
              </a:rPr>
              <a:t>21 Commits</a:t>
            </a:r>
          </a:p>
        </p:txBody>
      </p:sp>
      <p:sp>
        <p:nvSpPr>
          <p:cNvPr id="81" name="t"/>
          <p:cNvSpPr txBox="1"/>
          <p:nvPr/>
        </p:nvSpPr>
        <p:spPr>
          <a:xfrm>
            <a:off x="820000" y="5800000"/>
            <a:ext cx="106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00" b="1" i="0" dirty="0">
                <a:solidFill>
                  <a:srgbClr val="f5c542"/>
                </a:solidFill>
                <a:latin typeface="Tahoma"/>
                <a:cs typeface="Tahoma"/>
              </a:rPr>
              <a:t>GitHub: </a:t>
            </a:r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github.com/kanchanathsao-crypto/lika-lit-review-helper-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t"/>
          <p:cNvSpPr txBox="1"/>
          <p:nvPr/>
        </p:nvSpPr>
        <p:spPr>
          <a:xfrm>
            <a:off x="760000" y="450000"/>
            <a:ext cx="100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PROJECT STRUCTURE</a:t>
            </a:r>
          </a:p>
        </p:txBody>
      </p:sp>
      <p:sp>
        <p:nvSpPr>
          <p:cNvPr id="84" name="t"/>
          <p:cNvSpPr txBox="1"/>
          <p:nvPr/>
        </p:nvSpPr>
        <p:spPr>
          <a:xfrm>
            <a:off x="760000" y="790000"/>
            <a:ext cx="106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600" b="1" i="0" dirty="0">
                <a:solidFill>
                  <a:srgbClr val="e5edff"/>
                </a:solidFill>
                <a:latin typeface="Tahoma"/>
                <a:cs typeface="Tahoma"/>
              </a:rPr>
              <a:t>โครงสร้างของผลงาน</a:t>
            </a:r>
          </a:p>
        </p:txBody>
      </p:sp>
      <p:sp>
        <p:nvSpPr>
          <p:cNvPr id="85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2/7</a:t>
            </a:r>
          </a:p>
        </p:txBody>
      </p:sp>
      <p:sp>
        <p:nvSpPr>
          <p:cNvPr id="86" name="s"/>
          <p:cNvSpPr/>
          <p:nvPr/>
        </p:nvSpPr>
        <p:spPr>
          <a:xfrm>
            <a:off x="760000" y="1950000"/>
            <a:ext cx="5600000" cy="3900000"/>
          </a:xfrm>
          <a:prstGeom prst="roundRect">
            <a:avLst>
              <a:gd name="adj" fmla="val 5000"/>
            </a:avLst>
          </a:prstGeom>
          <a:solidFill>
            <a:srgbClr val="0a1428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87" name="t"/>
          <p:cNvSpPr txBox="1"/>
          <p:nvPr/>
        </p:nvSpPr>
        <p:spPr>
          <a:xfrm>
            <a:off x="1000000" y="2140000"/>
            <a:ext cx="44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1" i="0" dirty="0">
                <a:solidFill>
                  <a:srgbClr val="f5c542"/>
                </a:solidFill>
                <a:latin typeface="Tahoma"/>
                <a:cs typeface="Tahoma"/>
              </a:rPr>
              <a:t>📁 LIKA.kiro/</a:t>
            </a:r>
          </a:p>
        </p:txBody>
      </p:sp>
      <p:sp>
        <p:nvSpPr>
          <p:cNvPr id="88" name="t"/>
          <p:cNvSpPr txBox="1"/>
          <p:nvPr/>
        </p:nvSpPr>
        <p:spPr>
          <a:xfrm>
            <a:off x="1330000" y="2490000"/>
            <a:ext cx="44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⭐ lika-nexus.html</a:t>
            </a:r>
          </a:p>
        </p:txBody>
      </p:sp>
      <p:sp>
        <p:nvSpPr>
          <p:cNvPr id="89" name="t"/>
          <p:cNvSpPr txBox="1"/>
          <p:nvPr/>
        </p:nvSpPr>
        <p:spPr>
          <a:xfrm>
            <a:off x="1330000" y="2840000"/>
            <a:ext cx="44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22d3ee"/>
                </a:solidFill>
                <a:latin typeface="Tahoma"/>
                <a:cs typeface="Tahoma"/>
              </a:rPr>
              <a:t>📁 .kiro/</a:t>
            </a:r>
          </a:p>
        </p:txBody>
      </p:sp>
      <p:sp>
        <p:nvSpPr>
          <p:cNvPr id="90" name="t"/>
          <p:cNvSpPr txBox="1"/>
          <p:nvPr/>
        </p:nvSpPr>
        <p:spPr>
          <a:xfrm>
            <a:off x="1660000" y="3190000"/>
            <a:ext cx="44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34d399"/>
                </a:solidFill>
                <a:latin typeface="Tahoma"/>
                <a:cs typeface="Tahoma"/>
              </a:rPr>
              <a:t>📐 steering/rules.md</a:t>
            </a:r>
          </a:p>
        </p:txBody>
      </p:sp>
      <p:sp>
        <p:nvSpPr>
          <p:cNvPr id="91" name="t"/>
          <p:cNvSpPr txBox="1"/>
          <p:nvPr/>
        </p:nvSpPr>
        <p:spPr>
          <a:xfrm>
            <a:off x="1660000" y="3540000"/>
            <a:ext cx="44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34d399"/>
                </a:solidFill>
                <a:latin typeface="Tahoma"/>
                <a:cs typeface="Tahoma"/>
              </a:rPr>
              <a:t>📐 specs/lit-review-spec.md</a:t>
            </a:r>
          </a:p>
        </p:txBody>
      </p:sp>
      <p:sp>
        <p:nvSpPr>
          <p:cNvPr id="92" name="t"/>
          <p:cNvSpPr txBox="1"/>
          <p:nvPr/>
        </p:nvSpPr>
        <p:spPr>
          <a:xfrm>
            <a:off x="1330000" y="3890000"/>
            <a:ext cx="44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📖 README.md</a:t>
            </a:r>
          </a:p>
        </p:txBody>
      </p:sp>
      <p:sp>
        <p:nvSpPr>
          <p:cNvPr id="93" name="t"/>
          <p:cNvSpPr txBox="1"/>
          <p:nvPr/>
        </p:nvSpPr>
        <p:spPr>
          <a:xfrm>
            <a:off x="1330000" y="4240000"/>
            <a:ext cx="44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9fb3d1"/>
                </a:solidFill>
                <a:latin typeface="Tahoma"/>
                <a:cs typeface="Tahoma"/>
              </a:rPr>
              <a:t>📖 USER_GUIDE.md</a:t>
            </a:r>
          </a:p>
        </p:txBody>
      </p:sp>
      <p:sp>
        <p:nvSpPr>
          <p:cNvPr id="94" name="t"/>
          <p:cNvSpPr txBox="1"/>
          <p:nvPr/>
        </p:nvSpPr>
        <p:spPr>
          <a:xfrm>
            <a:off x="1330000" y="4590000"/>
            <a:ext cx="44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9fb3d1"/>
                </a:solidFill>
                <a:latin typeface="Tahoma"/>
                <a:cs typeface="Tahoma"/>
              </a:rPr>
              <a:t>📄 CONCEPT_PAPER.md</a:t>
            </a:r>
          </a:p>
        </p:txBody>
      </p:sp>
      <p:sp>
        <p:nvSpPr>
          <p:cNvPr id="95" name="t"/>
          <p:cNvSpPr txBox="1"/>
          <p:nvPr/>
        </p:nvSpPr>
        <p:spPr>
          <a:xfrm>
            <a:off x="1330000" y="4940000"/>
            <a:ext cx="44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f5c542"/>
                </a:solidFill>
                <a:latin typeface="Tahoma"/>
                <a:cs typeface="Tahoma"/>
              </a:rPr>
              <a:t>📊 LIKA_*.pptx</a:t>
            </a:r>
          </a:p>
        </p:txBody>
      </p:sp>
      <p:sp>
        <p:nvSpPr>
          <p:cNvPr id="96" name="t"/>
          <p:cNvSpPr txBox="1"/>
          <p:nvPr/>
        </p:nvSpPr>
        <p:spPr>
          <a:xfrm>
            <a:off x="1330000" y="5290000"/>
            <a:ext cx="44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9fb3d1"/>
                </a:solidFill>
                <a:latin typeface="Tahoma"/>
                <a:cs typeface="Tahoma"/>
              </a:rPr>
              <a:t>🛠 build_*.py</a:t>
            </a:r>
          </a:p>
        </p:txBody>
      </p:sp>
      <p:sp>
        <p:nvSpPr>
          <p:cNvPr id="97" name="t"/>
          <p:cNvSpPr txBox="1"/>
          <p:nvPr/>
        </p:nvSpPr>
        <p:spPr>
          <a:xfrm>
            <a:off x="6560000" y="2000000"/>
            <a:ext cx="49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จัดระเบียบชัดเจน</a:t>
            </a:r>
          </a:p>
        </p:txBody>
      </p:sp>
      <p:sp>
        <p:nvSpPr>
          <p:cNvPr id="98" name="t"/>
          <p:cNvSpPr txBox="1"/>
          <p:nvPr/>
        </p:nvSpPr>
        <p:spPr>
          <a:xfrm>
            <a:off x="6560000" y="2440000"/>
            <a:ext cx="49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โค้ดระบบรวมในไฟล์เดียว ติดตั้งง่าย</a:t>
            </a:r>
          </a:p>
        </p:txBody>
      </p:sp>
      <p:sp>
        <p:nvSpPr>
          <p:cNvPr id="99" name="t"/>
          <p:cNvSpPr txBox="1"/>
          <p:nvPr/>
        </p:nvSpPr>
        <p:spPr>
          <a:xfrm>
            <a:off x="6560000" y="3060000"/>
            <a:ext cx="49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โฟลเดอร์ .kiro แยกหลักฐานการพัฒนา</a:t>
            </a:r>
          </a:p>
        </p:txBody>
      </p:sp>
      <p:sp>
        <p:nvSpPr>
          <p:cNvPr id="100" name="t"/>
          <p:cNvSpPr txBox="1"/>
          <p:nvPr/>
        </p:nvSpPr>
        <p:spPr>
          <a:xfrm>
            <a:off x="6560000" y="3680000"/>
            <a:ext cx="49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เอกสารครบ: README · คู่มือ · แนวคิด</a:t>
            </a:r>
          </a:p>
        </p:txBody>
      </p:sp>
      <p:sp>
        <p:nvSpPr>
          <p:cNvPr id="101" name="t"/>
          <p:cNvSpPr txBox="1"/>
          <p:nvPr/>
        </p:nvSpPr>
        <p:spPr>
          <a:xfrm>
            <a:off x="6560000" y="4300000"/>
            <a:ext cx="49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สคริปต์สร้างสไลด์ตรวจสอบย้อนกลับได้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t"/>
          <p:cNvSpPr txBox="1"/>
          <p:nvPr/>
        </p:nvSpPr>
        <p:spPr>
          <a:xfrm>
            <a:off x="760000" y="450000"/>
            <a:ext cx="100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DEVELOPMENT APPROACH</a:t>
            </a:r>
          </a:p>
        </p:txBody>
      </p:sp>
      <p:sp>
        <p:nvSpPr>
          <p:cNvPr id="104" name="t"/>
          <p:cNvSpPr txBox="1"/>
          <p:nvPr/>
        </p:nvSpPr>
        <p:spPr>
          <a:xfrm>
            <a:off x="760000" y="790000"/>
            <a:ext cx="106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600" b="1" i="0" dirty="0">
                <a:solidFill>
                  <a:srgbClr val="e5edff"/>
                </a:solidFill>
                <a:latin typeface="Tahoma"/>
                <a:cs typeface="Tahoma"/>
              </a:rPr>
              <a:t>แนวทางการพัฒนา</a:t>
            </a:r>
          </a:p>
        </p:txBody>
      </p:sp>
      <p:sp>
        <p:nvSpPr>
          <p:cNvPr id="105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3/7</a:t>
            </a:r>
          </a:p>
        </p:txBody>
      </p:sp>
      <p:sp>
        <p:nvSpPr>
          <p:cNvPr id="106" name="s"/>
          <p:cNvSpPr/>
          <p:nvPr/>
        </p:nvSpPr>
        <p:spPr>
          <a:xfrm>
            <a:off x="760000" y="1950000"/>
            <a:ext cx="5250000" cy="385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1270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07" name="s"/>
          <p:cNvSpPr/>
          <p:nvPr/>
        </p:nvSpPr>
        <p:spPr>
          <a:xfrm>
            <a:off x="2910000" y="2130000"/>
            <a:ext cx="900000" cy="90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08" name="t"/>
          <p:cNvSpPr txBox="1"/>
          <p:nvPr/>
        </p:nvSpPr>
        <p:spPr>
          <a:xfrm>
            <a:off x="2910000" y="2130000"/>
            <a:ext cx="900000" cy="9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900" b="0" i="0" dirty="0">
                <a:solidFill>
                  <a:srgbClr val="f5c542"/>
                </a:solidFill>
                <a:latin typeface="Tahoma"/>
                <a:cs typeface="Tahoma"/>
              </a:rPr>
              <a:t>🧩</a:t>
            </a:r>
          </a:p>
        </p:txBody>
      </p:sp>
      <p:sp>
        <p:nvSpPr>
          <p:cNvPr id="109" name="t"/>
          <p:cNvSpPr txBox="1"/>
          <p:nvPr/>
        </p:nvSpPr>
        <p:spPr>
          <a:xfrm>
            <a:off x="960000" y="3080000"/>
            <a:ext cx="49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400" b="1" i="0" dirty="0">
                <a:solidFill>
                  <a:srgbClr val="22d3ee"/>
                </a:solidFill>
                <a:latin typeface="Tahoma"/>
                <a:cs typeface="Tahoma"/>
              </a:rPr>
              <a:t>หลักการออกแบบ</a:t>
            </a:r>
          </a:p>
        </p:txBody>
      </p:sp>
      <p:sp>
        <p:nvSpPr>
          <p:cNvPr id="110" name="t"/>
          <p:cNvSpPr txBox="1"/>
          <p:nvPr/>
        </p:nvSpPr>
        <p:spPr>
          <a:xfrm>
            <a:off x="1000000" y="352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Single-file Web App — ไม่ต้องมีเซิร์ฟเวอร์</a:t>
            </a:r>
          </a:p>
        </p:txBody>
      </p:sp>
      <p:sp>
        <p:nvSpPr>
          <p:cNvPr id="111" name="t"/>
          <p:cNvSpPr txBox="1"/>
          <p:nvPr/>
        </p:nvSpPr>
        <p:spPr>
          <a:xfrm>
            <a:off x="1000000" y="408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ประมวลผลฝั่งผู้ใช้ (client-side) ทั้งหมด</a:t>
            </a:r>
          </a:p>
        </p:txBody>
      </p:sp>
      <p:sp>
        <p:nvSpPr>
          <p:cNvPr id="112" name="t"/>
          <p:cNvSpPr txBox="1"/>
          <p:nvPr/>
        </p:nvSpPr>
        <p:spPr>
          <a:xfrm>
            <a:off x="1000000" y="464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Privacy-first — ไม่ส่งไฟล์ออกภายนอก</a:t>
            </a:r>
          </a:p>
        </p:txBody>
      </p:sp>
      <p:sp>
        <p:nvSpPr>
          <p:cNvPr id="113" name="t"/>
          <p:cNvSpPr txBox="1"/>
          <p:nvPr/>
        </p:nvSpPr>
        <p:spPr>
          <a:xfrm>
            <a:off x="1000000" y="520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เผยแพร่ผ่าน GitHub Pages</a:t>
            </a:r>
          </a:p>
        </p:txBody>
      </p:sp>
      <p:sp>
        <p:nvSpPr>
          <p:cNvPr id="114" name="s"/>
          <p:cNvSpPr/>
          <p:nvPr/>
        </p:nvSpPr>
        <p:spPr>
          <a:xfrm>
            <a:off x="6260000" y="1950000"/>
            <a:ext cx="5200000" cy="385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1270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15" name="t"/>
          <p:cNvSpPr txBox="1"/>
          <p:nvPr/>
        </p:nvSpPr>
        <p:spPr>
          <a:xfrm>
            <a:off x="6460000" y="2120000"/>
            <a:ext cx="48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1" i="0" dirty="0">
                <a:solidFill>
                  <a:srgbClr val="f5c542"/>
                </a:solidFill>
                <a:latin typeface="Tahoma"/>
                <a:cs typeface="Tahoma"/>
              </a:rPr>
              <a:t>เทคโนโลยีที่ใช้ (Tech Stack)</a:t>
            </a:r>
          </a:p>
        </p:txBody>
      </p:sp>
      <p:sp>
        <p:nvSpPr>
          <p:cNvPr id="116" name="s"/>
          <p:cNvSpPr/>
          <p:nvPr/>
        </p:nvSpPr>
        <p:spPr>
          <a:xfrm>
            <a:off x="6460000" y="2560000"/>
            <a:ext cx="4800000" cy="540000"/>
          </a:xfrm>
          <a:prstGeom prst="roundRect">
            <a:avLst>
              <a:gd name="adj" fmla="val 10000"/>
            </a:avLst>
          </a:prstGeom>
          <a:solidFill>
            <a:srgbClr val="0a1428"/>
          </a:solidFill>
          <a:ln w="7000"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117" name="t"/>
          <p:cNvSpPr txBox="1"/>
          <p:nvPr/>
        </p:nvSpPr>
        <p:spPr>
          <a:xfrm>
            <a:off x="6640000" y="2630000"/>
            <a:ext cx="45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1" i="0" dirty="0">
                <a:solidFill>
                  <a:srgbClr val="22d3ee"/>
                </a:solidFill>
                <a:latin typeface="Tahoma"/>
                <a:cs typeface="Tahoma"/>
              </a:rPr>
              <a:t>HTML5 + Tailwind CSS</a:t>
            </a:r>
          </a:p>
        </p:txBody>
      </p:sp>
      <p:sp>
        <p:nvSpPr>
          <p:cNvPr id="118" name="t"/>
          <p:cNvSpPr txBox="1"/>
          <p:nvPr/>
        </p:nvSpPr>
        <p:spPr>
          <a:xfrm>
            <a:off x="6640000" y="2900000"/>
            <a:ext cx="4500000" cy="2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950" b="0" i="0" dirty="0">
                <a:solidFill>
                  <a:srgbClr val="e5edff"/>
                </a:solidFill>
                <a:latin typeface="Tahoma"/>
                <a:cs typeface="Tahoma"/>
              </a:rPr>
              <a:t>โครงสร้าง + UI (Glassmorphism)</a:t>
            </a:r>
          </a:p>
        </p:txBody>
      </p:sp>
      <p:sp>
        <p:nvSpPr>
          <p:cNvPr id="119" name="s"/>
          <p:cNvSpPr/>
          <p:nvPr/>
        </p:nvSpPr>
        <p:spPr>
          <a:xfrm>
            <a:off x="6460000" y="3180000"/>
            <a:ext cx="4800000" cy="540000"/>
          </a:xfrm>
          <a:prstGeom prst="roundRect">
            <a:avLst>
              <a:gd name="adj" fmla="val 10000"/>
            </a:avLst>
          </a:prstGeom>
          <a:solidFill>
            <a:srgbClr val="0a1428"/>
          </a:solidFill>
          <a:ln w="7000">
            <a:solidFill>
              <a:srgbClr val="f5c542"/>
            </a:solidFill>
          </a:ln>
        </p:spPr>
        <p:txBody>
          <a:bodyPr/>
          <a:lstStyle/>
          <a:p/>
        </p:txBody>
      </p:sp>
      <p:sp>
        <p:nvSpPr>
          <p:cNvPr id="120" name="t"/>
          <p:cNvSpPr txBox="1"/>
          <p:nvPr/>
        </p:nvSpPr>
        <p:spPr>
          <a:xfrm>
            <a:off x="6640000" y="3250000"/>
            <a:ext cx="45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1" i="0" dirty="0">
                <a:solidFill>
                  <a:srgbClr val="f5c542"/>
                </a:solidFill>
                <a:latin typeface="Tahoma"/>
                <a:cs typeface="Tahoma"/>
              </a:rPr>
              <a:t>JavaScript (ES6)</a:t>
            </a:r>
          </a:p>
        </p:txBody>
      </p:sp>
      <p:sp>
        <p:nvSpPr>
          <p:cNvPr id="121" name="t"/>
          <p:cNvSpPr txBox="1"/>
          <p:nvPr/>
        </p:nvSpPr>
        <p:spPr>
          <a:xfrm>
            <a:off x="6640000" y="3520000"/>
            <a:ext cx="4500000" cy="2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950" b="0" i="0" dirty="0">
                <a:solidFill>
                  <a:srgbClr val="e5edff"/>
                </a:solidFill>
                <a:latin typeface="Tahoma"/>
                <a:cs typeface="Tahoma"/>
              </a:rPr>
              <a:t>กลไกสกัดข้อมูล + ค้นหา</a:t>
            </a:r>
          </a:p>
        </p:txBody>
      </p:sp>
      <p:sp>
        <p:nvSpPr>
          <p:cNvPr id="122" name="s"/>
          <p:cNvSpPr/>
          <p:nvPr/>
        </p:nvSpPr>
        <p:spPr>
          <a:xfrm>
            <a:off x="6460000" y="3800000"/>
            <a:ext cx="4800000" cy="540000"/>
          </a:xfrm>
          <a:prstGeom prst="roundRect">
            <a:avLst>
              <a:gd name="adj" fmla="val 10000"/>
            </a:avLst>
          </a:prstGeom>
          <a:solidFill>
            <a:srgbClr val="0a1428"/>
          </a:solidFill>
          <a:ln w="7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23" name="t"/>
          <p:cNvSpPr txBox="1"/>
          <p:nvPr/>
        </p:nvSpPr>
        <p:spPr>
          <a:xfrm>
            <a:off x="6640000" y="3870000"/>
            <a:ext cx="45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1" i="0" dirty="0">
                <a:solidFill>
                  <a:srgbClr val="34d399"/>
                </a:solidFill>
                <a:latin typeface="Tahoma"/>
                <a:cs typeface="Tahoma"/>
              </a:rPr>
              <a:t>Three.js r128 + OrbitControls</a:t>
            </a:r>
          </a:p>
        </p:txBody>
      </p:sp>
      <p:sp>
        <p:nvSpPr>
          <p:cNvPr id="124" name="t"/>
          <p:cNvSpPr txBox="1"/>
          <p:nvPr/>
        </p:nvSpPr>
        <p:spPr>
          <a:xfrm>
            <a:off x="6640000" y="4140000"/>
            <a:ext cx="4500000" cy="2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950" b="0" i="0" dirty="0">
                <a:solidFill>
                  <a:srgbClr val="e5edff"/>
                </a:solidFill>
                <a:latin typeface="Tahoma"/>
                <a:cs typeface="Tahoma"/>
              </a:rPr>
              <a:t>กราฟความรู้ 3 มิติ</a:t>
            </a:r>
          </a:p>
        </p:txBody>
      </p:sp>
      <p:sp>
        <p:nvSpPr>
          <p:cNvPr id="125" name="s"/>
          <p:cNvSpPr/>
          <p:nvPr/>
        </p:nvSpPr>
        <p:spPr>
          <a:xfrm>
            <a:off x="6460000" y="4420000"/>
            <a:ext cx="4800000" cy="540000"/>
          </a:xfrm>
          <a:prstGeom prst="roundRect">
            <a:avLst>
              <a:gd name="adj" fmla="val 10000"/>
            </a:avLst>
          </a:prstGeom>
          <a:solidFill>
            <a:srgbClr val="0a1428"/>
          </a:solidFill>
          <a:ln w="7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26" name="t"/>
          <p:cNvSpPr txBox="1"/>
          <p:nvPr/>
        </p:nvSpPr>
        <p:spPr>
          <a:xfrm>
            <a:off x="6640000" y="4490000"/>
            <a:ext cx="45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1" i="0" dirty="0">
                <a:solidFill>
                  <a:srgbClr val="a78bfa"/>
                </a:solidFill>
                <a:latin typeface="Tahoma"/>
                <a:cs typeface="Tahoma"/>
              </a:rPr>
              <a:t>PDF.js</a:t>
            </a:r>
          </a:p>
        </p:txBody>
      </p:sp>
      <p:sp>
        <p:nvSpPr>
          <p:cNvPr id="127" name="t"/>
          <p:cNvSpPr txBox="1"/>
          <p:nvPr/>
        </p:nvSpPr>
        <p:spPr>
          <a:xfrm>
            <a:off x="6640000" y="4760000"/>
            <a:ext cx="4500000" cy="2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950" b="0" i="0" dirty="0">
                <a:solidFill>
                  <a:srgbClr val="e5edff"/>
                </a:solidFill>
                <a:latin typeface="Tahoma"/>
                <a:cs typeface="Tahoma"/>
              </a:rPr>
              <a:t>อ่านไฟล์ PDF ในเบราว์เซอร์</a:t>
            </a:r>
          </a:p>
        </p:txBody>
      </p:sp>
      <p:sp>
        <p:nvSpPr>
          <p:cNvPr id="128" name="s"/>
          <p:cNvSpPr/>
          <p:nvPr/>
        </p:nvSpPr>
        <p:spPr>
          <a:xfrm>
            <a:off x="6460000" y="5040000"/>
            <a:ext cx="4800000" cy="540000"/>
          </a:xfrm>
          <a:prstGeom prst="roundRect">
            <a:avLst>
              <a:gd name="adj" fmla="val 10000"/>
            </a:avLst>
          </a:prstGeom>
          <a:solidFill>
            <a:srgbClr val="0a1428"/>
          </a:solidFill>
          <a:ln w="7000">
            <a:solidFill>
              <a:srgbClr val="fb923c"/>
            </a:solidFill>
          </a:ln>
        </p:spPr>
        <p:txBody>
          <a:bodyPr/>
          <a:lstStyle/>
          <a:p/>
        </p:txBody>
      </p:sp>
      <p:sp>
        <p:nvSpPr>
          <p:cNvPr id="129" name="t"/>
          <p:cNvSpPr txBox="1"/>
          <p:nvPr/>
        </p:nvSpPr>
        <p:spPr>
          <a:xfrm>
            <a:off x="6640000" y="5110000"/>
            <a:ext cx="45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1" i="0" dirty="0">
                <a:solidFill>
                  <a:srgbClr val="fb923c"/>
                </a:solidFill>
                <a:latin typeface="Tahoma"/>
                <a:cs typeface="Tahoma"/>
              </a:rPr>
              <a:t>GitHub Pages</a:t>
            </a:r>
          </a:p>
        </p:txBody>
      </p:sp>
      <p:sp>
        <p:nvSpPr>
          <p:cNvPr id="130" name="t"/>
          <p:cNvSpPr txBox="1"/>
          <p:nvPr/>
        </p:nvSpPr>
        <p:spPr>
          <a:xfrm>
            <a:off x="6640000" y="5380000"/>
            <a:ext cx="4500000" cy="2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950" b="0" i="0" dirty="0">
                <a:solidFill>
                  <a:srgbClr val="e5edff"/>
                </a:solidFill>
                <a:latin typeface="Tahoma"/>
                <a:cs typeface="Tahoma"/>
              </a:rPr>
              <a:t>เผยแพร่ใช้งานจริง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t"/>
          <p:cNvSpPr txBox="1"/>
          <p:nvPr/>
        </p:nvSpPr>
        <p:spPr>
          <a:xfrm>
            <a:off x="760000" y="450000"/>
            <a:ext cx="100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AI ENGINE</a:t>
            </a:r>
          </a:p>
        </p:txBody>
      </p:sp>
      <p:sp>
        <p:nvSpPr>
          <p:cNvPr id="133" name="t"/>
          <p:cNvSpPr txBox="1"/>
          <p:nvPr/>
        </p:nvSpPr>
        <p:spPr>
          <a:xfrm>
            <a:off x="760000" y="790000"/>
            <a:ext cx="106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600" b="1" i="0" dirty="0">
                <a:solidFill>
                  <a:srgbClr val="e5edff"/>
                </a:solidFill>
                <a:latin typeface="Tahoma"/>
                <a:cs typeface="Tahoma"/>
              </a:rPr>
              <a:t>กลไกการสกัดและวิเคราะห์ข้อมูล</a:t>
            </a:r>
          </a:p>
        </p:txBody>
      </p:sp>
      <p:sp>
        <p:nvSpPr>
          <p:cNvPr id="134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4/7</a:t>
            </a:r>
          </a:p>
        </p:txBody>
      </p:sp>
      <p:sp>
        <p:nvSpPr>
          <p:cNvPr id="135" name="s"/>
          <p:cNvSpPr/>
          <p:nvPr/>
        </p:nvSpPr>
        <p:spPr>
          <a:xfrm>
            <a:off x="760000" y="2100000"/>
            <a:ext cx="2550000" cy="255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36" name="s"/>
          <p:cNvSpPr/>
          <p:nvPr/>
        </p:nvSpPr>
        <p:spPr>
          <a:xfrm>
            <a:off x="1605000" y="230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37" name="t"/>
          <p:cNvSpPr txBox="1"/>
          <p:nvPr/>
        </p:nvSpPr>
        <p:spPr>
          <a:xfrm>
            <a:off x="1605000" y="230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📥</a:t>
            </a:r>
          </a:p>
        </p:txBody>
      </p:sp>
      <p:sp>
        <p:nvSpPr>
          <p:cNvPr id="138" name="t"/>
          <p:cNvSpPr txBox="1"/>
          <p:nvPr/>
        </p:nvSpPr>
        <p:spPr>
          <a:xfrm>
            <a:off x="860000" y="3250000"/>
            <a:ext cx="235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รับเอกสาร</a:t>
            </a:r>
          </a:p>
        </p:txBody>
      </p:sp>
      <p:sp>
        <p:nvSpPr>
          <p:cNvPr id="139" name="t"/>
          <p:cNvSpPr txBox="1"/>
          <p:nvPr/>
        </p:nvSpPr>
        <p:spPr>
          <a:xfrm>
            <a:off x="880000" y="3620000"/>
            <a:ext cx="2310000" cy="3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อ่าน PDF/TXT ด้วย PDF.js</a:t>
            </a:r>
          </a:p>
        </p:txBody>
      </p:sp>
      <p:sp>
        <p:nvSpPr>
          <p:cNvPr id="140" name="t"/>
          <p:cNvSpPr txBox="1"/>
          <p:nvPr/>
        </p:nvSpPr>
        <p:spPr>
          <a:xfrm>
            <a:off x="3280000" y="3100000"/>
            <a:ext cx="25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8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141" name="s"/>
          <p:cNvSpPr/>
          <p:nvPr/>
        </p:nvSpPr>
        <p:spPr>
          <a:xfrm>
            <a:off x="3480000" y="2100000"/>
            <a:ext cx="2550000" cy="255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42" name="s"/>
          <p:cNvSpPr/>
          <p:nvPr/>
        </p:nvSpPr>
        <p:spPr>
          <a:xfrm>
            <a:off x="4325000" y="230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43" name="t"/>
          <p:cNvSpPr txBox="1"/>
          <p:nvPr/>
        </p:nvSpPr>
        <p:spPr>
          <a:xfrm>
            <a:off x="4325000" y="230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🔍</a:t>
            </a:r>
          </a:p>
        </p:txBody>
      </p:sp>
      <p:sp>
        <p:nvSpPr>
          <p:cNvPr id="144" name="t"/>
          <p:cNvSpPr txBox="1"/>
          <p:nvPr/>
        </p:nvSpPr>
        <p:spPr>
          <a:xfrm>
            <a:off x="3580000" y="3250000"/>
            <a:ext cx="235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สกัด IMRaD</a:t>
            </a:r>
          </a:p>
        </p:txBody>
      </p:sp>
      <p:sp>
        <p:nvSpPr>
          <p:cNvPr id="145" name="t"/>
          <p:cNvSpPr txBox="1"/>
          <p:nvPr/>
        </p:nvSpPr>
        <p:spPr>
          <a:xfrm>
            <a:off x="3600000" y="3620000"/>
            <a:ext cx="2310000" cy="3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ดึง 5 ประเด็นสำคัญ</a:t>
            </a:r>
          </a:p>
        </p:txBody>
      </p:sp>
      <p:sp>
        <p:nvSpPr>
          <p:cNvPr id="146" name="t"/>
          <p:cNvSpPr txBox="1"/>
          <p:nvPr/>
        </p:nvSpPr>
        <p:spPr>
          <a:xfrm>
            <a:off x="6000000" y="3100000"/>
            <a:ext cx="25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8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147" name="s"/>
          <p:cNvSpPr/>
          <p:nvPr/>
        </p:nvSpPr>
        <p:spPr>
          <a:xfrm>
            <a:off x="6200000" y="2100000"/>
            <a:ext cx="2550000" cy="255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48" name="s"/>
          <p:cNvSpPr/>
          <p:nvPr/>
        </p:nvSpPr>
        <p:spPr>
          <a:xfrm>
            <a:off x="7045000" y="230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49" name="t"/>
          <p:cNvSpPr txBox="1"/>
          <p:nvPr/>
        </p:nvSpPr>
        <p:spPr>
          <a:xfrm>
            <a:off x="7045000" y="230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🏷️</a:t>
            </a:r>
          </a:p>
        </p:txBody>
      </p:sp>
      <p:sp>
        <p:nvSpPr>
          <p:cNvPr id="150" name="t"/>
          <p:cNvSpPr txBox="1"/>
          <p:nvPr/>
        </p:nvSpPr>
        <p:spPr>
          <a:xfrm>
            <a:off x="6300000" y="3250000"/>
            <a:ext cx="235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34d399"/>
                </a:solidFill>
                <a:latin typeface="Tahoma"/>
                <a:cs typeface="Tahoma"/>
              </a:rPr>
              <a:t>จำแนก</a:t>
            </a:r>
          </a:p>
        </p:txBody>
      </p:sp>
      <p:sp>
        <p:nvSpPr>
          <p:cNvPr id="151" name="t"/>
          <p:cNvSpPr txBox="1"/>
          <p:nvPr/>
        </p:nvSpPr>
        <p:spPr>
          <a:xfrm>
            <a:off x="6320000" y="3620000"/>
            <a:ext cx="2310000" cy="3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22 สาขา + ระเบียบวิธี</a:t>
            </a:r>
          </a:p>
        </p:txBody>
      </p:sp>
      <p:sp>
        <p:nvSpPr>
          <p:cNvPr id="152" name="t"/>
          <p:cNvSpPr txBox="1"/>
          <p:nvPr/>
        </p:nvSpPr>
        <p:spPr>
          <a:xfrm>
            <a:off x="6320000" y="3980000"/>
            <a:ext cx="2310000" cy="3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(weighted scoring)</a:t>
            </a:r>
          </a:p>
        </p:txBody>
      </p:sp>
      <p:sp>
        <p:nvSpPr>
          <p:cNvPr id="153" name="t"/>
          <p:cNvSpPr txBox="1"/>
          <p:nvPr/>
        </p:nvSpPr>
        <p:spPr>
          <a:xfrm>
            <a:off x="8720000" y="3100000"/>
            <a:ext cx="25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8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154" name="s"/>
          <p:cNvSpPr/>
          <p:nvPr/>
        </p:nvSpPr>
        <p:spPr>
          <a:xfrm>
            <a:off x="8920000" y="2100000"/>
            <a:ext cx="2550000" cy="255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55" name="s"/>
          <p:cNvSpPr/>
          <p:nvPr/>
        </p:nvSpPr>
        <p:spPr>
          <a:xfrm>
            <a:off x="9765000" y="230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56" name="t"/>
          <p:cNvSpPr txBox="1"/>
          <p:nvPr/>
        </p:nvSpPr>
        <p:spPr>
          <a:xfrm>
            <a:off x="9765000" y="230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🧾</a:t>
            </a:r>
          </a:p>
        </p:txBody>
      </p:sp>
      <p:sp>
        <p:nvSpPr>
          <p:cNvPr id="157" name="t"/>
          <p:cNvSpPr txBox="1"/>
          <p:nvPr/>
        </p:nvSpPr>
        <p:spPr>
          <a:xfrm>
            <a:off x="9020000" y="3250000"/>
            <a:ext cx="235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a78bfa"/>
                </a:solidFill>
                <a:latin typeface="Tahoma"/>
                <a:cs typeface="Tahoma"/>
              </a:rPr>
              <a:t>สังเคราะห์</a:t>
            </a:r>
          </a:p>
        </p:txBody>
      </p:sp>
      <p:sp>
        <p:nvSpPr>
          <p:cNvPr id="158" name="t"/>
          <p:cNvSpPr txBox="1"/>
          <p:nvPr/>
        </p:nvSpPr>
        <p:spPr>
          <a:xfrm>
            <a:off x="9040000" y="3620000"/>
            <a:ext cx="2310000" cy="3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ร่าง Lit-Review + APA</a:t>
            </a:r>
          </a:p>
        </p:txBody>
      </p:sp>
      <p:sp>
        <p:nvSpPr>
          <p:cNvPr id="159" name="s"/>
          <p:cNvSpPr/>
          <p:nvPr/>
        </p:nvSpPr>
        <p:spPr>
          <a:xfrm>
            <a:off x="760000" y="4900000"/>
            <a:ext cx="10700000" cy="780000"/>
          </a:xfrm>
          <a:prstGeom prst="roundRect">
            <a:avLst>
              <a:gd name="adj" fmla="val 14000"/>
            </a:avLst>
          </a:prstGeom>
          <a:noFill/>
          <a:ln w="9525"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160" name="t"/>
          <p:cNvSpPr txBox="1"/>
          <p:nvPr/>
        </p:nvSpPr>
        <p:spPr>
          <a:xfrm>
            <a:off x="1000000" y="5000000"/>
            <a:ext cx="10300000" cy="5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รองรับทั้งภาษาไทยและอังกฤษ · แปลงปี พ.ศ. เป็น ค.ศ. · ดึงชื่อผู้แต่งแบบเต็มโดยหลีกเลี่ยงชื่อสถาบัน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t"/>
          <p:cNvSpPr txBox="1"/>
          <p:nvPr/>
        </p:nvSpPr>
        <p:spPr>
          <a:xfrm>
            <a:off x="760000" y="450000"/>
            <a:ext cx="100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KIRO PROJECT</a:t>
            </a:r>
          </a:p>
        </p:txBody>
      </p:sp>
      <p:sp>
        <p:nvSpPr>
          <p:cNvPr id="163" name="t"/>
          <p:cNvSpPr txBox="1"/>
          <p:nvPr/>
        </p:nvSpPr>
        <p:spPr>
          <a:xfrm>
            <a:off x="760000" y="790000"/>
            <a:ext cx="106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600" b="1" i="0" dirty="0">
                <a:solidFill>
                  <a:srgbClr val="e5edff"/>
                </a:solidFill>
                <a:latin typeface="Tahoma"/>
                <a:cs typeface="Tahoma"/>
              </a:rPr>
              <a:t>การประยุกต์ใช้ Kiro แบบ Spec-driven</a:t>
            </a:r>
          </a:p>
        </p:txBody>
      </p:sp>
      <p:sp>
        <p:nvSpPr>
          <p:cNvPr id="164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5/7</a:t>
            </a:r>
          </a:p>
        </p:txBody>
      </p:sp>
      <p:sp>
        <p:nvSpPr>
          <p:cNvPr id="165" name="s"/>
          <p:cNvSpPr/>
          <p:nvPr/>
        </p:nvSpPr>
        <p:spPr>
          <a:xfrm>
            <a:off x="760000" y="2050000"/>
            <a:ext cx="2550000" cy="245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66" name="s"/>
          <p:cNvSpPr/>
          <p:nvPr/>
        </p:nvSpPr>
        <p:spPr>
          <a:xfrm>
            <a:off x="1605000" y="223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67" name="t"/>
          <p:cNvSpPr txBox="1"/>
          <p:nvPr/>
        </p:nvSpPr>
        <p:spPr>
          <a:xfrm>
            <a:off x="1605000" y="223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📐</a:t>
            </a:r>
          </a:p>
        </p:txBody>
      </p:sp>
      <p:sp>
        <p:nvSpPr>
          <p:cNvPr id="168" name="t"/>
          <p:cNvSpPr txBox="1"/>
          <p:nvPr/>
        </p:nvSpPr>
        <p:spPr>
          <a:xfrm>
            <a:off x="860000" y="3160000"/>
            <a:ext cx="235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Steering Rules</a:t>
            </a:r>
          </a:p>
        </p:txBody>
      </p:sp>
      <p:sp>
        <p:nvSpPr>
          <p:cNvPr id="169" name="t"/>
          <p:cNvSpPr txBox="1"/>
          <p:nvPr/>
        </p:nvSpPr>
        <p:spPr>
          <a:xfrm>
            <a:off x="880000" y="3520000"/>
            <a:ext cx="231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950" b="0" i="0" dirty="0">
                <a:solidFill>
                  <a:srgbClr val="e5edff"/>
                </a:solidFill>
                <a:latin typeface="Tahoma"/>
                <a:cs typeface="Tahoma"/>
              </a:rPr>
              <a:t>.kiro/steering/</a:t>
            </a:r>
          </a:p>
        </p:txBody>
      </p:sp>
      <p:sp>
        <p:nvSpPr>
          <p:cNvPr id="170" name="t"/>
          <p:cNvSpPr txBox="1"/>
          <p:nvPr/>
        </p:nvSpPr>
        <p:spPr>
          <a:xfrm>
            <a:off x="880000" y="3870000"/>
            <a:ext cx="231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950" b="0" i="0" dirty="0">
                <a:solidFill>
                  <a:srgbClr val="e5edff"/>
                </a:solidFill>
                <a:latin typeface="Tahoma"/>
                <a:cs typeface="Tahoma"/>
              </a:rPr>
              <a:t>rules.md</a:t>
            </a:r>
          </a:p>
        </p:txBody>
      </p:sp>
      <p:sp>
        <p:nvSpPr>
          <p:cNvPr id="171" name="t"/>
          <p:cNvSpPr txBox="1"/>
          <p:nvPr/>
        </p:nvSpPr>
        <p:spPr>
          <a:xfrm>
            <a:off x="3280000" y="3050000"/>
            <a:ext cx="25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8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172" name="s"/>
          <p:cNvSpPr/>
          <p:nvPr/>
        </p:nvSpPr>
        <p:spPr>
          <a:xfrm>
            <a:off x="3480000" y="2050000"/>
            <a:ext cx="2550000" cy="245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73" name="s"/>
          <p:cNvSpPr/>
          <p:nvPr/>
        </p:nvSpPr>
        <p:spPr>
          <a:xfrm>
            <a:off x="4325000" y="223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74" name="t"/>
          <p:cNvSpPr txBox="1"/>
          <p:nvPr/>
        </p:nvSpPr>
        <p:spPr>
          <a:xfrm>
            <a:off x="4325000" y="223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📋</a:t>
            </a:r>
          </a:p>
        </p:txBody>
      </p:sp>
      <p:sp>
        <p:nvSpPr>
          <p:cNvPr id="175" name="t"/>
          <p:cNvSpPr txBox="1"/>
          <p:nvPr/>
        </p:nvSpPr>
        <p:spPr>
          <a:xfrm>
            <a:off x="3580000" y="3160000"/>
            <a:ext cx="235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Specs</a:t>
            </a:r>
          </a:p>
        </p:txBody>
      </p:sp>
      <p:sp>
        <p:nvSpPr>
          <p:cNvPr id="176" name="t"/>
          <p:cNvSpPr txBox="1"/>
          <p:nvPr/>
        </p:nvSpPr>
        <p:spPr>
          <a:xfrm>
            <a:off x="3600000" y="3520000"/>
            <a:ext cx="231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950" b="0" i="0" dirty="0">
                <a:solidFill>
                  <a:srgbClr val="e5edff"/>
                </a:solidFill>
                <a:latin typeface="Tahoma"/>
                <a:cs typeface="Tahoma"/>
              </a:rPr>
              <a:t>.kiro/specs/</a:t>
            </a:r>
          </a:p>
        </p:txBody>
      </p:sp>
      <p:sp>
        <p:nvSpPr>
          <p:cNvPr id="177" name="t"/>
          <p:cNvSpPr txBox="1"/>
          <p:nvPr/>
        </p:nvSpPr>
        <p:spPr>
          <a:xfrm>
            <a:off x="3600000" y="3870000"/>
            <a:ext cx="231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950" b="0" i="0" dirty="0">
                <a:solidFill>
                  <a:srgbClr val="e5edff"/>
                </a:solidFill>
                <a:latin typeface="Tahoma"/>
                <a:cs typeface="Tahoma"/>
              </a:rPr>
              <a:t>lit-review-spec.md</a:t>
            </a:r>
          </a:p>
        </p:txBody>
      </p:sp>
      <p:sp>
        <p:nvSpPr>
          <p:cNvPr id="178" name="t"/>
          <p:cNvSpPr txBox="1"/>
          <p:nvPr/>
        </p:nvSpPr>
        <p:spPr>
          <a:xfrm>
            <a:off x="6000000" y="3050000"/>
            <a:ext cx="25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8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179" name="s"/>
          <p:cNvSpPr/>
          <p:nvPr/>
        </p:nvSpPr>
        <p:spPr>
          <a:xfrm>
            <a:off x="6200000" y="2050000"/>
            <a:ext cx="2550000" cy="245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80" name="s"/>
          <p:cNvSpPr/>
          <p:nvPr/>
        </p:nvSpPr>
        <p:spPr>
          <a:xfrm>
            <a:off x="7045000" y="223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81" name="t"/>
          <p:cNvSpPr txBox="1"/>
          <p:nvPr/>
        </p:nvSpPr>
        <p:spPr>
          <a:xfrm>
            <a:off x="7045000" y="223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🤝</a:t>
            </a:r>
          </a:p>
        </p:txBody>
      </p:sp>
      <p:sp>
        <p:nvSpPr>
          <p:cNvPr id="182" name="t"/>
          <p:cNvSpPr txBox="1"/>
          <p:nvPr/>
        </p:nvSpPr>
        <p:spPr>
          <a:xfrm>
            <a:off x="6300000" y="3160000"/>
            <a:ext cx="235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34d399"/>
                </a:solidFill>
                <a:latin typeface="Tahoma"/>
                <a:cs typeface="Tahoma"/>
              </a:rPr>
              <a:t>Agent พัฒนา</a:t>
            </a:r>
          </a:p>
        </p:txBody>
      </p:sp>
      <p:sp>
        <p:nvSpPr>
          <p:cNvPr id="183" name="t"/>
          <p:cNvSpPr txBox="1"/>
          <p:nvPr/>
        </p:nvSpPr>
        <p:spPr>
          <a:xfrm>
            <a:off x="6320000" y="3520000"/>
            <a:ext cx="231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950" b="0" i="0" dirty="0">
                <a:solidFill>
                  <a:srgbClr val="e5edff"/>
                </a:solidFill>
                <a:latin typeface="Tahoma"/>
                <a:cs typeface="Tahoma"/>
              </a:rPr>
              <a:t>Kiro เขียนโค้ด</a:t>
            </a:r>
          </a:p>
        </p:txBody>
      </p:sp>
      <p:sp>
        <p:nvSpPr>
          <p:cNvPr id="184" name="t"/>
          <p:cNvSpPr txBox="1"/>
          <p:nvPr/>
        </p:nvSpPr>
        <p:spPr>
          <a:xfrm>
            <a:off x="6320000" y="3870000"/>
            <a:ext cx="231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950" b="0" i="0" dirty="0">
                <a:solidFill>
                  <a:srgbClr val="e5edff"/>
                </a:solidFill>
                <a:latin typeface="Tahoma"/>
                <a:cs typeface="Tahoma"/>
              </a:rPr>
              <a:t>+ ทดสอบ</a:t>
            </a:r>
          </a:p>
        </p:txBody>
      </p:sp>
      <p:sp>
        <p:nvSpPr>
          <p:cNvPr id="185" name="t"/>
          <p:cNvSpPr txBox="1"/>
          <p:nvPr/>
        </p:nvSpPr>
        <p:spPr>
          <a:xfrm>
            <a:off x="8720000" y="3050000"/>
            <a:ext cx="25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8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186" name="s"/>
          <p:cNvSpPr/>
          <p:nvPr/>
        </p:nvSpPr>
        <p:spPr>
          <a:xfrm>
            <a:off x="8920000" y="2050000"/>
            <a:ext cx="2550000" cy="245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87" name="s"/>
          <p:cNvSpPr/>
          <p:nvPr/>
        </p:nvSpPr>
        <p:spPr>
          <a:xfrm>
            <a:off x="9765000" y="223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88" name="t"/>
          <p:cNvSpPr txBox="1"/>
          <p:nvPr/>
        </p:nvSpPr>
        <p:spPr>
          <a:xfrm>
            <a:off x="9765000" y="223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🚀</a:t>
            </a:r>
          </a:p>
        </p:txBody>
      </p:sp>
      <p:sp>
        <p:nvSpPr>
          <p:cNvPr id="189" name="t"/>
          <p:cNvSpPr txBox="1"/>
          <p:nvPr/>
        </p:nvSpPr>
        <p:spPr>
          <a:xfrm>
            <a:off x="9020000" y="3160000"/>
            <a:ext cx="235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a78bfa"/>
                </a:solidFill>
                <a:latin typeface="Tahoma"/>
                <a:cs typeface="Tahoma"/>
              </a:rPr>
              <a:t>Deploy</a:t>
            </a:r>
          </a:p>
        </p:txBody>
      </p:sp>
      <p:sp>
        <p:nvSpPr>
          <p:cNvPr id="190" name="t"/>
          <p:cNvSpPr txBox="1"/>
          <p:nvPr/>
        </p:nvSpPr>
        <p:spPr>
          <a:xfrm>
            <a:off x="9040000" y="3520000"/>
            <a:ext cx="231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950" b="0" i="0" dirty="0">
                <a:solidFill>
                  <a:srgbClr val="e5edff"/>
                </a:solidFill>
                <a:latin typeface="Tahoma"/>
                <a:cs typeface="Tahoma"/>
              </a:rPr>
              <a:t>GitHub Pages</a:t>
            </a:r>
          </a:p>
        </p:txBody>
      </p:sp>
      <p:sp>
        <p:nvSpPr>
          <p:cNvPr id="191" name="t"/>
          <p:cNvSpPr txBox="1"/>
          <p:nvPr/>
        </p:nvSpPr>
        <p:spPr>
          <a:xfrm>
            <a:off x="9040000" y="3870000"/>
            <a:ext cx="231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950" b="0" i="0" dirty="0">
                <a:solidFill>
                  <a:srgbClr val="e5edff"/>
                </a:solidFill>
                <a:latin typeface="Tahoma"/>
                <a:cs typeface="Tahoma"/>
              </a:rPr>
              <a:t>ใช้งานได้จริง</a:t>
            </a:r>
          </a:p>
        </p:txBody>
      </p:sp>
      <p:sp>
        <p:nvSpPr>
          <p:cNvPr id="192" name="s"/>
          <p:cNvSpPr/>
          <p:nvPr/>
        </p:nvSpPr>
        <p:spPr>
          <a:xfrm>
            <a:off x="760000" y="4750000"/>
            <a:ext cx="10700000" cy="920000"/>
          </a:xfrm>
          <a:prstGeom prst="roundRect">
            <a:avLst>
              <a:gd name="adj" fmla="val 14000"/>
            </a:avLst>
          </a:prstGeom>
          <a:noFill/>
          <a:ln w="9525">
            <a:solidFill>
              <a:srgbClr val="f5c542"/>
            </a:solidFill>
          </a:ln>
        </p:spPr>
        <p:txBody>
          <a:bodyPr/>
          <a:lstStyle/>
          <a:p/>
        </p:txBody>
      </p:sp>
      <p:sp>
        <p:nvSpPr>
          <p:cNvPr id="193" name="t"/>
          <p:cNvSpPr txBox="1"/>
          <p:nvPr/>
        </p:nvSpPr>
        <p:spPr>
          <a:xfrm>
            <a:off x="1000000" y="4850000"/>
            <a:ext cx="103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Kiro เป็นเครื่องมือหลักตลอดวงจรพัฒนา</a:t>
            </a:r>
          </a:p>
        </p:txBody>
      </p:sp>
      <p:sp>
        <p:nvSpPr>
          <p:cNvPr id="194" name="t"/>
          <p:cNvSpPr txBox="1"/>
          <p:nvPr/>
        </p:nvSpPr>
        <p:spPr>
          <a:xfrm>
            <a:off x="1000000" y="5200000"/>
            <a:ext cx="103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กำหนดกฎ → ออกแบบข้อกำหนด → เขียนและทดสอบโค้ด → เผยแพร่ ตรวจสอบย้อนกลับได้จากประวัติการพัฒนา (commit history) บน GitHub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t"/>
          <p:cNvSpPr txBox="1"/>
          <p:nvPr/>
        </p:nvSpPr>
        <p:spPr>
          <a:xfrm>
            <a:off x="760000" y="450000"/>
            <a:ext cx="100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ACCESS &amp; VERIFICATION</a:t>
            </a:r>
          </a:p>
        </p:txBody>
      </p:sp>
      <p:sp>
        <p:nvSpPr>
          <p:cNvPr id="197" name="t"/>
          <p:cNvSpPr txBox="1"/>
          <p:nvPr/>
        </p:nvSpPr>
        <p:spPr>
          <a:xfrm>
            <a:off x="760000" y="790000"/>
            <a:ext cx="106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600" b="1" i="0" dirty="0">
                <a:solidFill>
                  <a:srgbClr val="e5edff"/>
                </a:solidFill>
                <a:latin typeface="Tahoma"/>
                <a:cs typeface="Tahoma"/>
              </a:rPr>
              <a:t>ช่องทางตรวจสอบผลงาน</a:t>
            </a:r>
          </a:p>
        </p:txBody>
      </p:sp>
      <p:sp>
        <p:nvSpPr>
          <p:cNvPr id="198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6/7</a:t>
            </a:r>
          </a:p>
        </p:txBody>
      </p:sp>
      <p:sp>
        <p:nvSpPr>
          <p:cNvPr id="199" name="s"/>
          <p:cNvSpPr/>
          <p:nvPr/>
        </p:nvSpPr>
        <p:spPr>
          <a:xfrm>
            <a:off x="760000" y="2000000"/>
            <a:ext cx="5300000" cy="152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00" name="s"/>
          <p:cNvSpPr/>
          <p:nvPr/>
        </p:nvSpPr>
        <p:spPr>
          <a:xfrm>
            <a:off x="940000" y="2280000"/>
            <a:ext cx="940000" cy="94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01" name="t"/>
          <p:cNvSpPr txBox="1"/>
          <p:nvPr/>
        </p:nvSpPr>
        <p:spPr>
          <a:xfrm>
            <a:off x="940000" y="2280000"/>
            <a:ext cx="940000" cy="9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0" i="0" dirty="0">
                <a:solidFill>
                  <a:srgbClr val="f5c542"/>
                </a:solidFill>
                <a:latin typeface="Tahoma"/>
                <a:cs typeface="Tahoma"/>
              </a:rPr>
              <a:t>💻</a:t>
            </a:r>
          </a:p>
        </p:txBody>
      </p:sp>
      <p:sp>
        <p:nvSpPr>
          <p:cNvPr id="202" name="t"/>
          <p:cNvSpPr txBox="1"/>
          <p:nvPr/>
        </p:nvSpPr>
        <p:spPr>
          <a:xfrm>
            <a:off x="2060000" y="2260000"/>
            <a:ext cx="39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50" b="1" i="0" dirty="0">
                <a:solidFill>
                  <a:srgbClr val="22d3ee"/>
                </a:solidFill>
                <a:latin typeface="Tahoma"/>
                <a:cs typeface="Tahoma"/>
              </a:rPr>
              <a:t>Source Code (GitHub)</a:t>
            </a:r>
          </a:p>
        </p:txBody>
      </p:sp>
      <p:sp>
        <p:nvSpPr>
          <p:cNvPr id="203" name="t"/>
          <p:cNvSpPr txBox="1"/>
          <p:nvPr/>
        </p:nvSpPr>
        <p:spPr>
          <a:xfrm>
            <a:off x="2060000" y="2700000"/>
            <a:ext cx="3900000" cy="3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โค้ดทั้งหมดเปิดเผย (public)</a:t>
            </a:r>
          </a:p>
        </p:txBody>
      </p:sp>
      <p:sp>
        <p:nvSpPr>
          <p:cNvPr id="204" name="t"/>
          <p:cNvSpPr txBox="1"/>
          <p:nvPr/>
        </p:nvSpPr>
        <p:spPr>
          <a:xfrm>
            <a:off x="2060000" y="3060000"/>
            <a:ext cx="3900000" cy="3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พร้อม README อธิบายครบ</a:t>
            </a:r>
          </a:p>
        </p:txBody>
      </p:sp>
      <p:sp>
        <p:nvSpPr>
          <p:cNvPr id="205" name="s"/>
          <p:cNvSpPr/>
          <p:nvPr/>
        </p:nvSpPr>
        <p:spPr>
          <a:xfrm>
            <a:off x="6310000" y="2000000"/>
            <a:ext cx="5300000" cy="152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06" name="s"/>
          <p:cNvSpPr/>
          <p:nvPr/>
        </p:nvSpPr>
        <p:spPr>
          <a:xfrm>
            <a:off x="6490000" y="2280000"/>
            <a:ext cx="940000" cy="94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07" name="t"/>
          <p:cNvSpPr txBox="1"/>
          <p:nvPr/>
        </p:nvSpPr>
        <p:spPr>
          <a:xfrm>
            <a:off x="6490000" y="2280000"/>
            <a:ext cx="940000" cy="9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0" i="0" dirty="0">
                <a:solidFill>
                  <a:srgbClr val="f5c542"/>
                </a:solidFill>
                <a:latin typeface="Tahoma"/>
                <a:cs typeface="Tahoma"/>
              </a:rPr>
              <a:t>📐</a:t>
            </a:r>
          </a:p>
        </p:txBody>
      </p:sp>
      <p:sp>
        <p:nvSpPr>
          <p:cNvPr id="208" name="t"/>
          <p:cNvSpPr txBox="1"/>
          <p:nvPr/>
        </p:nvSpPr>
        <p:spPr>
          <a:xfrm>
            <a:off x="7610000" y="2260000"/>
            <a:ext cx="39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50" b="1" i="0" dirty="0">
                <a:solidFill>
                  <a:srgbClr val="f5c542"/>
                </a:solidFill>
                <a:latin typeface="Tahoma"/>
                <a:cs typeface="Tahoma"/>
              </a:rPr>
              <a:t>Kiro Project</a:t>
            </a:r>
          </a:p>
        </p:txBody>
      </p:sp>
      <p:sp>
        <p:nvSpPr>
          <p:cNvPr id="209" name="t"/>
          <p:cNvSpPr txBox="1"/>
          <p:nvPr/>
        </p:nvSpPr>
        <p:spPr>
          <a:xfrm>
            <a:off x="7610000" y="2700000"/>
            <a:ext cx="3900000" cy="3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.kiro/ (steering + specs)</a:t>
            </a:r>
          </a:p>
        </p:txBody>
      </p:sp>
      <p:sp>
        <p:nvSpPr>
          <p:cNvPr id="210" name="t"/>
          <p:cNvSpPr txBox="1"/>
          <p:nvPr/>
        </p:nvSpPr>
        <p:spPr>
          <a:xfrm>
            <a:off x="7610000" y="3060000"/>
            <a:ext cx="3900000" cy="3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หลักฐาน Spec-driven</a:t>
            </a:r>
          </a:p>
        </p:txBody>
      </p:sp>
      <p:sp>
        <p:nvSpPr>
          <p:cNvPr id="211" name="s"/>
          <p:cNvSpPr/>
          <p:nvPr/>
        </p:nvSpPr>
        <p:spPr>
          <a:xfrm>
            <a:off x="760000" y="3700000"/>
            <a:ext cx="5300000" cy="152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12" name="s"/>
          <p:cNvSpPr/>
          <p:nvPr/>
        </p:nvSpPr>
        <p:spPr>
          <a:xfrm>
            <a:off x="940000" y="3980000"/>
            <a:ext cx="940000" cy="94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13" name="t"/>
          <p:cNvSpPr txBox="1"/>
          <p:nvPr/>
        </p:nvSpPr>
        <p:spPr>
          <a:xfrm>
            <a:off x="940000" y="3980000"/>
            <a:ext cx="940000" cy="9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0" i="0" dirty="0">
                <a:solidFill>
                  <a:srgbClr val="f5c542"/>
                </a:solidFill>
                <a:latin typeface="Tahoma"/>
                <a:cs typeface="Tahoma"/>
              </a:rPr>
              <a:t>📜</a:t>
            </a:r>
          </a:p>
        </p:txBody>
      </p:sp>
      <p:sp>
        <p:nvSpPr>
          <p:cNvPr id="214" name="t"/>
          <p:cNvSpPr txBox="1"/>
          <p:nvPr/>
        </p:nvSpPr>
        <p:spPr>
          <a:xfrm>
            <a:off x="2060000" y="3960000"/>
            <a:ext cx="39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50" b="1" i="0" dirty="0">
                <a:solidFill>
                  <a:srgbClr val="34d399"/>
                </a:solidFill>
                <a:latin typeface="Tahoma"/>
                <a:cs typeface="Tahoma"/>
              </a:rPr>
              <a:t>Commit History</a:t>
            </a:r>
          </a:p>
        </p:txBody>
      </p:sp>
      <p:sp>
        <p:nvSpPr>
          <p:cNvPr id="215" name="t"/>
          <p:cNvSpPr txBox="1"/>
          <p:nvPr/>
        </p:nvSpPr>
        <p:spPr>
          <a:xfrm>
            <a:off x="2060000" y="4400000"/>
            <a:ext cx="3900000" cy="3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21 commits แสดงลำดับ</a:t>
            </a:r>
          </a:p>
        </p:txBody>
      </p:sp>
      <p:sp>
        <p:nvSpPr>
          <p:cNvPr id="216" name="t"/>
          <p:cNvSpPr txBox="1"/>
          <p:nvPr/>
        </p:nvSpPr>
        <p:spPr>
          <a:xfrm>
            <a:off x="2060000" y="4760000"/>
            <a:ext cx="3900000" cy="3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และแนวทางการพัฒนา</a:t>
            </a:r>
          </a:p>
        </p:txBody>
      </p:sp>
      <p:sp>
        <p:nvSpPr>
          <p:cNvPr id="217" name="s"/>
          <p:cNvSpPr/>
          <p:nvPr/>
        </p:nvSpPr>
        <p:spPr>
          <a:xfrm>
            <a:off x="6310000" y="3700000"/>
            <a:ext cx="5300000" cy="152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18" name="s"/>
          <p:cNvSpPr/>
          <p:nvPr/>
        </p:nvSpPr>
        <p:spPr>
          <a:xfrm>
            <a:off x="6490000" y="3980000"/>
            <a:ext cx="940000" cy="94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19" name="t"/>
          <p:cNvSpPr txBox="1"/>
          <p:nvPr/>
        </p:nvSpPr>
        <p:spPr>
          <a:xfrm>
            <a:off x="6490000" y="3980000"/>
            <a:ext cx="940000" cy="9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0" i="0" dirty="0">
                <a:solidFill>
                  <a:srgbClr val="f5c542"/>
                </a:solidFill>
                <a:latin typeface="Tahoma"/>
                <a:cs typeface="Tahoma"/>
              </a:rPr>
              <a:t>🌐</a:t>
            </a:r>
          </a:p>
        </p:txBody>
      </p:sp>
      <p:sp>
        <p:nvSpPr>
          <p:cNvPr id="220" name="t"/>
          <p:cNvSpPr txBox="1"/>
          <p:nvPr/>
        </p:nvSpPr>
        <p:spPr>
          <a:xfrm>
            <a:off x="7610000" y="3960000"/>
            <a:ext cx="39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50" b="1" i="0" dirty="0">
                <a:solidFill>
                  <a:srgbClr val="a78bfa"/>
                </a:solidFill>
                <a:latin typeface="Tahoma"/>
                <a:cs typeface="Tahoma"/>
              </a:rPr>
              <a:t>Live Demo</a:t>
            </a:r>
          </a:p>
        </p:txBody>
      </p:sp>
      <p:sp>
        <p:nvSpPr>
          <p:cNvPr id="221" name="t"/>
          <p:cNvSpPr txBox="1"/>
          <p:nvPr/>
        </p:nvSpPr>
        <p:spPr>
          <a:xfrm>
            <a:off x="7610000" y="4400000"/>
            <a:ext cx="3900000" cy="3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เปิดทดสอบระบบจริง</a:t>
            </a:r>
          </a:p>
        </p:txBody>
      </p:sp>
      <p:sp>
        <p:nvSpPr>
          <p:cNvPr id="222" name="t"/>
          <p:cNvSpPr txBox="1"/>
          <p:nvPr/>
        </p:nvSpPr>
        <p:spPr>
          <a:xfrm>
            <a:off x="7610000" y="4760000"/>
            <a:ext cx="3900000" cy="3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ได้ทันทีในเบราว์เซอร์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"/>
          <p:cNvSpPr/>
          <p:nvPr/>
        </p:nvSpPr>
        <p:spPr>
          <a:xfrm>
            <a:off x="7589669" y="4695711"/>
            <a:ext cx="37598" cy="3759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s"/>
          <p:cNvSpPr/>
          <p:nvPr/>
        </p:nvSpPr>
        <p:spPr>
          <a:xfrm>
            <a:off x="7812311" y="3790244"/>
            <a:ext cx="28640" cy="2864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s"/>
          <p:cNvSpPr/>
          <p:nvPr/>
        </p:nvSpPr>
        <p:spPr>
          <a:xfrm>
            <a:off x="9854682" y="1593013"/>
            <a:ext cx="18050" cy="1805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s"/>
          <p:cNvSpPr/>
          <p:nvPr/>
        </p:nvSpPr>
        <p:spPr>
          <a:xfrm>
            <a:off x="8588401" y="3990991"/>
            <a:ext cx="32639" cy="3263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s"/>
          <p:cNvSpPr/>
          <p:nvPr/>
        </p:nvSpPr>
        <p:spPr>
          <a:xfrm>
            <a:off x="10300519" y="6651972"/>
            <a:ext cx="18100" cy="1810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s"/>
          <p:cNvSpPr/>
          <p:nvPr/>
        </p:nvSpPr>
        <p:spPr>
          <a:xfrm>
            <a:off x="1579129" y="3746294"/>
            <a:ext cx="21941" cy="21941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s"/>
          <p:cNvSpPr/>
          <p:nvPr/>
        </p:nvSpPr>
        <p:spPr>
          <a:xfrm>
            <a:off x="2378927" y="760599"/>
            <a:ext cx="29651" cy="29651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s"/>
          <p:cNvSpPr/>
          <p:nvPr/>
        </p:nvSpPr>
        <p:spPr>
          <a:xfrm>
            <a:off x="11633967" y="5322175"/>
            <a:ext cx="13372" cy="1337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s"/>
          <p:cNvSpPr/>
          <p:nvPr/>
        </p:nvSpPr>
        <p:spPr>
          <a:xfrm>
            <a:off x="9989766" y="3323230"/>
            <a:ext cx="26843" cy="2684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s"/>
          <p:cNvSpPr/>
          <p:nvPr/>
        </p:nvSpPr>
        <p:spPr>
          <a:xfrm>
            <a:off x="10970999" y="6198475"/>
            <a:ext cx="32170" cy="3217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" name="s"/>
          <p:cNvSpPr/>
          <p:nvPr/>
        </p:nvSpPr>
        <p:spPr>
          <a:xfrm>
            <a:off x="10906381" y="1321156"/>
            <a:ext cx="32418" cy="3241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" name="s"/>
          <p:cNvSpPr/>
          <p:nvPr/>
        </p:nvSpPr>
        <p:spPr>
          <a:xfrm>
            <a:off x="251670" y="4432383"/>
            <a:ext cx="14069" cy="1406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" name="s"/>
          <p:cNvSpPr/>
          <p:nvPr/>
        </p:nvSpPr>
        <p:spPr>
          <a:xfrm>
            <a:off x="999101" y="299077"/>
            <a:ext cx="18232" cy="1823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" name="s"/>
          <p:cNvSpPr/>
          <p:nvPr/>
        </p:nvSpPr>
        <p:spPr>
          <a:xfrm>
            <a:off x="4059130" y="5029961"/>
            <a:ext cx="12985" cy="1298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" name="s"/>
          <p:cNvSpPr/>
          <p:nvPr/>
        </p:nvSpPr>
        <p:spPr>
          <a:xfrm>
            <a:off x="7783528" y="2737147"/>
            <a:ext cx="26435" cy="2643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" name="s"/>
          <p:cNvSpPr/>
          <p:nvPr/>
        </p:nvSpPr>
        <p:spPr>
          <a:xfrm>
            <a:off x="9914654" y="1638474"/>
            <a:ext cx="29010" cy="2901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" name="s"/>
          <p:cNvSpPr/>
          <p:nvPr/>
        </p:nvSpPr>
        <p:spPr>
          <a:xfrm>
            <a:off x="3919923" y="5371156"/>
            <a:ext cx="21638" cy="2163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" name="s"/>
          <p:cNvSpPr/>
          <p:nvPr/>
        </p:nvSpPr>
        <p:spPr>
          <a:xfrm>
            <a:off x="8384802" y="38535"/>
            <a:ext cx="33707" cy="3370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s"/>
          <p:cNvSpPr/>
          <p:nvPr/>
        </p:nvSpPr>
        <p:spPr>
          <a:xfrm>
            <a:off x="1425874" y="3836361"/>
            <a:ext cx="33456" cy="3345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s"/>
          <p:cNvSpPr/>
          <p:nvPr/>
        </p:nvSpPr>
        <p:spPr>
          <a:xfrm>
            <a:off x="4666799" y="3412307"/>
            <a:ext cx="30063" cy="3006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" name="s"/>
          <p:cNvSpPr/>
          <p:nvPr/>
        </p:nvSpPr>
        <p:spPr>
          <a:xfrm>
            <a:off x="1395922" y="5937537"/>
            <a:ext cx="20322" cy="2032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" name="s"/>
          <p:cNvSpPr/>
          <p:nvPr/>
        </p:nvSpPr>
        <p:spPr>
          <a:xfrm>
            <a:off x="5289473" y="6358481"/>
            <a:ext cx="19525" cy="1952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" name="s"/>
          <p:cNvSpPr/>
          <p:nvPr/>
        </p:nvSpPr>
        <p:spPr>
          <a:xfrm>
            <a:off x="8604776" y="2424642"/>
            <a:ext cx="12974" cy="1297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" name="s"/>
          <p:cNvSpPr/>
          <p:nvPr/>
        </p:nvSpPr>
        <p:spPr>
          <a:xfrm>
            <a:off x="1178154" y="4723979"/>
            <a:ext cx="37109" cy="3710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" name="s"/>
          <p:cNvSpPr/>
          <p:nvPr/>
        </p:nvSpPr>
        <p:spPr>
          <a:xfrm>
            <a:off x="1810713" y="3358797"/>
            <a:ext cx="15532" cy="1553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8" name="s"/>
          <p:cNvSpPr/>
          <p:nvPr/>
        </p:nvSpPr>
        <p:spPr>
          <a:xfrm>
            <a:off x="4880540" y="3242310"/>
            <a:ext cx="14189" cy="1418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" name="s"/>
          <p:cNvSpPr/>
          <p:nvPr/>
        </p:nvSpPr>
        <p:spPr>
          <a:xfrm>
            <a:off x="283375" y="5745336"/>
            <a:ext cx="12017" cy="1201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" name="s"/>
          <p:cNvSpPr/>
          <p:nvPr/>
        </p:nvSpPr>
        <p:spPr>
          <a:xfrm>
            <a:off x="3581963" y="1759237"/>
            <a:ext cx="13714" cy="1371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" name="s"/>
          <p:cNvSpPr/>
          <p:nvPr/>
        </p:nvSpPr>
        <p:spPr>
          <a:xfrm>
            <a:off x="7885078" y="3149613"/>
            <a:ext cx="35229" cy="3522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" name="s"/>
          <p:cNvSpPr/>
          <p:nvPr/>
        </p:nvSpPr>
        <p:spPr>
          <a:xfrm>
            <a:off x="6667674" y="3521465"/>
            <a:ext cx="14393" cy="1439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" name="s"/>
          <p:cNvSpPr/>
          <p:nvPr/>
        </p:nvSpPr>
        <p:spPr>
          <a:xfrm>
            <a:off x="9499960" y="5280250"/>
            <a:ext cx="18504" cy="1850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" name="s"/>
          <p:cNvSpPr/>
          <p:nvPr/>
        </p:nvSpPr>
        <p:spPr>
          <a:xfrm>
            <a:off x="11323096" y="2263041"/>
            <a:ext cx="23039" cy="2303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5" name="s"/>
          <p:cNvSpPr/>
          <p:nvPr/>
        </p:nvSpPr>
        <p:spPr>
          <a:xfrm>
            <a:off x="1462037" y="2610615"/>
            <a:ext cx="22898" cy="2289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" name="s"/>
          <p:cNvSpPr/>
          <p:nvPr/>
        </p:nvSpPr>
        <p:spPr>
          <a:xfrm>
            <a:off x="254166" y="3439756"/>
            <a:ext cx="36839" cy="3683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" name="s"/>
          <p:cNvSpPr/>
          <p:nvPr/>
        </p:nvSpPr>
        <p:spPr>
          <a:xfrm>
            <a:off x="0" y="1550000"/>
            <a:ext cx="12192000" cy="15000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002366"/>
              </a:gs>
              <a:gs pos="100000">
                <a:srgbClr val="0b1a3a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58" name="t"/>
          <p:cNvSpPr txBox="1"/>
          <p:nvPr/>
        </p:nvSpPr>
        <p:spPr>
          <a:xfrm>
            <a:off x="760000" y="1680000"/>
            <a:ext cx="108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3000" b="1" i="0" dirty="0">
                <a:solidFill>
                  <a:srgbClr val="e5edff"/>
                </a:solidFill>
                <a:latin typeface="Tahoma"/>
                <a:cs typeface="Tahoma"/>
              </a:rPr>
              <a:t>ช่องทางการส่งมอบ</a:t>
            </a:r>
          </a:p>
        </p:txBody>
      </p:sp>
      <p:sp>
        <p:nvSpPr>
          <p:cNvPr id="259" name="t"/>
          <p:cNvSpPr txBox="1"/>
          <p:nvPr/>
        </p:nvSpPr>
        <p:spPr>
          <a:xfrm>
            <a:off x="760000" y="2480000"/>
            <a:ext cx="108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0" i="0" dirty="0">
                <a:solidFill>
                  <a:srgbClr val="22d3ee"/>
                </a:solidFill>
                <a:latin typeface="Tahoma"/>
                <a:cs typeface="Tahoma"/>
              </a:rPr>
              <a:t>Source Code และ Kiro Project — ตรวจสอบได้ครบทุกด้าน</a:t>
            </a:r>
          </a:p>
        </p:txBody>
      </p:sp>
      <p:sp>
        <p:nvSpPr>
          <p:cNvPr id="260" name="s"/>
          <p:cNvSpPr/>
          <p:nvPr/>
        </p:nvSpPr>
        <p:spPr>
          <a:xfrm>
            <a:off x="760000" y="3350000"/>
            <a:ext cx="10700000" cy="70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61" name="t"/>
          <p:cNvSpPr txBox="1"/>
          <p:nvPr/>
        </p:nvSpPr>
        <p:spPr>
          <a:xfrm>
            <a:off x="1000000" y="3470000"/>
            <a:ext cx="900000" cy="4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0" i="0" dirty="0">
                <a:solidFill>
                  <a:srgbClr val="22d3ee"/>
                </a:solidFill>
                <a:latin typeface="Tahoma"/>
                <a:cs typeface="Tahoma"/>
              </a:rPr>
              <a:t>💻</a:t>
            </a:r>
          </a:p>
        </p:txBody>
      </p:sp>
      <p:sp>
        <p:nvSpPr>
          <p:cNvPr id="262" name="t"/>
          <p:cNvSpPr txBox="1"/>
          <p:nvPr/>
        </p:nvSpPr>
        <p:spPr>
          <a:xfrm>
            <a:off x="1900000" y="3480000"/>
            <a:ext cx="94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Source Code / Kiro Project</a:t>
            </a:r>
          </a:p>
        </p:txBody>
      </p:sp>
      <p:sp>
        <p:nvSpPr>
          <p:cNvPr id="263" name="t"/>
          <p:cNvSpPr txBox="1"/>
          <p:nvPr/>
        </p:nvSpPr>
        <p:spPr>
          <a:xfrm>
            <a:off x="1900000" y="3790000"/>
            <a:ext cx="94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github.com/kanchanathsao-crypto/lika-lit-review-helper-</a:t>
            </a:r>
          </a:p>
        </p:txBody>
      </p:sp>
      <p:sp>
        <p:nvSpPr>
          <p:cNvPr id="264" name="s"/>
          <p:cNvSpPr/>
          <p:nvPr/>
        </p:nvSpPr>
        <p:spPr>
          <a:xfrm>
            <a:off x="760000" y="4170000"/>
            <a:ext cx="10700000" cy="70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65" name="t"/>
          <p:cNvSpPr txBox="1"/>
          <p:nvPr/>
        </p:nvSpPr>
        <p:spPr>
          <a:xfrm>
            <a:off x="1000000" y="4290000"/>
            <a:ext cx="900000" cy="4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0" i="0" dirty="0">
                <a:solidFill>
                  <a:srgbClr val="f5c542"/>
                </a:solidFill>
                <a:latin typeface="Tahoma"/>
                <a:cs typeface="Tahoma"/>
              </a:rPr>
              <a:t>📦</a:t>
            </a:r>
          </a:p>
        </p:txBody>
      </p:sp>
      <p:sp>
        <p:nvSpPr>
          <p:cNvPr id="266" name="t"/>
          <p:cNvSpPr txBox="1"/>
          <p:nvPr/>
        </p:nvSpPr>
        <p:spPr>
          <a:xfrm>
            <a:off x="1900000" y="4300000"/>
            <a:ext cx="94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ไฟล์ ZIP (โค้ด + .kiro + เอกสาร)</a:t>
            </a:r>
          </a:p>
        </p:txBody>
      </p:sp>
      <p:sp>
        <p:nvSpPr>
          <p:cNvPr id="267" name="t"/>
          <p:cNvSpPr txBox="1"/>
          <p:nvPr/>
        </p:nvSpPr>
        <p:spPr>
          <a:xfrm>
            <a:off x="1900000" y="4610000"/>
            <a:ext cx="94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.../main/LIKA-Nexus-Source.zip</a:t>
            </a:r>
          </a:p>
        </p:txBody>
      </p:sp>
      <p:sp>
        <p:nvSpPr>
          <p:cNvPr id="268" name="s"/>
          <p:cNvSpPr/>
          <p:nvPr/>
        </p:nvSpPr>
        <p:spPr>
          <a:xfrm>
            <a:off x="760000" y="4990000"/>
            <a:ext cx="10700000" cy="70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69" name="t"/>
          <p:cNvSpPr txBox="1"/>
          <p:nvPr/>
        </p:nvSpPr>
        <p:spPr>
          <a:xfrm>
            <a:off x="1000000" y="5110000"/>
            <a:ext cx="900000" cy="4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0" i="0" dirty="0">
                <a:solidFill>
                  <a:srgbClr val="34d399"/>
                </a:solidFill>
                <a:latin typeface="Tahoma"/>
                <a:cs typeface="Tahoma"/>
              </a:rPr>
              <a:t>🌐</a:t>
            </a:r>
          </a:p>
        </p:txBody>
      </p:sp>
      <p:sp>
        <p:nvSpPr>
          <p:cNvPr id="270" name="t"/>
          <p:cNvSpPr txBox="1"/>
          <p:nvPr/>
        </p:nvSpPr>
        <p:spPr>
          <a:xfrm>
            <a:off x="1900000" y="5120000"/>
            <a:ext cx="94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34d399"/>
                </a:solidFill>
                <a:latin typeface="Tahoma"/>
                <a:cs typeface="Tahoma"/>
              </a:rPr>
              <a:t>Live Demo</a:t>
            </a:r>
          </a:p>
        </p:txBody>
      </p:sp>
      <p:sp>
        <p:nvSpPr>
          <p:cNvPr id="271" name="t"/>
          <p:cNvSpPr txBox="1"/>
          <p:nvPr/>
        </p:nvSpPr>
        <p:spPr>
          <a:xfrm>
            <a:off x="1900000" y="5430000"/>
            <a:ext cx="94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tinyurl.com/lika-nexus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LIKA">
  <a:themeElements>
    <a:clrScheme name="LIKA">
      <a:dk1>
        <a:srgbClr val="060a16"/>
      </a:dk1>
      <a:lt1>
        <a:srgbClr val="FFFFFF"/>
      </a:lt1>
      <a:dk2>
        <a:srgbClr val="002366"/>
      </a:dk2>
      <a:lt2>
        <a:srgbClr val="E5EDFF"/>
      </a:lt2>
      <a:accent1>
        <a:srgbClr val="002366"/>
      </a:accent1>
      <a:accent2>
        <a:srgbClr val="F5C542"/>
      </a:accent2>
      <a:accent3>
        <a:srgbClr val="22D3EE"/>
      </a:accent3>
      <a:accent4>
        <a:srgbClr val="34D399"/>
      </a:accent4>
      <a:accent5>
        <a:srgbClr val="A78BFA"/>
      </a:accent5>
      <a:accent6>
        <a:srgbClr val="FB923C"/>
      </a:accent6>
      <a:hlink>
        <a:srgbClr val="22D3EE"/>
      </a:hlink>
      <a:folHlink>
        <a:srgbClr val="7DD3FC"/>
      </a:folHlink>
    </a:clrScheme>
    <a:fontScheme name="LIK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IK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